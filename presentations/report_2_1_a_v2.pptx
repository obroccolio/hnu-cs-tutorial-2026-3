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GFLOPS</c:v>
                </c:pt>
              </c:strCache>
            </c:strRef>
          </c:tx>
          <c:spPr>
            <a:solidFill>
              <a:srgbClr val="1A7F3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1F3-7543-8CE1-7776635F55F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1F3-7543-8CE1-7776635F55F0}"/>
              </c:ext>
            </c:extLst>
          </c:dPt>
          <c:dPt>
            <c:idx val="2"/>
            <c:invertIfNegative val="0"/>
            <c:bubble3D val="0"/>
            <c:spPr>
              <a:solidFill>
                <a:srgbClr val="9A6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F3-7543-8CE1-7776635F55F0}"/>
              </c:ext>
            </c:extLst>
          </c:dPt>
          <c:dPt>
            <c:idx val="3"/>
            <c:invertIfNegative val="0"/>
            <c:bubble3D val="0"/>
            <c:spPr>
              <a:solidFill>
                <a:srgbClr val="9A67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1F3-7543-8CE1-7776635F55F0}"/>
              </c:ext>
            </c:extLst>
          </c:dPt>
          <c:dPt>
            <c:idx val="4"/>
            <c:invertIfNegative val="0"/>
            <c:bubble3D val="0"/>
            <c:spPr>
              <a:solidFill>
                <a:srgbClr val="CF22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1F3-7543-8CE1-7776635F55F0}"/>
              </c:ext>
            </c:extLst>
          </c:dPt>
          <c:dPt>
            <c:idx val="5"/>
            <c:invertIfNegative val="0"/>
            <c:bubble3D val="0"/>
            <c:spPr>
              <a:solidFill>
                <a:srgbClr val="CF22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1F3-7543-8CE1-7776635F55F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F2328"/>
                    </a:solidFill>
                    <a:latin typeface="Calibr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ikj</c:v>
                </c:pt>
                <c:pt idx="1">
                  <c:v>kij</c:v>
                </c:pt>
                <c:pt idx="2">
                  <c:v>jik</c:v>
                </c:pt>
                <c:pt idx="3">
                  <c:v>ijk</c:v>
                </c:pt>
                <c:pt idx="4">
                  <c:v>kji</c:v>
                </c:pt>
                <c:pt idx="5">
                  <c:v>jki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9.84</c:v>
                </c:pt>
                <c:pt idx="1">
                  <c:v>8.1999999999999993</c:v>
                </c:pt>
                <c:pt idx="2">
                  <c:v>4.83</c:v>
                </c:pt>
                <c:pt idx="3">
                  <c:v>4.7699999999999996</c:v>
                </c:pt>
                <c:pt idx="4">
                  <c:v>2.72</c:v>
                </c:pt>
                <c:pt idx="5">
                  <c:v>2.71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1F3-7543-8CE1-7776635F55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7D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6D76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0D7D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959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-O0</c:v>
                </c:pt>
              </c:strCache>
            </c:strRef>
          </c:tx>
          <c:spPr>
            <a:solidFill>
              <a:srgbClr val="8C959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ikj</c:v>
                </c:pt>
                <c:pt idx="1">
                  <c:v>kij</c:v>
                </c:pt>
                <c:pt idx="2">
                  <c:v>jik</c:v>
                </c:pt>
                <c:pt idx="3">
                  <c:v>ijk</c:v>
                </c:pt>
                <c:pt idx="4">
                  <c:v>kji</c:v>
                </c:pt>
                <c:pt idx="5">
                  <c:v>jki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1.78</c:v>
                </c:pt>
                <c:pt idx="1">
                  <c:v>1.78</c:v>
                </c:pt>
                <c:pt idx="2">
                  <c:v>0.92</c:v>
                </c:pt>
                <c:pt idx="3">
                  <c:v>0.91</c:v>
                </c:pt>
                <c:pt idx="4">
                  <c:v>1.48</c:v>
                </c:pt>
                <c:pt idx="5">
                  <c:v>1.45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FB-E44D-B40B-F95E913EF7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-O2</c:v>
                </c:pt>
              </c:strCache>
            </c:strRef>
          </c:tx>
          <c:spPr>
            <a:solidFill>
              <a:srgbClr val="0969D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ikj</c:v>
                </c:pt>
                <c:pt idx="1">
                  <c:v>kij</c:v>
                </c:pt>
                <c:pt idx="2">
                  <c:v>jik</c:v>
                </c:pt>
                <c:pt idx="3">
                  <c:v>ijk</c:v>
                </c:pt>
                <c:pt idx="4">
                  <c:v>kji</c:v>
                </c:pt>
                <c:pt idx="5">
                  <c:v>jki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9.84</c:v>
                </c:pt>
                <c:pt idx="1">
                  <c:v>8.1999999999999993</c:v>
                </c:pt>
                <c:pt idx="2">
                  <c:v>4.83</c:v>
                </c:pt>
                <c:pt idx="3">
                  <c:v>4.7699999999999996</c:v>
                </c:pt>
                <c:pt idx="4">
                  <c:v>2.72</c:v>
                </c:pt>
                <c:pt idx="5">
                  <c:v>2.71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FB-E44D-B40B-F95E913EF7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7D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56D76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0D7D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959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56D7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63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72084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04088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6092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8096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00100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32104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72084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04088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36092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68096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00100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32104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40080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72084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04088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36092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68096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00100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32104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40080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72084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04088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36092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68096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00100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2104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0080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72084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704088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36092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68096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00100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32104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31520" y="1005840"/>
            <a:ext cx="1280160" cy="292608"/>
          </a:xfrm>
          <a:prstGeom prst="rect">
            <a:avLst/>
          </a:prstGeom>
          <a:solidFill>
            <a:srgbClr val="343B4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31520" y="10058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 2.1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1508760"/>
            <a:ext cx="640080" cy="4114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31520" y="1691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循环顺序之争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73152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1001×1001 矩阵乘法的六种循环顺序性能实测与 Cache 分析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0" y="4297680"/>
            <a:ext cx="9144000" cy="1371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3152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高性能计算课程  |  AMD Ryzen 7 9700X  |  GCC -O2  |  Linux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问题定义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86968" y="1188720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42416" y="1188720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80160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gemm_loop_order.c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457200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31520" y="150876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 = A × B, N = 1001
</a:t>
            </a:r>
            <a:r>
              <a:rPr lang="en-US" sz="12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= 0; i &lt; N; i++)
</a:t>
            </a:r>
            <a:r>
              <a:rPr lang="en-US" sz="12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</a:t>
            </a: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 = 0; j &lt; N; j++)
</a:t>
            </a:r>
            <a:r>
              <a:rPr lang="en-US" sz="12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 = 0; k &lt; N; k++)
</a:t>
            </a:r>
            <a:r>
              <a:rPr lang="en-US" sz="1200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C[i][j] += A[i][k] * B[k][j];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097280"/>
            <a:ext cx="3291840" cy="868680"/>
          </a:xfrm>
          <a:prstGeom prst="rect">
            <a:avLst/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486400" y="109728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669280" y="11887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种循环顺序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ijk, ikj, jik, jki, kij, kji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0" y="2148840"/>
            <a:ext cx="3291840" cy="868680"/>
          </a:xfrm>
          <a:prstGeom prst="rect">
            <a:avLst/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486400" y="214884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669280" y="22402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结果相同，性能不同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循环顺序决定内存访问模式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3200400"/>
            <a:ext cx="3291840" cy="868680"/>
          </a:xfrm>
          <a:prstGeom prst="rect">
            <a:avLst/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486400" y="320040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669280" y="32918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Row-major 存储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语言按行连续存储二维数组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1001  |  double (8 bytes)  |  2.01×10⁹ FLOPs per multiply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实验环境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0" cy="26517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1148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Ryzen 7 9700X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8-Core  |  Max 5.58 GHz  |  Zen 5 架构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3474720" cy="365760"/>
          </a:xfrm>
          <a:prstGeom prst="rect">
            <a:avLst/>
          </a:prstGeom>
          <a:solidFill>
            <a:srgbClr val="DAFB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45720" cy="36576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KB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2743200"/>
            <a:ext cx="3474720" cy="365760"/>
          </a:xfrm>
          <a:prstGeom prst="rect">
            <a:avLst/>
          </a:prstGeom>
          <a:solidFill>
            <a:srgbClr val="FFF8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77240" y="2743200"/>
            <a:ext cx="45720" cy="36576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1440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MB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16-way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3200400"/>
            <a:ext cx="3474720" cy="365760"/>
          </a:xfrm>
          <a:prstGeom prst="rect">
            <a:avLst/>
          </a:prstGeom>
          <a:solidFill>
            <a:srgbClr val="DDF4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77240" y="3200400"/>
            <a:ext cx="45720" cy="36576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14400" y="3200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MB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1097280"/>
            <a:ext cx="3840480" cy="10972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937760" y="1097280"/>
            <a:ext cx="3840480" cy="36576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12064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矩阵规模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1001 × 1001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20640" y="1828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(8B)  |  单矩阵 ~8 MB  |  三矩阵 ~24 MB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2377440"/>
            <a:ext cx="3840480" cy="10972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937760" y="2377440"/>
            <a:ext cx="3840480" cy="36576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120640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GCC -O2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120640" y="3108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标准优化  |  保留循环结构  |  不自动向量化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657600"/>
            <a:ext cx="3840480" cy="7315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120640" y="3749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 </a:t>
            </a: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6.8.0-111-generic (Ubuntu)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2560320" y="457200"/>
            <a:ext cx="594360" cy="256032"/>
          </a:xfrm>
          <a:prstGeom prst="rect">
            <a:avLst/>
          </a:prstGeom>
          <a:solidFill>
            <a:srgbClr val="DAFB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2560320" y="4572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697480" cy="1554480"/>
          </a:xfrm>
          <a:prstGeom prst="rect">
            <a:avLst/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最快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7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9.84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ikj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051560"/>
            <a:ext cx="2697480" cy="1554480"/>
          </a:xfrm>
          <a:prstGeom prst="rect">
            <a:avLst/>
          </a:prstGeom>
          <a:solidFill>
            <a:srgbClr val="FFEBE9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61188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1325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F22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2.71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611880" y="2057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jki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051560"/>
            <a:ext cx="2697480" cy="1554480"/>
          </a:xfrm>
          <a:prstGeom prst="rect">
            <a:avLst/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49224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1325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C4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3.6×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92240" y="2057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仅改变循环顺序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6492240" cy="19202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顺序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耗时(s)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GFLOPS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梯队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ikj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kij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ijk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6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6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jik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6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6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kji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jki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GFLOPS — higher is better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8412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411480"/>
            <a:ext cx="164592" cy="164592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6812280" y="3931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第一梯队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680960" y="411480"/>
            <a:ext cx="164592" cy="164592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909560" y="3931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第二梯队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40080"/>
            <a:ext cx="164592" cy="164592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812280" y="6217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第三梯队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-O2 编译  |  1001×1001 double 矩阵  |  AMD Ryzen 7 9700X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三梯队分析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最内层循环变量决定性能等级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" cy="100584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 GFLOPS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第一梯队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ikj / kij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最内层: </a:t>
            </a:r>
            <a:r>
              <a:rPr lang="en-US" sz="11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C[i][j] 和 B[k][j] 均按行连续访问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solidFill>
            <a:srgbClr val="FFF8C5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64008" cy="100584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77240" y="2606040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7724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~4.8 GFLOPS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第二梯队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ijk / jik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9718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最内层: </a:t>
            </a:r>
            <a:r>
              <a:rPr lang="en-US" sz="11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A[i][k] 按行连续，B[k][j] 按列跳跃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solidFill>
            <a:srgbClr val="FFEBE9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64008" cy="100584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77240" y="3794760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~2.7 GFLOPS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749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第三梯队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3749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jki / kji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1605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最内层: </a:t>
            </a:r>
            <a:r>
              <a:rPr lang="en-US" sz="11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C[i][j] 和 A[i][k] 均按列跳跃访问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Line = 64B = 8 个 double  |  行访问: 每 8 次 1 miss  |  列访问: 每次都 miss (步长 8008B)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内存访问模式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657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36576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按行访问 (j 递增)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353312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700784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048256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395728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743200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090672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438144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005840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353312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700784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048256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395728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743200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090672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438144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005840" y="2340864"/>
            <a:ext cx="301752" cy="301752"/>
          </a:xfrm>
          <a:prstGeom prst="rect">
            <a:avLst/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353312" y="2340864"/>
            <a:ext cx="301752" cy="301752"/>
          </a:xfrm>
          <a:prstGeom prst="rect">
            <a:avLst/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700784" y="2340864"/>
            <a:ext cx="301752" cy="301752"/>
          </a:xfrm>
          <a:prstGeom prst="rect">
            <a:avLst/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2048256" y="2340864"/>
            <a:ext cx="301752" cy="301752"/>
          </a:xfrm>
          <a:prstGeom prst="rect">
            <a:avLst/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2395728" y="2340864"/>
            <a:ext cx="301752" cy="301752"/>
          </a:xfrm>
          <a:prstGeom prst="rect">
            <a:avLst/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2743200" y="2340864"/>
            <a:ext cx="301752" cy="301752"/>
          </a:xfrm>
          <a:prstGeom prst="rect">
            <a:avLst/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090672" y="2340864"/>
            <a:ext cx="301752" cy="301752"/>
          </a:xfrm>
          <a:prstGeom prst="rect">
            <a:avLst/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3438144" y="2340864"/>
            <a:ext cx="301752" cy="301752"/>
          </a:xfrm>
          <a:prstGeom prst="rect">
            <a:avLst/>
          </a:prstGeom>
          <a:solidFill>
            <a:srgbClr val="DAFBE1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005840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353312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700784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2048256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2395728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2743200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3090672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3438144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005840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353312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700784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2048256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2395728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2743200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3090672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3438144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005840" y="24231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→ → → → → → →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724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连续地址访问
</a:t>
            </a: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Line 被充分利用
每 8 次访问仅 1 次 miss
</a:t>
            </a:r>
            <a:r>
              <a:rPr lang="en-US" sz="12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Rate ≈ 12.5%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4754880" y="1097280"/>
            <a:ext cx="3931920" cy="36576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498348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按列访问 (i 递增)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212080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5559552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5907024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6254496" y="1645920"/>
            <a:ext cx="301752" cy="301752"/>
          </a:xfrm>
          <a:prstGeom prst="rect">
            <a:avLst/>
          </a:prstGeom>
          <a:solidFill>
            <a:srgbClr val="FFEBE9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6601968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6949440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7296912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7644384" y="1645920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5212080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5559552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5907024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6254496" y="1993392"/>
            <a:ext cx="301752" cy="301752"/>
          </a:xfrm>
          <a:prstGeom prst="rect">
            <a:avLst/>
          </a:prstGeom>
          <a:solidFill>
            <a:srgbClr val="FFEBE9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6601968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949440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7296912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7644384" y="1993392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5212080" y="2340864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5559552" y="2340864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5907024" y="2340864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6254496" y="2340864"/>
            <a:ext cx="301752" cy="301752"/>
          </a:xfrm>
          <a:prstGeom prst="rect">
            <a:avLst/>
          </a:prstGeom>
          <a:solidFill>
            <a:srgbClr val="FFEBE9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6601968" y="2340864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6949440" y="2340864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7296912" y="2340864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7644384" y="2340864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5212080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5559552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5907024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6254496" y="2688336"/>
            <a:ext cx="301752" cy="301752"/>
          </a:xfrm>
          <a:prstGeom prst="rect">
            <a:avLst/>
          </a:prstGeom>
          <a:solidFill>
            <a:srgbClr val="FFEBE9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6601968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6949440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7296912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hape 81"/>
          <p:cNvSpPr/>
          <p:nvPr/>
        </p:nvSpPr>
        <p:spPr>
          <a:xfrm>
            <a:off x="7644384" y="2688336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>
            <a:off x="5212080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83"/>
          <p:cNvSpPr/>
          <p:nvPr/>
        </p:nvSpPr>
        <p:spPr>
          <a:xfrm>
            <a:off x="5559552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84"/>
          <p:cNvSpPr/>
          <p:nvPr/>
        </p:nvSpPr>
        <p:spPr>
          <a:xfrm>
            <a:off x="5907024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85"/>
          <p:cNvSpPr/>
          <p:nvPr/>
        </p:nvSpPr>
        <p:spPr>
          <a:xfrm>
            <a:off x="6254496" y="3035808"/>
            <a:ext cx="301752" cy="301752"/>
          </a:xfrm>
          <a:prstGeom prst="rect">
            <a:avLst/>
          </a:prstGeom>
          <a:solidFill>
            <a:srgbClr val="FFEBE9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86"/>
          <p:cNvSpPr/>
          <p:nvPr/>
        </p:nvSpPr>
        <p:spPr>
          <a:xfrm>
            <a:off x="6601968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87"/>
          <p:cNvSpPr/>
          <p:nvPr/>
        </p:nvSpPr>
        <p:spPr>
          <a:xfrm>
            <a:off x="6949440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Shape 88"/>
          <p:cNvSpPr/>
          <p:nvPr/>
        </p:nvSpPr>
        <p:spPr>
          <a:xfrm>
            <a:off x="7296912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hape 89"/>
          <p:cNvSpPr/>
          <p:nvPr/>
        </p:nvSpPr>
        <p:spPr>
          <a:xfrm>
            <a:off x="7644384" y="3035808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Text 90"/>
          <p:cNvSpPr/>
          <p:nvPr/>
        </p:nvSpPr>
        <p:spPr>
          <a:xfrm>
            <a:off x="6199632" y="1691640"/>
            <a:ext cx="274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98348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跳跃地址访问
</a:t>
            </a: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步长 = N×8 = 8008 bytes
每次访问都 cache miss
</a:t>
            </a:r>
            <a:r>
              <a:rPr lang="en-US" sz="12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Rate ≈ 100%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各顺序的访问模式详解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2402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顺序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最内层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A[i][k]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B[k][j]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C[i][j]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友好度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ikj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C95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行连续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行连续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kij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C95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行连续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行连续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ijk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行连续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列跳跃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C95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6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jik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行连续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列跳跃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C95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6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jki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列跳跃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C95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列跳跃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kji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列跳跃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C95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列跳跃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49040"/>
            <a:ext cx="8046720" cy="11887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3758035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规律总结
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最内层变量为 j → 沿行遍历 → 连续内存 → Cache 命中率高
• 最内层变量为 i → 沿列遍历 → 跳跃内存 → Cache 命中率低
• "固定" = 该变量在最内层不变化，对应元素被重复使用 (temporal locality)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-O0 vs -O2 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编译优化如何放大循环顺序的性能差异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8872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188720"/>
            <a:ext cx="2926080" cy="1280160"/>
          </a:xfrm>
          <a:prstGeom prst="rect">
            <a:avLst/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5852160" y="1188720"/>
            <a:ext cx="45720" cy="128016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989320" y="12801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优化放大差异
</a:t>
            </a: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-O0: 最快/最慢 = </a:t>
            </a: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2.0x
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-O2: 最快/最慢 = </a:t>
            </a:r>
            <a:r>
              <a:rPr lang="en-US" sz="1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52160" y="2651760"/>
            <a:ext cx="2926080" cy="1645920"/>
          </a:xfrm>
          <a:prstGeom prst="rect">
            <a:avLst/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852160" y="2651760"/>
            <a:ext cx="45720" cy="1645920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989320" y="27432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原因分析
</a:t>
            </a: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-O2 让纯计算更快
→ 内存 IO 成为更大瓶颈
→ Cache 友好度的影响
</a:t>
            </a:r>
            <a:r>
              <a:rPr lang="en-US" sz="11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被进一步放大
</a:t>
            </a: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计算越快，IO 瓶颈越突出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3.6×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仅改变循环顺序带来的性能差距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8046720" cy="1371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91440" cy="27432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最内层循环变量为 j 时，C 和 B 按行连续访问，Cache 命中率最高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91440" cy="27432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最内层循环变量为 i 时，按列跳跃访问，步长远超 Cache Line，几乎每次都 miss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91440" cy="2743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编译优化 (-O2) 让计算更快，反而放大了 IO 瓶颈的影响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91440" cy="274320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高性能编程的核心：理解硬件存储层次，让数据访问模式匹配 Cache 行为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40" y="47777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 2.1  |  循环顺序之争  |  高性能计算课程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</Words>
  <Application>Microsoft Macintosh PowerPoint</Application>
  <PresentationFormat>全屏显示(16:9)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选题2.1 循环顺序之争 - 矩阵乘法性能分析</dc:title>
  <dc:subject>PptxGenJS Presentation</dc:subject>
  <dc:creator>nanfeng</dc:creator>
  <cp:lastModifiedBy>QE5783</cp:lastModifiedBy>
  <cp:revision>2</cp:revision>
  <dcterms:created xsi:type="dcterms:W3CDTF">2026-05-12T03:53:22Z</dcterms:created>
  <dcterms:modified xsi:type="dcterms:W3CDTF">2026-05-12T03:59:21Z</dcterms:modified>
</cp:coreProperties>
</file>
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1" r:id="rId2"/>
  </p:sldMasterIdLst>
  <p:notesMasterIdLst>
    <p:notesMasterId r:id="rId40"/>
  </p:notesMasterIdLst>
  <p:sldIdLst>
    <p:sldId id="300" r:id="rId3"/>
    <p:sldId id="301" r:id="rId4"/>
    <p:sldId id="303" r:id="rId5"/>
    <p:sldId id="305" r:id="rId6"/>
    <p:sldId id="304" r:id="rId7"/>
    <p:sldId id="306" r:id="rId8"/>
    <p:sldId id="307" r:id="rId9"/>
    <p:sldId id="309" r:id="rId10"/>
    <p:sldId id="310" r:id="rId11"/>
    <p:sldId id="257" r:id="rId12"/>
    <p:sldId id="258" r:id="rId13"/>
    <p:sldId id="259" r:id="rId14"/>
    <p:sldId id="311" r:id="rId15"/>
    <p:sldId id="260" r:id="rId16"/>
    <p:sldId id="312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 snapToObjects="1">
      <p:cViewPr varScale="1">
        <p:scale>
          <a:sx n="136" d="100"/>
          <a:sy n="136" d="100"/>
        </p:scale>
        <p:origin x="104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QD=1</c:v>
                </c:pt>
              </c:strCache>
            </c:strRef>
          </c:tx>
          <c:spPr>
            <a:solidFill>
              <a:srgbClr val="0969DA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NVMe</c:v>
                </c:pt>
                <c:pt idx="1">
                  <c:v>SATA SSD</c:v>
                </c:pt>
                <c:pt idx="2">
                  <c:v>HDD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21370</c:v>
                </c:pt>
                <c:pt idx="1">
                  <c:v>10000</c:v>
                </c:pt>
                <c:pt idx="2">
                  <c:v>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A9-40EB-B633-74CBD2E6AD2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QD=32</c:v>
                </c:pt>
              </c:strCache>
            </c:strRef>
          </c:tx>
          <c:spPr>
            <a:solidFill>
              <a:srgbClr val="1A7F37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NVMe</c:v>
                </c:pt>
                <c:pt idx="1">
                  <c:v>SATA SSD</c:v>
                </c:pt>
                <c:pt idx="2">
                  <c:v>HDD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583901</c:v>
                </c:pt>
                <c:pt idx="1">
                  <c:v>98000</c:v>
                </c:pt>
                <c:pt idx="2">
                  <c:v>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9A9-40EB-B633-74CBD2E6AD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56D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7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56D76"/>
                </a:solidFill>
                <a:latin typeface="Courier New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656D76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6F8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384EF9-6E2C-4012-8AF8-BFAD32B70E7A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2C1873-D9C9-43D2-85E9-0B8A8EC54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5742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1807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7038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516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8257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8292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3358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5283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7095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9260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1765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5396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3313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4450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43754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2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4099" y="368201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921550" y="368201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239000" y="368201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556450" y="368201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873901" y="368201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191351" y="368201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04099" y="685651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921550" y="685651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39000" y="685651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556450" y="685651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873901" y="685651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191351" y="685651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604099" y="100310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921550" y="100310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239000" y="100310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556450" y="100310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873901" y="100310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191351" y="100310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604099" y="132055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921550" y="132055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239000" y="132055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556450" y="132055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873901" y="132055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191351" y="132055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604099" y="163800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921550" y="163800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239000" y="163800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556450" y="163800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873901" y="163800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191351" y="163800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604099" y="1955453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921550" y="1955453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239000" y="1955453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556450" y="1955453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7873901" y="1955453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36550" y="939552"/>
            <a:ext cx="699195" cy="247650"/>
          </a:xfrm>
          <a:prstGeom prst="roundRect">
            <a:avLst>
              <a:gd name="adj" fmla="val 20513"/>
            </a:avLst>
          </a:prstGeom>
          <a:solidFill>
            <a:srgbClr val="343B4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863501" y="977652"/>
            <a:ext cx="454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选题 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6550" y="1466552"/>
            <a:ext cx="7824317" cy="614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存储层次</a:t>
            </a:r>
            <a:endParaRPr lang="en-US" sz="4400" dirty="0"/>
          </a:p>
        </p:txBody>
      </p:sp>
      <p:sp>
        <p:nvSpPr>
          <p:cNvPr id="40" name="Text 38"/>
          <p:cNvSpPr/>
          <p:nvPr/>
        </p:nvSpPr>
        <p:spPr>
          <a:xfrm>
            <a:off x="736550" y="2081212"/>
            <a:ext cx="7824317" cy="614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金字塔实测</a:t>
            </a:r>
            <a:endParaRPr lang="en-US" sz="4400" dirty="0"/>
          </a:p>
        </p:txBody>
      </p:sp>
      <p:sp>
        <p:nvSpPr>
          <p:cNvPr id="41" name="Text 39"/>
          <p:cNvSpPr/>
          <p:nvPr/>
        </p:nvSpPr>
        <p:spPr>
          <a:xfrm>
            <a:off x="736550" y="2873573"/>
            <a:ext cx="634901" cy="38100"/>
          </a:xfrm>
          <a:prstGeom prst="roundRect">
            <a:avLst>
              <a:gd name="adj" fmla="val 33333"/>
            </a:avLst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36550" y="3114824"/>
            <a:ext cx="782431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我的电脑（虚拟机）到底有多快</a:t>
            </a: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？——</a:t>
            </a:r>
            <a:r>
              <a:rPr lang="zh-CN" alt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存储层次的</a:t>
            </a:r>
            <a:r>
              <a:rPr lang="en-US" altLang="zh-CN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zh-CN" alt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金字塔实测</a:t>
            </a:r>
            <a:r>
              <a:rPr lang="en-US" altLang="zh-CN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0" y="4292650"/>
            <a:ext cx="9144000" cy="850850"/>
          </a:xfrm>
          <a:prstGeom prst="rect">
            <a:avLst/>
          </a:prstGeom>
          <a:solidFill>
            <a:srgbClr val="1C21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0" y="4292650"/>
            <a:ext cx="9144000" cy="12650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736550" y="4622750"/>
            <a:ext cx="770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完整报告 · a) 延迟   ·   b) 带宽   ·   c) 工作集扫描   ·   d) e) SSD / HDD 与跨硬件对比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genda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"/>
          <p:cNvSpPr/>
          <p:nvPr/>
        </p:nvSpPr>
        <p:spPr>
          <a:xfrm>
            <a:off x="736550" y="372000"/>
            <a:ext cx="1640000" cy="300000"/>
          </a:xfrm>
          <a:prstGeom prst="roundRect">
            <a:avLst>
              <a:gd name="adj" fmla="val 22000"/>
            </a:avLst>
          </a:prstGeom>
          <a:solidFill>
            <a:srgbClr val="DDF4FF"/>
          </a:solidFill>
          <a:ln w="9525">
            <a:solidFill>
              <a:srgbClr val="B6E3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969DA"/>
                </a:solidFill>
                <a:latin typeface="Calibri"/>
                <a:ea typeface="Calibri"/>
                <a:cs typeface="Calibri"/>
              </a:rPr>
              <a:t>导览  ·  ROADMAP</a:t>
            </a:r>
          </a:p>
        </p:txBody>
      </p:sp>
      <p:sp>
        <p:nvSpPr>
          <p:cNvPr id="12" name="t"/>
          <p:cNvSpPr/>
          <p:nvPr/>
        </p:nvSpPr>
        <p:spPr>
          <a:xfrm>
            <a:off x="736550" y="740000"/>
            <a:ext cx="76709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2328"/>
                </a:solidFill>
                <a:latin typeface="Arial Black"/>
                <a:ea typeface="Arial Black"/>
                <a:cs typeface="Arial Black"/>
              </a:rPr>
              <a:t>报告导览</a:t>
            </a:r>
          </a:p>
        </p:txBody>
      </p:sp>
      <p:sp>
        <p:nvSpPr>
          <p:cNvPr id="13" name="r"/>
          <p:cNvSpPr/>
          <p:nvPr/>
        </p:nvSpPr>
        <p:spPr>
          <a:xfrm>
            <a:off x="738000" y="1392000"/>
            <a:ext cx="620000" cy="38100"/>
          </a:xfrm>
          <a:prstGeom prst="roundRect">
            <a:avLst>
              <a:gd name="adj" fmla="val 33333"/>
            </a:avLst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/>
          </a:p>
        </p:txBody>
      </p:sp>
      <p:sp>
        <p:nvSpPr>
          <p:cNvPr id="14" name="t"/>
          <p:cNvSpPr/>
          <p:nvPr/>
        </p:nvSpPr>
        <p:spPr>
          <a:xfrm>
            <a:off x="736550" y="1474000"/>
            <a:ext cx="76709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0" dirty="0" err="1">
                <a:solidFill>
                  <a:srgbClr val="656D76"/>
                </a:solidFill>
                <a:latin typeface="Calibri"/>
                <a:ea typeface="Calibri"/>
                <a:cs typeface="Calibri"/>
              </a:rPr>
              <a:t>五个子问题，一条主线</a:t>
            </a:r>
            <a:endParaRPr lang="en-US" sz="1300" b="0" dirty="0">
              <a:solidFill>
                <a:srgbClr val="656D7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r"/>
          <p:cNvSpPr/>
          <p:nvPr/>
        </p:nvSpPr>
        <p:spPr>
          <a:xfrm>
            <a:off x="736550" y="1812000"/>
            <a:ext cx="7670900" cy="56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/>
          </a:p>
        </p:txBody>
      </p:sp>
      <p:sp>
        <p:nvSpPr>
          <p:cNvPr id="16" name="r"/>
          <p:cNvSpPr/>
          <p:nvPr/>
        </p:nvSpPr>
        <p:spPr>
          <a:xfrm>
            <a:off x="856550" y="1902000"/>
            <a:ext cx="380000" cy="380000"/>
          </a:xfrm>
          <a:prstGeom prst="roundRect">
            <a:avLst>
              <a:gd name="adj" fmla="val 22000"/>
            </a:avLst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a)</a:t>
            </a:r>
          </a:p>
        </p:txBody>
      </p:sp>
      <p:sp>
        <p:nvSpPr>
          <p:cNvPr id="17" name="t"/>
          <p:cNvSpPr/>
          <p:nvPr/>
        </p:nvSpPr>
        <p:spPr>
          <a:xfrm>
            <a:off x="1430000" y="1908000"/>
            <a:ext cx="23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延迟金字塔</a:t>
            </a:r>
          </a:p>
        </p:txBody>
      </p:sp>
      <p:sp>
        <p:nvSpPr>
          <p:cNvPr id="18" name="t"/>
          <p:cNvSpPr/>
          <p:nvPr/>
        </p:nvSpPr>
        <p:spPr>
          <a:xfrm>
            <a:off x="1430000" y="2134000"/>
            <a:ext cx="565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0" dirty="0">
                <a:solidFill>
                  <a:srgbClr val="656D76"/>
                </a:solidFill>
                <a:latin typeface="Calibri"/>
                <a:ea typeface="Calibri"/>
                <a:cs typeface="Calibri"/>
              </a:rPr>
              <a:t>实测各级存储访问延迟，画出 L1 → 硬盘的完整延迟金字塔（横轴对数刻度）</a:t>
            </a:r>
          </a:p>
        </p:txBody>
      </p:sp>
      <p:sp>
        <p:nvSpPr>
          <p:cNvPr id="19" name="r"/>
          <p:cNvSpPr/>
          <p:nvPr/>
        </p:nvSpPr>
        <p:spPr>
          <a:xfrm>
            <a:off x="7400000" y="1962000"/>
            <a:ext cx="880000" cy="262000"/>
          </a:xfrm>
          <a:prstGeom prst="roundRect">
            <a:avLst>
              <a:gd name="adj" fmla="val 24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969DA"/>
                </a:solidFill>
                <a:latin typeface="Calibri"/>
                <a:ea typeface="Calibri"/>
                <a:cs typeface="Calibri"/>
              </a:rPr>
              <a:t>P.06</a:t>
            </a:r>
          </a:p>
        </p:txBody>
      </p:sp>
      <p:sp>
        <p:nvSpPr>
          <p:cNvPr id="20" name="r"/>
          <p:cNvSpPr/>
          <p:nvPr/>
        </p:nvSpPr>
        <p:spPr>
          <a:xfrm>
            <a:off x="736550" y="2456000"/>
            <a:ext cx="7670900" cy="56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/>
          </a:p>
        </p:txBody>
      </p:sp>
      <p:sp>
        <p:nvSpPr>
          <p:cNvPr id="21" name="r"/>
          <p:cNvSpPr/>
          <p:nvPr/>
        </p:nvSpPr>
        <p:spPr>
          <a:xfrm>
            <a:off x="856550" y="2546000"/>
            <a:ext cx="380000" cy="380000"/>
          </a:xfrm>
          <a:prstGeom prst="roundRect">
            <a:avLst>
              <a:gd name="adj" fmla="val 22000"/>
            </a:avLst>
          </a:prstGeom>
          <a:solidFill>
            <a:srgbClr val="1A7F3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b)</a:t>
            </a:r>
          </a:p>
        </p:txBody>
      </p:sp>
      <p:sp>
        <p:nvSpPr>
          <p:cNvPr id="22" name="t"/>
          <p:cNvSpPr/>
          <p:nvPr/>
        </p:nvSpPr>
        <p:spPr>
          <a:xfrm>
            <a:off x="1430000" y="2552000"/>
            <a:ext cx="23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带宽对比</a:t>
            </a:r>
          </a:p>
        </p:txBody>
      </p:sp>
      <p:sp>
        <p:nvSpPr>
          <p:cNvPr id="23" name="t"/>
          <p:cNvSpPr/>
          <p:nvPr/>
        </p:nvSpPr>
        <p:spPr>
          <a:xfrm>
            <a:off x="1430000" y="2778000"/>
            <a:ext cx="565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0" dirty="0">
                <a:solidFill>
                  <a:srgbClr val="656D76"/>
                </a:solidFill>
                <a:latin typeface="Calibri"/>
                <a:ea typeface="Calibri"/>
                <a:cs typeface="Calibri"/>
              </a:rPr>
              <a:t>顺序 vs 随机访问，各级带宽实测，定位“顺序 - 随机”差距最悬殊的层级</a:t>
            </a:r>
          </a:p>
        </p:txBody>
      </p:sp>
      <p:sp>
        <p:nvSpPr>
          <p:cNvPr id="24" name="r"/>
          <p:cNvSpPr/>
          <p:nvPr/>
        </p:nvSpPr>
        <p:spPr>
          <a:xfrm>
            <a:off x="7400000" y="2606000"/>
            <a:ext cx="880000" cy="262000"/>
          </a:xfrm>
          <a:prstGeom prst="roundRect">
            <a:avLst>
              <a:gd name="adj" fmla="val 24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7F37"/>
                </a:solidFill>
                <a:latin typeface="Calibri"/>
                <a:ea typeface="Calibri"/>
                <a:cs typeface="Calibri"/>
              </a:rPr>
              <a:t>P.07</a:t>
            </a:r>
          </a:p>
        </p:txBody>
      </p:sp>
      <p:sp>
        <p:nvSpPr>
          <p:cNvPr id="25" name="r"/>
          <p:cNvSpPr/>
          <p:nvPr/>
        </p:nvSpPr>
        <p:spPr>
          <a:xfrm>
            <a:off x="736550" y="3100000"/>
            <a:ext cx="7670900" cy="56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/>
          </a:p>
        </p:txBody>
      </p:sp>
      <p:sp>
        <p:nvSpPr>
          <p:cNvPr id="26" name="r"/>
          <p:cNvSpPr/>
          <p:nvPr/>
        </p:nvSpPr>
        <p:spPr>
          <a:xfrm>
            <a:off x="856550" y="3190000"/>
            <a:ext cx="380000" cy="380000"/>
          </a:xfrm>
          <a:prstGeom prst="roundRect">
            <a:avLst>
              <a:gd name="adj" fmla="val 22000"/>
            </a:avLst>
          </a:prstGeom>
          <a:solidFill>
            <a:srgbClr val="9A670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c)</a:t>
            </a:r>
          </a:p>
        </p:txBody>
      </p:sp>
      <p:sp>
        <p:nvSpPr>
          <p:cNvPr id="27" name="t"/>
          <p:cNvSpPr/>
          <p:nvPr/>
        </p:nvSpPr>
        <p:spPr>
          <a:xfrm>
            <a:off x="1430000" y="3196000"/>
            <a:ext cx="23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工作集扫描</a:t>
            </a:r>
          </a:p>
        </p:txBody>
      </p:sp>
      <p:sp>
        <p:nvSpPr>
          <p:cNvPr id="28" name="t"/>
          <p:cNvSpPr/>
          <p:nvPr/>
        </p:nvSpPr>
        <p:spPr>
          <a:xfrm>
            <a:off x="1430000" y="3422000"/>
            <a:ext cx="565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0" dirty="0">
                <a:solidFill>
                  <a:srgbClr val="656D76"/>
                </a:solidFill>
                <a:latin typeface="Calibri"/>
                <a:ea typeface="Calibri"/>
                <a:cs typeface="Calibri"/>
              </a:rPr>
              <a:t>数组 4KB → 1GB 指数扫描，“看见” L1/L2/L3/内存容量边界并核对 lscpu</a:t>
            </a:r>
          </a:p>
        </p:txBody>
      </p:sp>
      <p:sp>
        <p:nvSpPr>
          <p:cNvPr id="29" name="r"/>
          <p:cNvSpPr/>
          <p:nvPr/>
        </p:nvSpPr>
        <p:spPr>
          <a:xfrm>
            <a:off x="7400000" y="3250000"/>
            <a:ext cx="880000" cy="262000"/>
          </a:xfrm>
          <a:prstGeom prst="roundRect">
            <a:avLst>
              <a:gd name="adj" fmla="val 24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A6700"/>
                </a:solidFill>
                <a:latin typeface="Calibri"/>
                <a:ea typeface="Calibri"/>
                <a:cs typeface="Calibri"/>
              </a:rPr>
              <a:t>P.13</a:t>
            </a:r>
          </a:p>
        </p:txBody>
      </p:sp>
      <p:sp>
        <p:nvSpPr>
          <p:cNvPr id="30" name="r"/>
          <p:cNvSpPr/>
          <p:nvPr/>
        </p:nvSpPr>
        <p:spPr>
          <a:xfrm>
            <a:off x="736550" y="3744000"/>
            <a:ext cx="7670900" cy="56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/>
          </a:p>
        </p:txBody>
      </p:sp>
      <p:sp>
        <p:nvSpPr>
          <p:cNvPr id="31" name="r"/>
          <p:cNvSpPr/>
          <p:nvPr/>
        </p:nvSpPr>
        <p:spPr>
          <a:xfrm>
            <a:off x="856550" y="3834000"/>
            <a:ext cx="380000" cy="380000"/>
          </a:xfrm>
          <a:prstGeom prst="roundRect">
            <a:avLst>
              <a:gd name="adj" fmla="val 22000"/>
            </a:avLst>
          </a:prstGeom>
          <a:solidFill>
            <a:srgbClr val="CF222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d)</a:t>
            </a:r>
          </a:p>
        </p:txBody>
      </p:sp>
      <p:sp>
        <p:nvSpPr>
          <p:cNvPr id="32" name="t"/>
          <p:cNvSpPr/>
          <p:nvPr/>
        </p:nvSpPr>
        <p:spPr>
          <a:xfrm>
            <a:off x="1430000" y="3840000"/>
            <a:ext cx="23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SSD vs HDD</a:t>
            </a:r>
          </a:p>
        </p:txBody>
      </p:sp>
      <p:sp>
        <p:nvSpPr>
          <p:cNvPr id="33" name="t"/>
          <p:cNvSpPr/>
          <p:nvPr/>
        </p:nvSpPr>
        <p:spPr>
          <a:xfrm>
            <a:off x="1430000" y="4066000"/>
            <a:ext cx="565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0" dirty="0">
                <a:solidFill>
                  <a:srgbClr val="656D76"/>
                </a:solidFill>
                <a:latin typeface="Calibri"/>
                <a:ea typeface="Calibri"/>
                <a:cs typeface="Calibri"/>
              </a:rPr>
              <a:t>随机 4K 读写性能、延迟分布（单峰 / 长尾），SSD 是否真“没有寻道时间”</a:t>
            </a:r>
          </a:p>
        </p:txBody>
      </p:sp>
      <p:sp>
        <p:nvSpPr>
          <p:cNvPr id="34" name="r"/>
          <p:cNvSpPr/>
          <p:nvPr/>
        </p:nvSpPr>
        <p:spPr>
          <a:xfrm>
            <a:off x="7400000" y="3894000"/>
            <a:ext cx="880000" cy="262000"/>
          </a:xfrm>
          <a:prstGeom prst="roundRect">
            <a:avLst>
              <a:gd name="adj" fmla="val 24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F222E"/>
                </a:solidFill>
                <a:latin typeface="Calibri"/>
                <a:ea typeface="Calibri"/>
                <a:cs typeface="Calibri"/>
              </a:rPr>
              <a:t>P.26</a:t>
            </a:r>
          </a:p>
        </p:txBody>
      </p:sp>
      <p:sp>
        <p:nvSpPr>
          <p:cNvPr id="35" name="r"/>
          <p:cNvSpPr/>
          <p:nvPr/>
        </p:nvSpPr>
        <p:spPr>
          <a:xfrm>
            <a:off x="736550" y="4388000"/>
            <a:ext cx="7670900" cy="56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/>
          </a:p>
        </p:txBody>
      </p:sp>
      <p:sp>
        <p:nvSpPr>
          <p:cNvPr id="36" name="r"/>
          <p:cNvSpPr/>
          <p:nvPr/>
        </p:nvSpPr>
        <p:spPr>
          <a:xfrm>
            <a:off x="856550" y="4478000"/>
            <a:ext cx="380000" cy="380000"/>
          </a:xfrm>
          <a:prstGeom prst="roundRect">
            <a:avLst>
              <a:gd name="adj" fmla="val 22000"/>
            </a:avLst>
          </a:prstGeom>
          <a:solidFill>
            <a:srgbClr val="8250D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e)</a:t>
            </a:r>
          </a:p>
        </p:txBody>
      </p:sp>
      <p:sp>
        <p:nvSpPr>
          <p:cNvPr id="37" name="t"/>
          <p:cNvSpPr/>
          <p:nvPr/>
        </p:nvSpPr>
        <p:spPr>
          <a:xfrm>
            <a:off x="1430000" y="4484000"/>
            <a:ext cx="23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跨硬件对比</a:t>
            </a:r>
          </a:p>
        </p:txBody>
      </p:sp>
      <p:sp>
        <p:nvSpPr>
          <p:cNvPr id="38" name="t"/>
          <p:cNvSpPr/>
          <p:nvPr/>
        </p:nvSpPr>
        <p:spPr>
          <a:xfrm>
            <a:off x="1430000" y="4710000"/>
            <a:ext cx="565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0" dirty="0">
                <a:solidFill>
                  <a:srgbClr val="656D76"/>
                </a:solidFill>
                <a:latin typeface="Calibri"/>
                <a:ea typeface="Calibri"/>
                <a:cs typeface="Calibri"/>
              </a:rPr>
              <a:t>笔记本 / 台式 / 服务器、DDR4 与 DDR5、SATA 与 NVMe 各自特点与差异</a:t>
            </a:r>
          </a:p>
        </p:txBody>
      </p:sp>
      <p:sp>
        <p:nvSpPr>
          <p:cNvPr id="39" name="r"/>
          <p:cNvSpPr/>
          <p:nvPr/>
        </p:nvSpPr>
        <p:spPr>
          <a:xfrm>
            <a:off x="7400000" y="4538000"/>
            <a:ext cx="880000" cy="262000"/>
          </a:xfrm>
          <a:prstGeom prst="roundRect">
            <a:avLst>
              <a:gd name="adj" fmla="val 24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250DF"/>
                </a:solidFill>
                <a:latin typeface="Calibri"/>
                <a:ea typeface="Calibri"/>
                <a:cs typeface="Calibri"/>
              </a:rPr>
              <a:t>P.34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6050" y="279350"/>
            <a:ext cx="8212937" cy="438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US" altLang="zh-CN" sz="2400" b="1" dirty="0">
                <a:solidFill>
                  <a:srgbClr val="1F2328"/>
                </a:solidFill>
                <a:latin typeface="Arial"/>
              </a:rPr>
              <a:t>a</a:t>
            </a:r>
            <a:r>
              <a:rPr lang="zh-CN" altLang="en-US" sz="2400" b="1" dirty="0">
                <a:solidFill>
                  <a:srgbClr val="1F2328"/>
                </a:solidFill>
                <a:latin typeface="Arial"/>
              </a:rPr>
              <a:t>）</a:t>
            </a:r>
            <a:r>
              <a:rPr lang="en-US" sz="2600" b="1" dirty="0" err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测量方法</a:t>
            </a:r>
            <a:r>
              <a:rPr lang="en-US" sz="2600" b="1" dirty="0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· 延迟篇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6050" y="819001"/>
            <a:ext cx="1092101" cy="38100"/>
          </a:xfrm>
          <a:prstGeom prst="rect">
            <a:avLst/>
          </a:prstGeom>
          <a:solidFill>
            <a:srgbClr val="0969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6050" y="1218728"/>
            <a:ext cx="4124623" cy="949077"/>
          </a:xfrm>
          <a:prstGeom prst="roundRect">
            <a:avLst>
              <a:gd name="adj" fmla="val 5353"/>
            </a:avLst>
          </a:prstGeom>
          <a:solidFill>
            <a:srgbClr val="F6F8F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1101" y="1333028"/>
            <a:ext cx="3870412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850" b="1" dirty="0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直觉：数组里存的是下一跳的地址，CPU 不知道下一步在哪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11101" y="1564754"/>
            <a:ext cx="355550" cy="292001"/>
          </a:xfrm>
          <a:prstGeom prst="roundRect">
            <a:avLst>
              <a:gd name="adj" fmla="val 13048"/>
            </a:avLst>
          </a:prstGeom>
          <a:solidFill>
            <a:srgbClr val="DDF4FF"/>
          </a:solidFill>
          <a:ln w="19050">
            <a:solidFill>
              <a:srgbClr val="0969D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55613" y="1639316"/>
            <a:ext cx="6770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969D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232297" y="1564754"/>
            <a:ext cx="355550" cy="292001"/>
          </a:xfrm>
          <a:prstGeom prst="roundRect">
            <a:avLst>
              <a:gd name="adj" fmla="val 13048"/>
            </a:avLst>
          </a:prstGeom>
          <a:solidFill>
            <a:srgbClr val="DDF4FF"/>
          </a:solidFill>
          <a:ln w="19050">
            <a:solidFill>
              <a:srgbClr val="0969D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376809" y="1639316"/>
            <a:ext cx="6770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969D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753493" y="1564754"/>
            <a:ext cx="355550" cy="292001"/>
          </a:xfrm>
          <a:prstGeom prst="roundRect">
            <a:avLst>
              <a:gd name="adj" fmla="val 13048"/>
            </a:avLst>
          </a:prstGeom>
          <a:solidFill>
            <a:srgbClr val="DDF4FF"/>
          </a:solidFill>
          <a:ln w="19050">
            <a:solidFill>
              <a:srgbClr val="0969D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898005" y="1639316"/>
            <a:ext cx="6770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969D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274689" y="1564754"/>
            <a:ext cx="355550" cy="292001"/>
          </a:xfrm>
          <a:prstGeom prst="roundRect">
            <a:avLst>
              <a:gd name="adj" fmla="val 13048"/>
            </a:avLst>
          </a:prstGeom>
          <a:solidFill>
            <a:srgbClr val="DDF4FF"/>
          </a:solidFill>
          <a:ln w="19050">
            <a:solidFill>
              <a:srgbClr val="0969D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419201" y="1639316"/>
            <a:ext cx="6770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969D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95885" y="1564754"/>
            <a:ext cx="355550" cy="292001"/>
          </a:xfrm>
          <a:prstGeom prst="roundRect">
            <a:avLst>
              <a:gd name="adj" fmla="val 13048"/>
            </a:avLst>
          </a:prstGeom>
          <a:solidFill>
            <a:srgbClr val="DDF4FF"/>
          </a:solidFill>
          <a:ln w="19050">
            <a:solidFill>
              <a:srgbClr val="0969D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940397" y="1639316"/>
            <a:ext cx="6770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969D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17081" y="1564754"/>
            <a:ext cx="355550" cy="292001"/>
          </a:xfrm>
          <a:prstGeom prst="roundRect">
            <a:avLst>
              <a:gd name="adj" fmla="val 13048"/>
            </a:avLst>
          </a:prstGeom>
          <a:solidFill>
            <a:srgbClr val="DDF4FF"/>
          </a:solidFill>
          <a:ln w="19050">
            <a:solidFill>
              <a:srgbClr val="0969D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461593" y="1639316"/>
            <a:ext cx="6770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969D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11101" y="1920155"/>
            <a:ext cx="387041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56D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CPU 无法提前取数，只能等结果返回才能继续——等待时间 = 该层真实延迟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2552" y="2559844"/>
            <a:ext cx="50750" cy="747117"/>
          </a:xfrm>
          <a:prstGeom prst="roundRect">
            <a:avLst>
              <a:gd name="adj" fmla="val 50049"/>
            </a:avLst>
          </a:prstGeom>
          <a:solidFill>
            <a:srgbClr val="0969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93303" y="2559844"/>
            <a:ext cx="4073872" cy="747117"/>
          </a:xfrm>
          <a:prstGeom prst="rect">
            <a:avLst/>
          </a:prstGeom>
          <a:solidFill>
            <a:srgbClr val="DDF4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20253" y="2648694"/>
            <a:ext cx="3896371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 err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指针追逐（Pointer</a:t>
            </a:r>
            <a:r>
              <a:rPr lang="en-US" sz="1200" b="1" dirty="0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Chasing）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0253" y="2886819"/>
            <a:ext cx="3896371" cy="3312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900" dirty="0">
                <a:solidFill>
                  <a:srgbClr val="656D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Fisher-Yates 随机打乱后形成链式跳跃——每步才知道下一步在哪，CPU 无法预取；工作集超过某层容量时延迟骤变，即可测出该层延迟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6050" y="3655814"/>
            <a:ext cx="4124623" cy="1113086"/>
          </a:xfrm>
          <a:prstGeom prst="roundRect">
            <a:avLst>
              <a:gd name="adj" fmla="val 4721"/>
            </a:avLst>
          </a:prstGeom>
          <a:solidFill>
            <a:srgbClr val="F6F8F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73001" y="3794373"/>
            <a:ext cx="3948136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8C959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工作集大小决定命中哪一层 → 延迟骤变 = 层级边界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73001" y="4003923"/>
            <a:ext cx="929580" cy="663476"/>
          </a:xfrm>
          <a:prstGeom prst="roundRect">
            <a:avLst>
              <a:gd name="adj" fmla="val 5742"/>
            </a:avLst>
          </a:prstGeom>
          <a:solidFill>
            <a:srgbClr val="DDF4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41429" y="4092773"/>
            <a:ext cx="79272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969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L1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41429" y="4264223"/>
            <a:ext cx="792724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00" dirty="0">
                <a:solidFill>
                  <a:srgbClr val="8C959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≤ 32 KB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741429" y="4416623"/>
            <a:ext cx="792724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969D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~4 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653332" y="4003923"/>
            <a:ext cx="929729" cy="663476"/>
          </a:xfrm>
          <a:prstGeom prst="roundRect">
            <a:avLst>
              <a:gd name="adj" fmla="val 5742"/>
            </a:avLst>
          </a:prstGeom>
          <a:solidFill>
            <a:srgbClr val="FFF8C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721758" y="4092773"/>
            <a:ext cx="792876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A67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L2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721758" y="4264223"/>
            <a:ext cx="792876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00" dirty="0">
                <a:solidFill>
                  <a:srgbClr val="8C959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≤ 512 KB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721758" y="4416623"/>
            <a:ext cx="792876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67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~19 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633811" y="4003923"/>
            <a:ext cx="929580" cy="663476"/>
          </a:xfrm>
          <a:prstGeom prst="roundRect">
            <a:avLst>
              <a:gd name="adj" fmla="val 5742"/>
            </a:avLst>
          </a:prstGeom>
          <a:solidFill>
            <a:srgbClr val="DAFBE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702240" y="4092773"/>
            <a:ext cx="79272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7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L3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702240" y="4264223"/>
            <a:ext cx="792724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00" dirty="0">
                <a:solidFill>
                  <a:srgbClr val="8C959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≤ 8 MB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702240" y="4416623"/>
            <a:ext cx="792724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7F3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~117 ns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614142" y="4003923"/>
            <a:ext cx="929580" cy="663476"/>
          </a:xfrm>
          <a:prstGeom prst="roundRect">
            <a:avLst>
              <a:gd name="adj" fmla="val 5742"/>
            </a:avLst>
          </a:prstGeom>
          <a:solidFill>
            <a:srgbClr val="F0F3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682570" y="4092773"/>
            <a:ext cx="79272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56D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DRAM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682570" y="4264223"/>
            <a:ext cx="792724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00" dirty="0">
                <a:solidFill>
                  <a:srgbClr val="8C959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&gt; 8 MB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682570" y="4416623"/>
            <a:ext cx="792724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56D7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~344 ns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48374" y="1009501"/>
            <a:ext cx="3749576" cy="260152"/>
          </a:xfrm>
          <a:prstGeom prst="roundRect">
            <a:avLst>
              <a:gd name="adj" fmla="val 19527"/>
            </a:avLst>
          </a:prstGeom>
          <a:solidFill>
            <a:srgbClr val="24292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975324" y="1095077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CF222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127575" y="1095077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D2992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279827" y="1095077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3FB95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432078" y="1072902"/>
            <a:ext cx="961531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latency_bench.c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48374" y="1269653"/>
            <a:ext cx="3749576" cy="941189"/>
          </a:xfrm>
          <a:prstGeom prst="rect">
            <a:avLst/>
          </a:prstGeom>
          <a:solidFill>
            <a:srgbClr val="F6F8F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026075" y="1383953"/>
            <a:ext cx="3462058" cy="237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70"/>
              </a:lnSpc>
              <a:buNone/>
            </a:pPr>
            <a:r>
              <a:rPr lang="en-US" sz="1100" dirty="0">
                <a:solidFill>
                  <a:srgbClr val="8C959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核心循环：每次地址取决于上次内容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026075" y="1621482"/>
            <a:ext cx="3462058" cy="237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70"/>
              </a:lnSpc>
              <a:buNone/>
            </a:pPr>
            <a:r>
              <a:rPr lang="en-US" sz="1100" dirty="0">
                <a:solidFill>
                  <a:srgbClr val="CF22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</a:t>
            </a:r>
            <a:r>
              <a:rPr lang="en-US" sz="1100" dirty="0">
                <a:solidFill>
                  <a:srgbClr val="1F232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(i = 0; i &lt; ITERATIONS; i++)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026075" y="1859012"/>
            <a:ext cx="3462058" cy="237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70"/>
              </a:lnSpc>
              <a:buNone/>
            </a:pPr>
            <a:r>
              <a:rPr lang="en-US" sz="1100" dirty="0">
                <a:solidFill>
                  <a:srgbClr val="1F232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idx = arr[idx]; </a:t>
            </a:r>
            <a:r>
              <a:rPr lang="en-US" sz="1100" dirty="0">
                <a:solidFill>
                  <a:srgbClr val="8C959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无法预取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848374" y="2559844"/>
            <a:ext cx="50750" cy="747117"/>
          </a:xfrm>
          <a:prstGeom prst="roundRect">
            <a:avLst>
              <a:gd name="adj" fmla="val 50049"/>
            </a:avLst>
          </a:prstGeom>
          <a:solidFill>
            <a:srgbClr val="BC4C0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899124" y="2559844"/>
            <a:ext cx="3698825" cy="747117"/>
          </a:xfrm>
          <a:prstGeom prst="rect">
            <a:avLst/>
          </a:prstGeom>
          <a:solidFill>
            <a:srgbClr val="FFF1E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5026075" y="2648694"/>
            <a:ext cx="3513823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 err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抗噪：绑核</a:t>
            </a:r>
            <a:r>
              <a:rPr lang="en-US" sz="1200" b="1" dirty="0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+ 多次采样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026075" y="2886819"/>
            <a:ext cx="3513823" cy="3312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900" dirty="0">
                <a:solidFill>
                  <a:srgbClr val="656D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绑定单个 CPU 核心，防止进程被迁移；重复 5 次取中位数，记录 [min, max] 区间，排除偶发抖动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848374" y="3655814"/>
            <a:ext cx="3749576" cy="1113086"/>
          </a:xfrm>
          <a:prstGeom prst="roundRect">
            <a:avLst>
              <a:gd name="adj" fmla="val 4564"/>
            </a:avLst>
          </a:prstGeom>
          <a:solidFill>
            <a:srgbClr val="F6F8F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4987975" y="3770114"/>
            <a:ext cx="3539782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工作集扫描策略：8 KB → 256 MB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987975" y="3976390"/>
            <a:ext cx="3539782" cy="2845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Aft>
                <a:spcPts val="600"/>
              </a:spcAft>
              <a:buNone/>
            </a:pPr>
            <a:r>
              <a:rPr lang="en-US" sz="800" dirty="0">
                <a:solidFill>
                  <a:srgbClr val="656D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逐步扩大工作集——每当延迟骤变，代表工作集刚超过上层缓存容量，即"悬崖效应"的来源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987975" y="4337149"/>
            <a:ext cx="1122908" cy="317450"/>
          </a:xfrm>
          <a:prstGeom prst="roundRect">
            <a:avLst>
              <a:gd name="adj" fmla="val 8001"/>
            </a:avLst>
          </a:prstGeom>
          <a:solidFill>
            <a:srgbClr val="DAFBE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5051375" y="4375249"/>
            <a:ext cx="101602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A7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L1 → L2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5051375" y="4511725"/>
            <a:ext cx="1016029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8C959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32 KB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6161633" y="4337149"/>
            <a:ext cx="1123057" cy="317450"/>
          </a:xfrm>
          <a:prstGeom prst="roundRect">
            <a:avLst>
              <a:gd name="adj" fmla="val 8001"/>
            </a:avLst>
          </a:prstGeom>
          <a:solidFill>
            <a:srgbClr val="FFF8C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6225034" y="4375249"/>
            <a:ext cx="1016181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9A67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L2 → L3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225034" y="4511725"/>
            <a:ext cx="1016181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8C959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512 KB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7335441" y="4337149"/>
            <a:ext cx="1122908" cy="317450"/>
          </a:xfrm>
          <a:prstGeom prst="roundRect">
            <a:avLst>
              <a:gd name="adj" fmla="val 8001"/>
            </a:avLst>
          </a:prstGeom>
          <a:solidFill>
            <a:srgbClr val="FFEBE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7398841" y="4375249"/>
            <a:ext cx="101602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F22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L3 → DRAM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7398841" y="4511725"/>
            <a:ext cx="1016029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8C959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 MB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46050" y="4921300"/>
            <a:ext cx="8212937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C959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工作集 8 KB → 256 MB  |  5000 万次跳转 / 轮  |  高精度单调计时器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6050" y="279350"/>
            <a:ext cx="821293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 b="1" dirty="0">
                <a:solidFill>
                  <a:srgbClr val="1F2328"/>
                </a:solidFill>
                <a:latin typeface="Arial"/>
                <a:ea typeface="Calibri" pitchFamily="34" charset="-122"/>
                <a:cs typeface="Calibri" pitchFamily="34" charset="-120"/>
              </a:rPr>
              <a:t>a)</a:t>
            </a:r>
            <a:r>
              <a:rPr lang="en-US" sz="2600" b="1" dirty="0" err="1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延迟金字塔：从</a:t>
            </a:r>
            <a:r>
              <a:rPr lang="en-US" sz="2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L1 到磁盘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6050" y="819001"/>
            <a:ext cx="1092101" cy="38100"/>
          </a:xfrm>
          <a:prstGeom prst="rect">
            <a:avLst/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6050" y="984052"/>
            <a:ext cx="4787503" cy="183952"/>
          </a:xfrm>
          <a:prstGeom prst="roundRect">
            <a:avLst>
              <a:gd name="adj" fmla="val 20712"/>
            </a:avLst>
          </a:prstGeom>
          <a:solidFill>
            <a:srgbClr val="DDF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7551" y="1009352"/>
            <a:ext cx="14210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 a）各级存储访问延迟实测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6050" y="1218754"/>
            <a:ext cx="488325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横轴：对数刻度（ns），覆盖 L1 → SSD 全层级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6050" y="1750814"/>
            <a:ext cx="10104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  (32 KB)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38151" y="1728639"/>
            <a:ext cx="533102" cy="177701"/>
          </a:xfrm>
          <a:prstGeom prst="roundRect">
            <a:avLst>
              <a:gd name="adj" fmla="val 14294"/>
            </a:avLst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701552" y="1755577"/>
            <a:ext cx="3417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4.0 ns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6050" y="2270224"/>
            <a:ext cx="10104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 (512 KB)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38151" y="2248049"/>
            <a:ext cx="990302" cy="177701"/>
          </a:xfrm>
          <a:prstGeom prst="roundRect">
            <a:avLst>
              <a:gd name="adj" fmla="val 14294"/>
            </a:avLst>
          </a:prstGeom>
          <a:solidFill>
            <a:srgbClr val="9A6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701552" y="2274987"/>
            <a:ext cx="3986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18.6 ns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6050" y="2789634"/>
            <a:ext cx="10104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  (8 MB)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38151" y="2767459"/>
            <a:ext cx="1536502" cy="177701"/>
          </a:xfrm>
          <a:prstGeom prst="roundRect">
            <a:avLst>
              <a:gd name="adj" fmla="val 14294"/>
            </a:avLst>
          </a:prstGeom>
          <a:solidFill>
            <a:srgbClr val="1A7F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701552" y="2794397"/>
            <a:ext cx="45556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116.6 ns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6050" y="3309045"/>
            <a:ext cx="10104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DRAM (256 MB)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38151" y="3286869"/>
            <a:ext cx="1853952" cy="177701"/>
          </a:xfrm>
          <a:prstGeom prst="roundRect">
            <a:avLst>
              <a:gd name="adj" fmla="val 14294"/>
            </a:avLst>
          </a:prstGeom>
          <a:solidFill>
            <a:srgbClr val="656D7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701552" y="3313807"/>
            <a:ext cx="3417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344 ns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6050" y="3828306"/>
            <a:ext cx="10104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SSD  (随机)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38151" y="3806130"/>
            <a:ext cx="3695402" cy="177701"/>
          </a:xfrm>
          <a:prstGeom prst="roundRect">
            <a:avLst>
              <a:gd name="adj" fmla="val 14294"/>
            </a:avLst>
          </a:prstGeom>
          <a:solidFill>
            <a:srgbClr val="8C959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701552" y="3833068"/>
            <a:ext cx="56941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180,000 ns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638151" y="4381054"/>
            <a:ext cx="3695402" cy="0"/>
          </a:xfrm>
          <a:prstGeom prst="line">
            <a:avLst/>
          </a:prstGeom>
          <a:noFill/>
          <a:ln w="9525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1638151" y="4423916"/>
            <a:ext cx="19947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ns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279600" y="4423916"/>
            <a:ext cx="24926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ns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969716" y="4423916"/>
            <a:ext cx="29905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ns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708797" y="4423916"/>
            <a:ext cx="19947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μs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350097" y="4423916"/>
            <a:ext cx="24926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μs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040362" y="4423916"/>
            <a:ext cx="29905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μs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511254" y="984052"/>
            <a:ext cx="3086695" cy="1318171"/>
          </a:xfrm>
          <a:prstGeom prst="roundRect">
            <a:avLst>
              <a:gd name="adj" fmla="val 3854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511254" y="984052"/>
            <a:ext cx="3086695" cy="38100"/>
          </a:xfrm>
          <a:prstGeom prst="roundRect">
            <a:avLst>
              <a:gd name="adj" fmla="val 66667"/>
            </a:avLst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638205" y="1098352"/>
            <a:ext cx="2889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访问延迟 = 去哪里取文件？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38205" y="1320552"/>
            <a:ext cx="466344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171605" y="1320552"/>
            <a:ext cx="2025530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从桌上拿文件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233618" y="1320552"/>
            <a:ext cx="242128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ns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638205" y="1504206"/>
            <a:ext cx="466344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9A6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171605" y="1504206"/>
            <a:ext cx="1843972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开旁边抽屉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055620" y="1504206"/>
            <a:ext cx="423687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9A6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18.6 ns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638205" y="1687860"/>
            <a:ext cx="466344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171605" y="1687860"/>
            <a:ext cx="1783401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走到隔壁房间文件柜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996237" y="1687860"/>
            <a:ext cx="484257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116.6 ns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638205" y="1871514"/>
            <a:ext cx="466344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171605" y="1871514"/>
            <a:ext cx="1904390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下楼去档案室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114854" y="1871514"/>
            <a:ext cx="363269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344 ns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638205" y="2055168"/>
            <a:ext cx="466344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SSD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171605" y="2055168"/>
            <a:ext cx="1843972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去外地仓库取文件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055620" y="2055168"/>
            <a:ext cx="423687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180K ns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511254" y="2391073"/>
            <a:ext cx="3086695" cy="748010"/>
          </a:xfrm>
          <a:prstGeom prst="roundRect">
            <a:avLst>
              <a:gd name="adj" fmla="val 6791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511254" y="2391073"/>
            <a:ext cx="3086695" cy="38100"/>
          </a:xfrm>
          <a:prstGeom prst="roundRect">
            <a:avLst>
              <a:gd name="adj" fmla="val 66667"/>
            </a:avLst>
          </a:prstGeom>
          <a:solidFill>
            <a:srgbClr val="1A7F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638205" y="2505373"/>
            <a:ext cx="2889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层级跳变 &amp; 悬崖效应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638205" y="2695873"/>
            <a:ext cx="2889450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L1→L2: </a:t>
            </a:r>
            <a:r>
              <a:rPr lang="en-US" sz="85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4.7×</a:t>
            </a: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L2→L3: </a:t>
            </a:r>
            <a:r>
              <a:rPr lang="en-US" sz="85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6.3×</a:t>
            </a: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L3→RAM: </a:t>
            </a:r>
            <a:r>
              <a:rPr lang="en-US" sz="85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2.9×</a:t>
            </a: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RAM→SSD: </a:t>
            </a:r>
            <a:r>
              <a:rPr lang="en-US" sz="85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~520×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638205" y="2866727"/>
            <a:ext cx="2889450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超过 L3(36MB)：116.6 ns → </a:t>
            </a:r>
            <a:r>
              <a:rPr lang="en-US" sz="85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248 ns</a:t>
            </a: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（悬崖 2.1×）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511254" y="3227932"/>
            <a:ext cx="3086695" cy="1436787"/>
          </a:xfrm>
          <a:prstGeom prst="roundRect">
            <a:avLst>
              <a:gd name="adj" fmla="val 4373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5612755" y="3291334"/>
            <a:ext cx="11392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跨平台内存层次吞吐对比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745462" y="3310384"/>
            <a:ext cx="7660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Membench 2023</a:t>
            </a:r>
            <a:endParaRPr lang="en-US" sz="650" dirty="0"/>
          </a:p>
        </p:txBody>
      </p:sp>
      <p:pic>
        <p:nvPicPr>
          <p:cNvPr id="55" name="Image 0" descr="E:/Project/benchmark/benchmark/paper_images/armmembench_fig2_throughput_memory_hierarch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2755" y="3472944"/>
            <a:ext cx="2883694" cy="111903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6" name="Text 53"/>
          <p:cNvSpPr/>
          <p:nvPr/>
        </p:nvSpPr>
        <p:spPr>
          <a:xfrm>
            <a:off x="546050" y="4921300"/>
            <a:ext cx="82129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Intel i9-13900HX  |  VirtualBox VM  |  指针追逐 + Fisher-Yates  |  L3/RAM 含 hypervisor 开销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6050" y="279350"/>
            <a:ext cx="8212937" cy="438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US" altLang="zh-CN" sz="2400" b="1" dirty="0">
                <a:solidFill>
                  <a:srgbClr val="1F2328"/>
                </a:solidFill>
                <a:latin typeface="Arial"/>
                <a:ea typeface="Calibri" pitchFamily="34" charset="-122"/>
                <a:cs typeface="Calibri" pitchFamily="34" charset="-120"/>
              </a:rPr>
              <a:t>b) </a:t>
            </a:r>
            <a:r>
              <a:rPr lang="en-US" sz="2600" b="1" dirty="0" err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测量方法</a:t>
            </a:r>
            <a:r>
              <a:rPr lang="en-US" sz="2600" b="1" dirty="0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· 带宽篇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6050" y="819001"/>
            <a:ext cx="1092101" cy="38100"/>
          </a:xfrm>
          <a:prstGeom prst="rect">
            <a:avLst/>
          </a:prstGeom>
          <a:solidFill>
            <a:srgbClr val="0969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6050" y="1009501"/>
            <a:ext cx="4124623" cy="1352848"/>
          </a:xfrm>
          <a:prstGeom prst="roundRect">
            <a:avLst>
              <a:gd name="adj" fmla="val 3755"/>
            </a:avLst>
          </a:prstGeom>
          <a:solidFill>
            <a:srgbClr val="F6F8F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1101" y="1123801"/>
            <a:ext cx="3870412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850" b="1" dirty="0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直觉：同样的数据量，两种取法，速度天差地别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11101" y="1355527"/>
            <a:ext cx="1846511" cy="892522"/>
          </a:xfrm>
          <a:prstGeom prst="roundRect">
            <a:avLst>
              <a:gd name="adj" fmla="val 4269"/>
            </a:avLst>
          </a:prstGeom>
          <a:solidFill>
            <a:srgbClr val="FFFFFF"/>
          </a:solidFill>
          <a:ln w="9525">
            <a:solidFill>
              <a:srgbClr val="E6EDF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2127" y="1441252"/>
            <a:ext cx="165694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0969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顺序读取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127" y="1657052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0969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02047" y="1690390"/>
            <a:ext cx="5707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76027" y="1657052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0969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55948" y="1690390"/>
            <a:ext cx="5707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329928" y="1657052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0969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409849" y="1690390"/>
            <a:ext cx="5707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583829" y="1657052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0969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663750" y="1690390"/>
            <a:ext cx="5707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837730" y="1657052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0969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917650" y="1690390"/>
            <a:ext cx="5707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091630" y="1657052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0969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171551" y="1690390"/>
            <a:ext cx="5707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22127" y="1898303"/>
            <a:ext cx="1656948" cy="2640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00" dirty="0">
                <a:solidFill>
                  <a:srgbClr val="656D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挨着取，CPU 能提前预取，缓存命中率高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659112" y="1355527"/>
            <a:ext cx="1846511" cy="892522"/>
          </a:xfrm>
          <a:prstGeom prst="roundRect">
            <a:avLst>
              <a:gd name="adj" fmla="val 4269"/>
            </a:avLst>
          </a:prstGeom>
          <a:solidFill>
            <a:srgbClr val="FFFFFF"/>
          </a:solidFill>
          <a:ln w="9525">
            <a:solidFill>
              <a:srgbClr val="E6EDF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770138" y="1441252"/>
            <a:ext cx="165694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CF22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随机读取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70138" y="1657052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CF222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850059" y="1690390"/>
            <a:ext cx="5707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024039" y="1657052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8C959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103959" y="1690390"/>
            <a:ext cx="5707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·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277939" y="1657052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CF222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357860" y="1690390"/>
            <a:ext cx="5707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531840" y="1657052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8C959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611761" y="1690390"/>
            <a:ext cx="5707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·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785741" y="1657052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CF222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865662" y="1690390"/>
            <a:ext cx="5707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039642" y="1657052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8C959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119562" y="1690390"/>
            <a:ext cx="5707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·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770138" y="1898303"/>
            <a:ext cx="1656948" cy="2640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00" dirty="0">
                <a:solidFill>
                  <a:srgbClr val="656D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跳着取，每次都可能 miss，大量时间在等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46050" y="2818507"/>
            <a:ext cx="50750" cy="747117"/>
          </a:xfrm>
          <a:prstGeom prst="roundRect">
            <a:avLst>
              <a:gd name="adj" fmla="val 50049"/>
            </a:avLst>
          </a:prstGeom>
          <a:solidFill>
            <a:srgbClr val="1A7F37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96801" y="2818507"/>
            <a:ext cx="4073872" cy="747117"/>
          </a:xfrm>
          <a:prstGeom prst="rect">
            <a:avLst/>
          </a:prstGeom>
          <a:solidFill>
            <a:srgbClr val="DAFBE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23751" y="2907357"/>
            <a:ext cx="3896371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 err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顺序</a:t>
            </a:r>
            <a:r>
              <a:rPr lang="en-US" sz="1200" b="1" dirty="0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vs 随机带宽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23751" y="3145482"/>
            <a:ext cx="3896371" cy="3312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900" dirty="0">
                <a:solidFill>
                  <a:srgbClr val="656D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相同工作集跑两遍，差值量化了"预取器与缓存命中"的实际价值；两者之比就是"乖乖排队 vs 到处乱取"的真实代价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6050" y="4021782"/>
            <a:ext cx="50750" cy="747117"/>
          </a:xfrm>
          <a:prstGeom prst="roundRect">
            <a:avLst>
              <a:gd name="adj" fmla="val 50049"/>
            </a:avLst>
          </a:prstGeom>
          <a:solidFill>
            <a:srgbClr val="9A670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96801" y="4021782"/>
            <a:ext cx="4073872" cy="747117"/>
          </a:xfrm>
          <a:prstGeom prst="rect">
            <a:avLst/>
          </a:prstGeom>
          <a:solidFill>
            <a:srgbClr val="FFF8C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23751" y="4110633"/>
            <a:ext cx="3896371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v2 修复：</a:t>
            </a:r>
            <a:r>
              <a:rPr lang="en-US" sz="1100" b="1" dirty="0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% n</a:t>
            </a:r>
            <a:r>
              <a:rPr lang="en-US" sz="1200" dirty="0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→ </a:t>
            </a:r>
            <a:r>
              <a:rPr lang="en-US" sz="1100" b="1" dirty="0">
                <a:solidFill>
                  <a:srgbClr val="1A7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mask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23751" y="4348758"/>
            <a:ext cx="3896371" cy="3312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900" dirty="0">
                <a:solidFill>
                  <a:srgbClr val="656D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取余 </a:t>
            </a:r>
            <a:r>
              <a:rPr lang="en-US" sz="900" b="1" dirty="0">
                <a:solidFill>
                  <a:srgbClr val="656D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% n</a:t>
            </a:r>
            <a:r>
              <a:rPr lang="en-US" sz="900" dirty="0">
                <a:solidFill>
                  <a:srgbClr val="656D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需要整数除法约 29 cycles；位与 </a:t>
            </a:r>
            <a:r>
              <a:rPr lang="en-US" sz="900" b="1" dirty="0">
                <a:solidFill>
                  <a:srgbClr val="656D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mask</a:t>
            </a:r>
            <a:r>
              <a:rPr lang="en-US" sz="900" dirty="0">
                <a:solidFill>
                  <a:srgbClr val="656D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只需 1 cycle——去掉测量工具自身的计算开销，保证带宽数字只反映内存访问速度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48374" y="1009501"/>
            <a:ext cx="3749576" cy="260152"/>
          </a:xfrm>
          <a:prstGeom prst="roundRect">
            <a:avLst>
              <a:gd name="adj" fmla="val 19527"/>
            </a:avLst>
          </a:prstGeom>
          <a:solidFill>
            <a:srgbClr val="24292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975324" y="1095077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CF222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127575" y="1095077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D2992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279827" y="1095077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3FB95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432078" y="1072902"/>
            <a:ext cx="160260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bandwidth_bench.c </a:t>
            </a:r>
            <a:r>
              <a:rPr lang="en-US" sz="90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v2 fix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848374" y="1269653"/>
            <a:ext cx="3749576" cy="1178719"/>
          </a:xfrm>
          <a:prstGeom prst="rect">
            <a:avLst/>
          </a:prstGeom>
          <a:solidFill>
            <a:srgbClr val="F6F8F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5026075" y="1383953"/>
            <a:ext cx="3462058" cy="237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70"/>
              </a:lnSpc>
              <a:buNone/>
            </a:pPr>
            <a:r>
              <a:rPr lang="en-US" sz="1100" dirty="0">
                <a:solidFill>
                  <a:srgbClr val="8C959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顺序：步长 64B = 1 cacheline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026075" y="1621482"/>
            <a:ext cx="3462058" cy="237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70"/>
              </a:lnSpc>
              <a:buNone/>
            </a:pPr>
            <a:r>
              <a:rPr lang="en-US" sz="1100" dirty="0">
                <a:solidFill>
                  <a:srgbClr val="CF22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</a:t>
            </a:r>
            <a:r>
              <a:rPr lang="en-US" sz="1100" dirty="0">
                <a:solidFill>
                  <a:srgbClr val="1F232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(i = 0; i &lt; n; i += 8) sink += arr[i];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026075" y="1859012"/>
            <a:ext cx="3462058" cy="237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70"/>
              </a:lnSpc>
              <a:buNone/>
            </a:pPr>
            <a:r>
              <a:rPr lang="en-US" sz="1100" dirty="0">
                <a:solidFill>
                  <a:srgbClr val="8C959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随机：&amp; mask 替代 % n（省 ~29 cycles）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026075" y="2096542"/>
            <a:ext cx="3462058" cy="237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70"/>
              </a:lnSpc>
              <a:buNone/>
            </a:pPr>
            <a:r>
              <a:rPr lang="en-US" sz="1100" dirty="0">
                <a:solidFill>
                  <a:srgbClr val="1F232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sink += arr[xorshift64(&amp;s) </a:t>
            </a:r>
            <a:r>
              <a:rPr lang="en-US" sz="1100" dirty="0">
                <a:solidFill>
                  <a:srgbClr val="1A7F3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&amp; mask</a:t>
            </a:r>
            <a:r>
              <a:rPr lang="en-US" sz="1100" dirty="0">
                <a:solidFill>
                  <a:srgbClr val="1F232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];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848374" y="2682478"/>
            <a:ext cx="3749576" cy="1361480"/>
          </a:xfrm>
          <a:prstGeom prst="roundRect">
            <a:avLst>
              <a:gd name="adj" fmla="val 3731"/>
            </a:avLst>
          </a:prstGeom>
          <a:solidFill>
            <a:srgbClr val="F6F8F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4975324" y="2960191"/>
            <a:ext cx="3495675" cy="0"/>
          </a:xfrm>
          <a:prstGeom prst="line">
            <a:avLst/>
          </a:prstGeom>
          <a:noFill/>
          <a:ln w="9525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4975324" y="2771329"/>
            <a:ext cx="362661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C959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层级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330875" y="2771329"/>
            <a:ext cx="829005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C959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顺序 (GB/s)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143625" y="2771329"/>
            <a:ext cx="72532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56D7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随机 (GB/s)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267849" y="2771329"/>
            <a:ext cx="20721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C959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差距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975324" y="3066455"/>
            <a:ext cx="362661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969D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L1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330875" y="3066455"/>
            <a:ext cx="829005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969D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121.2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143625" y="3066455"/>
            <a:ext cx="72532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56D7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1.76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8130034" y="3053804"/>
            <a:ext cx="340965" cy="158651"/>
          </a:xfrm>
          <a:prstGeom prst="roundRect">
            <a:avLst>
              <a:gd name="adj" fmla="val 80041916"/>
            </a:avLst>
          </a:prstGeom>
          <a:solidFill>
            <a:srgbClr val="DDF4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8218884" y="3066455"/>
            <a:ext cx="16653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969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69×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4975324" y="3301305"/>
            <a:ext cx="362661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A67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L2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330875" y="3301305"/>
            <a:ext cx="829005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A67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91.9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143625" y="3301305"/>
            <a:ext cx="72532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56D7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2.71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8130034" y="3288655"/>
            <a:ext cx="340965" cy="158651"/>
          </a:xfrm>
          <a:prstGeom prst="roundRect">
            <a:avLst>
              <a:gd name="adj" fmla="val 80041916"/>
            </a:avLst>
          </a:prstGeom>
          <a:solidFill>
            <a:srgbClr val="FFF8C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8218884" y="3301305"/>
            <a:ext cx="16653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9A67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34×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4975324" y="3536156"/>
            <a:ext cx="362661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7F3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L3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330875" y="3536156"/>
            <a:ext cx="829005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7F3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5.83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143625" y="3536156"/>
            <a:ext cx="72532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56D7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1.27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8184803" y="3523506"/>
            <a:ext cx="286196" cy="158651"/>
          </a:xfrm>
          <a:prstGeom prst="roundRect">
            <a:avLst>
              <a:gd name="adj" fmla="val 80041916"/>
            </a:avLst>
          </a:prstGeom>
          <a:solidFill>
            <a:srgbClr val="DAFBE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8273653" y="3536156"/>
            <a:ext cx="110666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7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5×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4975324" y="3771007"/>
            <a:ext cx="362661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56D7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RAM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5330875" y="3771007"/>
            <a:ext cx="829005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56D7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3.60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6143625" y="3771007"/>
            <a:ext cx="72532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56D7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0.17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8130034" y="3758357"/>
            <a:ext cx="340965" cy="158651"/>
          </a:xfrm>
          <a:prstGeom prst="roundRect">
            <a:avLst>
              <a:gd name="adj" fmla="val 80041916"/>
            </a:avLst>
          </a:prstGeom>
          <a:solidFill>
            <a:srgbClr val="FFEBE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8218884" y="3771007"/>
            <a:ext cx="16653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F22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22×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4848374" y="4277916"/>
            <a:ext cx="50750" cy="490984"/>
          </a:xfrm>
          <a:prstGeom prst="roundRect">
            <a:avLst>
              <a:gd name="adj" fmla="val 50049"/>
            </a:avLst>
          </a:prstGeom>
          <a:solidFill>
            <a:srgbClr val="0969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1" name="Text 79"/>
          <p:cNvSpPr/>
          <p:nvPr/>
        </p:nvSpPr>
        <p:spPr>
          <a:xfrm>
            <a:off x="4899124" y="4277916"/>
            <a:ext cx="3698825" cy="490984"/>
          </a:xfrm>
          <a:prstGeom prst="rect">
            <a:avLst/>
          </a:prstGeom>
          <a:solidFill>
            <a:srgbClr val="DDF4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2" name="Text 80"/>
          <p:cNvSpPr/>
          <p:nvPr/>
        </p:nvSpPr>
        <p:spPr>
          <a:xfrm>
            <a:off x="5026075" y="4366766"/>
            <a:ext cx="3513823" cy="31328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0"/>
              </a:lnSpc>
              <a:buNone/>
            </a:pPr>
            <a:r>
              <a:rPr lang="en-US" sz="850" b="1" dirty="0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L1 差距最悬殊（69×）</a:t>
            </a:r>
            <a:r>
              <a:rPr lang="en-US" sz="850" dirty="0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：按行遍历命中同一 cacheline，按列遍历每步跨行 miss—— vs  就是同一道理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546050" y="4921300"/>
            <a:ext cx="8212937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C959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顺序：步长 64B (1 cacheline)  |  随机：xorshift64 &amp; mask  |  单位 GB/s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6050" y="279350"/>
            <a:ext cx="821293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zh-CN" sz="2800" b="1" dirty="0">
                <a:solidFill>
                  <a:srgbClr val="1F2328"/>
                </a:solidFill>
                <a:latin typeface="Arial"/>
                <a:ea typeface="Calibri" pitchFamily="34" charset="-122"/>
                <a:cs typeface="Calibri" pitchFamily="34" charset="-120"/>
              </a:rPr>
              <a:t>b) </a:t>
            </a:r>
            <a:r>
              <a:rPr lang="en-US" sz="2600" b="1" dirty="0" err="1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带宽对比：顺序</a:t>
            </a:r>
            <a:r>
              <a:rPr lang="en-US" sz="2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随机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6050" y="819001"/>
            <a:ext cx="1092101" cy="3125"/>
          </a:xfrm>
          <a:prstGeom prst="rect">
            <a:avLst/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6050" y="949077"/>
            <a:ext cx="4450705" cy="183952"/>
          </a:xfrm>
          <a:prstGeom prst="roundRect">
            <a:avLst>
              <a:gd name="adj" fmla="val 20712"/>
            </a:avLst>
          </a:prstGeom>
          <a:solidFill>
            <a:srgbClr val="DDF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7551" y="974378"/>
            <a:ext cx="20862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 b）各级带宽 + 哪层顺序/随机差距最悬殊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6050" y="1183779"/>
            <a:ext cx="45397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横轴：对数刻度（GB/s）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6050" y="1405979"/>
            <a:ext cx="126950" cy="126950"/>
          </a:xfrm>
          <a:prstGeom prst="roundRect">
            <a:avLst>
              <a:gd name="adj" fmla="val 20008"/>
            </a:avLst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23751" y="1402854"/>
            <a:ext cx="3107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顺序读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80802" y="1405979"/>
            <a:ext cx="126950" cy="126950"/>
          </a:xfrm>
          <a:prstGeom prst="roundRect">
            <a:avLst>
              <a:gd name="adj" fmla="val 20008"/>
            </a:avLst>
          </a:prstGeom>
          <a:solidFill>
            <a:srgbClr val="BFD8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358503" y="1402854"/>
            <a:ext cx="3107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随机读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6050" y="1625054"/>
            <a:ext cx="45397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Cache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6050" y="1793230"/>
            <a:ext cx="388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顺序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03250" y="1783705"/>
            <a:ext cx="3581102" cy="152400"/>
          </a:xfrm>
          <a:prstGeom prst="roundRect">
            <a:avLst>
              <a:gd name="adj" fmla="val 16667"/>
            </a:avLst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66651" y="1802755"/>
            <a:ext cx="4273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121 GB/s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46050" y="1970931"/>
            <a:ext cx="388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003250" y="1961406"/>
            <a:ext cx="1523702" cy="152400"/>
          </a:xfrm>
          <a:prstGeom prst="roundRect">
            <a:avLst>
              <a:gd name="adj" fmla="val 16667"/>
            </a:avLst>
          </a:prstGeom>
          <a:solidFill>
            <a:srgbClr val="BFD8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66651" y="1980456"/>
            <a:ext cx="2137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1.76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46050" y="2215307"/>
            <a:ext cx="45397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Cache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46050" y="2383482"/>
            <a:ext cx="388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顺序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003250" y="2373957"/>
            <a:ext cx="3441502" cy="152400"/>
          </a:xfrm>
          <a:prstGeom prst="roundRect">
            <a:avLst>
              <a:gd name="adj" fmla="val 16667"/>
            </a:avLst>
          </a:prstGeom>
          <a:solidFill>
            <a:srgbClr val="9A6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66651" y="2393007"/>
            <a:ext cx="48076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91.9 GB/s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46050" y="2561183"/>
            <a:ext cx="388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003250" y="2551658"/>
            <a:ext cx="1739652" cy="152400"/>
          </a:xfrm>
          <a:prstGeom prst="roundRect">
            <a:avLst>
              <a:gd name="adj" fmla="val 16667"/>
            </a:avLst>
          </a:prstGeom>
          <a:solidFill>
            <a:srgbClr val="F0D9A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066651" y="2570708"/>
            <a:ext cx="2137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9A6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2.71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46050" y="2805559"/>
            <a:ext cx="45397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Cache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46050" y="2973735"/>
            <a:ext cx="388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顺序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003250" y="2964210"/>
            <a:ext cx="2108002" cy="152400"/>
          </a:xfrm>
          <a:prstGeom prst="roundRect">
            <a:avLst>
              <a:gd name="adj" fmla="val 16667"/>
            </a:avLst>
          </a:prstGeom>
          <a:solidFill>
            <a:srgbClr val="1A7F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066651" y="2983260"/>
            <a:ext cx="48076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5.83 GB/s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46050" y="3151436"/>
            <a:ext cx="388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003250" y="3141911"/>
            <a:ext cx="1358652" cy="152400"/>
          </a:xfrm>
          <a:prstGeom prst="roundRect">
            <a:avLst>
              <a:gd name="adj" fmla="val 16667"/>
            </a:avLst>
          </a:prstGeom>
          <a:solidFill>
            <a:srgbClr val="AEE0B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066651" y="3160961"/>
            <a:ext cx="2137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1.27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46050" y="3395811"/>
            <a:ext cx="45397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46050" y="3563987"/>
            <a:ext cx="388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顺序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003250" y="3554462"/>
            <a:ext cx="1866602" cy="152400"/>
          </a:xfrm>
          <a:prstGeom prst="roundRect">
            <a:avLst>
              <a:gd name="adj" fmla="val 16667"/>
            </a:avLst>
          </a:prstGeom>
          <a:solidFill>
            <a:srgbClr val="656D7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066651" y="3573512"/>
            <a:ext cx="48076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3.60 GB/s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46050" y="3741688"/>
            <a:ext cx="388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003250" y="3732163"/>
            <a:ext cx="380702" cy="152400"/>
          </a:xfrm>
          <a:prstGeom prst="roundRect">
            <a:avLst>
              <a:gd name="adj" fmla="val 16667"/>
            </a:avLst>
          </a:prstGeom>
          <a:solidFill>
            <a:srgbClr val="C8CDD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460153" y="3751213"/>
            <a:ext cx="2137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0.17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1079450" y="3965377"/>
            <a:ext cx="3917305" cy="0"/>
          </a:xfrm>
          <a:prstGeom prst="line">
            <a:avLst/>
          </a:prstGeom>
          <a:noFill/>
          <a:ln w="9525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1079450" y="4008239"/>
            <a:ext cx="1495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303711" y="4008239"/>
            <a:ext cx="4994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430339" y="4008239"/>
            <a:ext cx="9973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605784" y="4008239"/>
            <a:ext cx="3987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GB/s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174456" y="949077"/>
            <a:ext cx="3423493" cy="406152"/>
          </a:xfrm>
          <a:prstGeom prst="roundRect">
            <a:avLst>
              <a:gd name="adj" fmla="val 9381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275957" y="1012478"/>
            <a:ext cx="38100" cy="279350"/>
          </a:xfrm>
          <a:prstGeom prst="roundRect">
            <a:avLst>
              <a:gd name="adj" fmla="val 66667"/>
            </a:avLst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402907" y="1080641"/>
            <a:ext cx="4663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948958" y="1080641"/>
            <a:ext cx="673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121.2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698159" y="1080641"/>
            <a:ext cx="569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1.76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345710" y="1060103"/>
            <a:ext cx="340965" cy="183952"/>
          </a:xfrm>
          <a:prstGeom prst="roundRect">
            <a:avLst>
              <a:gd name="adj" fmla="val 69032846"/>
            </a:avLst>
          </a:prstGeom>
          <a:solidFill>
            <a:srgbClr val="DDF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7434560" y="1085404"/>
            <a:ext cx="1665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69×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174456" y="1405979"/>
            <a:ext cx="3423493" cy="406152"/>
          </a:xfrm>
          <a:prstGeom prst="roundRect">
            <a:avLst>
              <a:gd name="adj" fmla="val 9381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5275957" y="1469380"/>
            <a:ext cx="38100" cy="279350"/>
          </a:xfrm>
          <a:prstGeom prst="roundRect">
            <a:avLst>
              <a:gd name="adj" fmla="val 66667"/>
            </a:avLst>
          </a:prstGeom>
          <a:solidFill>
            <a:srgbClr val="9A6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5402907" y="1537543"/>
            <a:ext cx="4663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948958" y="1537543"/>
            <a:ext cx="673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9A6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91.9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698159" y="1537543"/>
            <a:ext cx="569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2.71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345710" y="1517005"/>
            <a:ext cx="340965" cy="183952"/>
          </a:xfrm>
          <a:prstGeom prst="roundRect">
            <a:avLst>
              <a:gd name="adj" fmla="val 69032846"/>
            </a:avLst>
          </a:prstGeom>
          <a:solidFill>
            <a:srgbClr val="FFF8C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7434560" y="1542306"/>
            <a:ext cx="1665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34×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174456" y="1862882"/>
            <a:ext cx="3423493" cy="406152"/>
          </a:xfrm>
          <a:prstGeom prst="roundRect">
            <a:avLst>
              <a:gd name="adj" fmla="val 9381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5275957" y="1926282"/>
            <a:ext cx="38100" cy="279350"/>
          </a:xfrm>
          <a:prstGeom prst="roundRect">
            <a:avLst>
              <a:gd name="adj" fmla="val 66667"/>
            </a:avLst>
          </a:prstGeom>
          <a:solidFill>
            <a:srgbClr val="1A7F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5402907" y="1994446"/>
            <a:ext cx="4663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948958" y="1994446"/>
            <a:ext cx="673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5.83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698159" y="1994446"/>
            <a:ext cx="569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1.27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7345710" y="1973907"/>
            <a:ext cx="286196" cy="183952"/>
          </a:xfrm>
          <a:prstGeom prst="roundRect">
            <a:avLst>
              <a:gd name="adj" fmla="val 69032846"/>
            </a:avLst>
          </a:prstGeom>
          <a:solidFill>
            <a:srgbClr val="DAFB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7434560" y="1999208"/>
            <a:ext cx="1106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5174456" y="2319784"/>
            <a:ext cx="3423493" cy="406152"/>
          </a:xfrm>
          <a:prstGeom prst="roundRect">
            <a:avLst>
              <a:gd name="adj" fmla="val 9381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5275957" y="2383185"/>
            <a:ext cx="38100" cy="279350"/>
          </a:xfrm>
          <a:prstGeom prst="roundRect">
            <a:avLst>
              <a:gd name="adj" fmla="val 66667"/>
            </a:avLst>
          </a:prstGeom>
          <a:solidFill>
            <a:srgbClr val="656D7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5402907" y="2451348"/>
            <a:ext cx="4663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948958" y="2451348"/>
            <a:ext cx="673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3.60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698159" y="2451348"/>
            <a:ext cx="569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0.17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7345710" y="2430810"/>
            <a:ext cx="340965" cy="183952"/>
          </a:xfrm>
          <a:prstGeom prst="roundRect">
            <a:avLst>
              <a:gd name="adj" fmla="val 69032846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7434560" y="2456111"/>
            <a:ext cx="1665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22×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5174456" y="2840087"/>
            <a:ext cx="50750" cy="665559"/>
          </a:xfrm>
          <a:prstGeom prst="roundRect">
            <a:avLst>
              <a:gd name="adj" fmla="val 50049"/>
            </a:avLst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5225207" y="2840087"/>
            <a:ext cx="3372743" cy="665559"/>
          </a:xfrm>
          <a:prstGeom prst="rect">
            <a:avLst/>
          </a:prstGeom>
          <a:solidFill>
            <a:srgbClr val="DDF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5339507" y="2928938"/>
            <a:ext cx="32070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差距最悬殊：69×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5339507" y="3125688"/>
            <a:ext cx="3207026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行遍历命中同一 cacheline，列遍历每步跨行每次 miss——sum_array_rows vs cols 就是同一道理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5174456" y="3569047"/>
            <a:ext cx="3423493" cy="1485604"/>
          </a:xfrm>
          <a:prstGeom prst="roundRect">
            <a:avLst>
              <a:gd name="adj" fmla="val 4062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5275957" y="3632448"/>
            <a:ext cx="12177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Skylake 带宽-延迟曲线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7957542" y="3651498"/>
            <a:ext cx="5496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 2024 Fig.2</a:t>
            </a:r>
            <a:endParaRPr lang="en-US" sz="650" dirty="0"/>
          </a:p>
        </p:txBody>
      </p:sp>
      <p:pic>
        <p:nvPicPr>
          <p:cNvPr id="79" name="Image 0" descr="E:/Project/benchmark/benchmark/paper_images/mess2024_fig2_bandwidth_latency_skyl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5957" y="3803898"/>
            <a:ext cx="3220492" cy="11866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0" name="Text 77"/>
          <p:cNvSpPr/>
          <p:nvPr/>
        </p:nvSpPr>
        <p:spPr>
          <a:xfrm>
            <a:off x="546050" y="4921300"/>
            <a:ext cx="82129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顺序：步长 64B (1 cacheline)  |  随机：xorshift64 &amp; mask  |  单位 GB/s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6050" y="368201"/>
            <a:ext cx="821293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扩展分析：三大关键发现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6050" y="961876"/>
            <a:ext cx="1092101" cy="22324"/>
          </a:xfrm>
          <a:prstGeom prst="rect">
            <a:avLst/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6050" y="1073051"/>
            <a:ext cx="2235547" cy="2264569"/>
          </a:xfrm>
          <a:prstGeom prst="roundRect">
            <a:avLst>
              <a:gd name="adj" fmla="val 2272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6050" y="1073051"/>
            <a:ext cx="2235547" cy="38100"/>
          </a:xfrm>
          <a:prstGeom prst="roundRect">
            <a:avLst>
              <a:gd name="adj" fmla="val 66667"/>
            </a:avLst>
          </a:prstGeom>
          <a:solidFill>
            <a:srgbClr val="CF22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651" y="1225451"/>
            <a:ext cx="1956346" cy="192881"/>
          </a:xfrm>
          <a:prstGeom prst="roundRect">
            <a:avLst>
              <a:gd name="adj" fmla="val 65837122"/>
            </a:avLst>
          </a:prstGeom>
          <a:solidFill>
            <a:srgbClr val="FFEB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87152" y="1250752"/>
            <a:ext cx="34732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651" y="1481733"/>
            <a:ext cx="19954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随机带宽被低估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651" y="1735634"/>
            <a:ext cx="199547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n</a:t>
            </a:r>
            <a:r>
              <a:rPr lang="en-US" sz="9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（整数除法 ~30 cycles）与 L1 延迟 ~16 cycles 同量级，v1 测的是除法吞吐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651" y="2157115"/>
            <a:ext cx="1956346" cy="1066205"/>
          </a:xfrm>
          <a:prstGeom prst="roundRect">
            <a:avLst>
              <a:gd name="adj" fmla="val 3573"/>
            </a:avLst>
          </a:prstGeom>
          <a:solidFill>
            <a:srgbClr val="24292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99951" y="2233315"/>
            <a:ext cx="1762301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OLD: arr[xorshift64(&amp;s) % n]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9951" y="2598837"/>
            <a:ext cx="1762301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NEW: arr[xorshift64(&amp;s) &amp; mask]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99951" y="2964359"/>
            <a:ext cx="176230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cycles to 1 cycle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6050" y="3439120"/>
            <a:ext cx="2235547" cy="1371154"/>
          </a:xfrm>
          <a:prstGeom prst="roundRect">
            <a:avLst>
              <a:gd name="adj" fmla="val 3705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46050" y="3439120"/>
            <a:ext cx="2235547" cy="38100"/>
          </a:xfrm>
          <a:prstGeom prst="roundRect">
            <a:avLst>
              <a:gd name="adj" fmla="val 66667"/>
            </a:avLst>
          </a:prstGeom>
          <a:solidFill>
            <a:srgbClr val="1A7F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85651" y="3591520"/>
            <a:ext cx="1956346" cy="192881"/>
          </a:xfrm>
          <a:prstGeom prst="roundRect">
            <a:avLst>
              <a:gd name="adj" fmla="val 65837122"/>
            </a:avLst>
          </a:prstGeom>
          <a:solidFill>
            <a:srgbClr val="DAFB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87152" y="3616821"/>
            <a:ext cx="24804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5651" y="3847802"/>
            <a:ext cx="19954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带宽异常消失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651" y="4101703"/>
            <a:ext cx="19954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v1: L2 5.1 &lt; L3 7.1 GB/s（不合理）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651" y="4299793"/>
            <a:ext cx="19954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v2: L2 </a:t>
            </a:r>
            <a:r>
              <a:rPr lang="en-US" sz="9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91.9</a:t>
            </a:r>
            <a:r>
              <a:rPr lang="en-US" sz="9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&gt;&gt; L3 5.8 GB/s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651" y="4497884"/>
            <a:ext cx="19954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顺序带宽 </a:t>
            </a:r>
            <a:r>
              <a:rPr lang="en-US" sz="9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&gt; L2 &gt; L3 &gt; RAM</a:t>
            </a:r>
            <a:r>
              <a:rPr lang="en-US" sz="9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933998" y="1073051"/>
            <a:ext cx="3276005" cy="3737223"/>
          </a:xfrm>
          <a:prstGeom prst="roundRect">
            <a:avLst>
              <a:gd name="adj" fmla="val 1551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933998" y="1073051"/>
            <a:ext cx="3276005" cy="38100"/>
          </a:xfrm>
          <a:prstGeom prst="roundRect">
            <a:avLst>
              <a:gd name="adj" fmla="val 66667"/>
            </a:avLst>
          </a:prstGeom>
          <a:solidFill>
            <a:srgbClr val="BC4C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073598" y="1225451"/>
            <a:ext cx="2996803" cy="192881"/>
          </a:xfrm>
          <a:prstGeom prst="roundRect">
            <a:avLst>
              <a:gd name="adj" fmla="val 65837122"/>
            </a:avLst>
          </a:prstGeom>
          <a:solidFill>
            <a:srgbClr val="FFF1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175099" y="1250752"/>
            <a:ext cx="355071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BC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073598" y="1481733"/>
            <a:ext cx="30567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悬崖效应：L3 容量临界点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073598" y="1735634"/>
            <a:ext cx="305673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MB 接近 L3 容量（36 MB），驱逐加剧，延迟骤升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073598" y="2004120"/>
            <a:ext cx="751281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(48KB)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898999" y="1997125"/>
            <a:ext cx="190202" cy="165050"/>
          </a:xfrm>
          <a:prstGeom prst="roundRect">
            <a:avLst>
              <a:gd name="adj" fmla="val 15389"/>
            </a:avLst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178052" y="2004120"/>
            <a:ext cx="466344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4.0 ns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073598" y="2207270"/>
            <a:ext cx="751281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(2MB)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898999" y="2200275"/>
            <a:ext cx="279202" cy="165050"/>
          </a:xfrm>
          <a:prstGeom prst="roundRect">
            <a:avLst>
              <a:gd name="adj" fmla="val 15389"/>
            </a:avLst>
          </a:prstGeom>
          <a:solidFill>
            <a:srgbClr val="9A6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267051" y="2207270"/>
            <a:ext cx="466344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18.6 ns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073598" y="2478881"/>
            <a:ext cx="751281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(36MB)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898999" y="2471886"/>
            <a:ext cx="634752" cy="165050"/>
          </a:xfrm>
          <a:prstGeom prst="roundRect">
            <a:avLst>
              <a:gd name="adj" fmla="val 15389"/>
            </a:avLst>
          </a:prstGeom>
          <a:solidFill>
            <a:srgbClr val="1A7F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622602" y="2481523"/>
            <a:ext cx="634752" cy="14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116.6 ns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073598" y="2715081"/>
            <a:ext cx="751281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cliff!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898999" y="2708086"/>
            <a:ext cx="1269802" cy="165050"/>
          </a:xfrm>
          <a:prstGeom prst="roundRect">
            <a:avLst>
              <a:gd name="adj" fmla="val 15389"/>
            </a:avLst>
          </a:prstGeom>
          <a:solidFill>
            <a:srgbClr val="CF22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962400" y="2723862"/>
            <a:ext cx="2606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248 ns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073598" y="2953792"/>
            <a:ext cx="751281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898999" y="2946797"/>
            <a:ext cx="1625352" cy="165050"/>
          </a:xfrm>
          <a:prstGeom prst="roundRect">
            <a:avLst>
              <a:gd name="adj" fmla="val 15389"/>
            </a:avLst>
          </a:prstGeom>
          <a:solidFill>
            <a:srgbClr val="8C959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962400" y="2962573"/>
            <a:ext cx="2606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344 ns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073598" y="3656171"/>
            <a:ext cx="2996803" cy="445443"/>
          </a:xfrm>
          <a:prstGeom prst="roundRect">
            <a:avLst>
              <a:gd name="adj" fmla="val 8553"/>
            </a:avLst>
          </a:prstGeom>
          <a:solidFill>
            <a:srgbClr val="FFEB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3175099" y="3719572"/>
            <a:ext cx="2849678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结论：控制工作集在 L3 容量内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175099" y="3895933"/>
            <a:ext cx="2849678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超出后每次访问代价从 116.6 ns → 248 ns，2.1× 性能损失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362402" y="1073051"/>
            <a:ext cx="2235547" cy="2366665"/>
          </a:xfrm>
          <a:prstGeom prst="roundRect">
            <a:avLst>
              <a:gd name="adj" fmla="val 2272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362402" y="1073051"/>
            <a:ext cx="2235547" cy="38100"/>
          </a:xfrm>
          <a:prstGeom prst="roundRect">
            <a:avLst>
              <a:gd name="adj" fmla="val 66667"/>
            </a:avLst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502003" y="1225451"/>
            <a:ext cx="19954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为什么顺序远快于随机？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502003" y="1530102"/>
            <a:ext cx="19954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4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硬件预取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502003" y="1728192"/>
            <a:ext cx="199547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探测步长规律，提前装载 cacheline；随机地址未知，预取失效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502003" y="2149673"/>
            <a:ext cx="19954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5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DRAM Row Buffer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502003" y="2347764"/>
            <a:ext cx="199547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顺序同 row 激活一次多读；随机跨 row 每次预充电，延迟翻倍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502003" y="2769245"/>
            <a:ext cx="19954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5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SIMD 向量化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502003" y="2967335"/>
            <a:ext cx="199547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顺序可用 AVX 256-bit 指令批量加载；随机每次仅 8 字节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362402" y="3541216"/>
            <a:ext cx="2235547" cy="1269057"/>
          </a:xfrm>
          <a:prstGeom prst="roundRect">
            <a:avLst>
              <a:gd name="adj" fmla="val 4003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6362402" y="3541216"/>
            <a:ext cx="2235547" cy="38100"/>
          </a:xfrm>
          <a:prstGeom prst="roundRect">
            <a:avLst>
              <a:gd name="adj" fmla="val 66667"/>
            </a:avLst>
          </a:prstGeom>
          <a:solidFill>
            <a:srgbClr val="8C959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6502003" y="3693616"/>
            <a:ext cx="19954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开销说明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502003" y="3947517"/>
            <a:ext cx="199547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L3/RAM 延迟高于参考值（L3: 30–60 ns，RAM: 60–120 ns）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502003" y="4305598"/>
            <a:ext cx="199547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vCPU 调度与 hypervisor 开销所致；L1/L2 缓存层基本不受影响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46050" y="4899124"/>
            <a:ext cx="821293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 fixes: sched_setaffinity  |  RUNS=5 median  |  % → &amp; mask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6050" y="279350"/>
            <a:ext cx="821293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 err="1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拓展</a:t>
            </a:r>
            <a:r>
              <a:rPr lang="zh-CN" altLang="en-US" sz="2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问题①</a:t>
            </a:r>
            <a:r>
              <a:rPr lang="en-US" sz="2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：虚拟机带来多少额外误差？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6050" y="819001"/>
            <a:ext cx="1092101" cy="38100"/>
          </a:xfrm>
          <a:prstGeom prst="rect">
            <a:avLst/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6050" y="984052"/>
            <a:ext cx="4436269" cy="183952"/>
          </a:xfrm>
          <a:prstGeom prst="roundRect">
            <a:avLst>
              <a:gd name="adj" fmla="val 20712"/>
            </a:avLst>
          </a:prstGeom>
          <a:solidFill>
            <a:srgbClr val="FFF8C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7551" y="1009352"/>
            <a:ext cx="20511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VirtualBox 里测出来的内存数据，可信吗？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6050" y="1231404"/>
            <a:ext cx="45249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 CPU（i9-13900HX），虚拟机 vs 裸机参考值对比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6050" y="1523908"/>
            <a:ext cx="4436269" cy="260152"/>
          </a:xfrm>
          <a:prstGeom prst="roundRect">
            <a:avLst>
              <a:gd name="adj" fmla="val 14645"/>
            </a:avLst>
          </a:prstGeom>
          <a:solidFill>
            <a:srgbClr val="24292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3001" y="1587308"/>
            <a:ext cx="12435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开销来源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892201" y="1587308"/>
            <a:ext cx="22451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影响机制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093369" y="1587308"/>
            <a:ext cx="777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受影响层级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6050" y="1809360"/>
            <a:ext cx="4436269" cy="412552"/>
          </a:xfrm>
          <a:prstGeom prst="rect">
            <a:avLst/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73001" y="1944198"/>
            <a:ext cx="12435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vCPU 调度抖动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892201" y="1872761"/>
            <a:ext cx="22451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OS 抢占 vCPU，单次测量偶发 10–100 µs 延迟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093369" y="1958486"/>
            <a:ext cx="634752" cy="149126"/>
          </a:xfrm>
          <a:prstGeom prst="roundRect">
            <a:avLst>
              <a:gd name="adj" fmla="val 85154366"/>
            </a:avLst>
          </a:prstGeom>
          <a:solidFill>
            <a:srgbClr val="FFF8C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182219" y="1971136"/>
            <a:ext cx="466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/ SSD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6050" y="2247212"/>
            <a:ext cx="4436269" cy="412552"/>
          </a:xfrm>
          <a:prstGeom prst="rect">
            <a:avLst/>
          </a:prstGeom>
          <a:solidFill>
            <a:srgbClr val="FFF8C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73001" y="2382051"/>
            <a:ext cx="12435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内存访问虚拟化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892201" y="2310613"/>
            <a:ext cx="22451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EPT/影子页表增加 TLB miss 惩罚，RAM 延迟显著偏高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093369" y="2396338"/>
            <a:ext cx="592038" cy="149126"/>
          </a:xfrm>
          <a:prstGeom prst="roundRect">
            <a:avLst>
              <a:gd name="adj" fmla="val 85154366"/>
            </a:avLst>
          </a:prstGeom>
          <a:solidFill>
            <a:srgbClr val="FFEB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182219" y="2408989"/>
            <a:ext cx="42262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↑↑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6050" y="2685065"/>
            <a:ext cx="4436269" cy="310902"/>
          </a:xfrm>
          <a:prstGeom prst="rect">
            <a:avLst/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73001" y="2769004"/>
            <a:ext cx="12435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内存气球驱动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892201" y="2769004"/>
            <a:ext cx="22451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宿主机内存紧张时虚拟机内存被换出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093369" y="2783440"/>
            <a:ext cx="634752" cy="149126"/>
          </a:xfrm>
          <a:prstGeom prst="roundRect">
            <a:avLst>
              <a:gd name="adj" fmla="val 85154366"/>
            </a:avLst>
          </a:prstGeom>
          <a:solidFill>
            <a:srgbClr val="FFF8C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182219" y="2796091"/>
            <a:ext cx="466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/ SSD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46050" y="3021267"/>
            <a:ext cx="4436269" cy="310902"/>
          </a:xfrm>
          <a:prstGeom prst="rect">
            <a:avLst/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73001" y="3105207"/>
            <a:ext cx="12435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磁盘 I/O 虚拟化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892201" y="3105207"/>
            <a:ext cx="22451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VDI 格式层 + Host VFS，顺序带宽降低 20–40%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093369" y="3119643"/>
            <a:ext cx="452586" cy="149126"/>
          </a:xfrm>
          <a:prstGeom prst="roundRect">
            <a:avLst>
              <a:gd name="adj" fmla="val 85154366"/>
            </a:avLst>
          </a:prstGeom>
          <a:solidFill>
            <a:srgbClr val="FFF8C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182219" y="3132293"/>
            <a:ext cx="2803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↓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46050" y="3357470"/>
            <a:ext cx="4436269" cy="310902"/>
          </a:xfrm>
          <a:prstGeom prst="rect">
            <a:avLst/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73001" y="3446172"/>
            <a:ext cx="12435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/ L2 Cache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892201" y="3441409"/>
            <a:ext cx="22451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直接映射物理核心缓存，虚拟化不介入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093369" y="3436796"/>
            <a:ext cx="682972" cy="168176"/>
          </a:xfrm>
          <a:prstGeom prst="roundRect">
            <a:avLst>
              <a:gd name="adj" fmla="val 75508574"/>
            </a:avLst>
          </a:prstGeom>
          <a:solidFill>
            <a:srgbClr val="DAFB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182219" y="3449446"/>
            <a:ext cx="5153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不受影响 ✓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46050" y="3885378"/>
            <a:ext cx="50750" cy="479822"/>
          </a:xfrm>
          <a:prstGeom prst="roundRect">
            <a:avLst>
              <a:gd name="adj" fmla="val 50049"/>
            </a:avLst>
          </a:prstGeom>
          <a:solidFill>
            <a:srgbClr val="1A7F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96801" y="3885378"/>
            <a:ext cx="4385518" cy="479822"/>
          </a:xfrm>
          <a:prstGeom prst="rect">
            <a:avLst/>
          </a:prstGeom>
          <a:solidFill>
            <a:srgbClr val="DAFB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23751" y="3974228"/>
            <a:ext cx="4214250" cy="302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</a:t>
            </a:r>
            <a:r>
              <a:rPr lang="en-US" sz="8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L1/L2 缓存数据可信；但 RAM 延迟被虚拟化放大约 4 倍——这是本实验的局限性，L3/RAM 数据仅供参考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185470" y="984052"/>
            <a:ext cx="3412480" cy="1440656"/>
          </a:xfrm>
          <a:prstGeom prst="roundRect">
            <a:avLst>
              <a:gd name="adj" fmla="val 3526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185470" y="984052"/>
            <a:ext cx="3412480" cy="38100"/>
          </a:xfrm>
          <a:prstGeom prst="roundRect">
            <a:avLst>
              <a:gd name="adj" fmla="val 66667"/>
            </a:avLst>
          </a:prstGeom>
          <a:solidFill>
            <a:srgbClr val="9A6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312420" y="1098352"/>
            <a:ext cx="322175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实测 vs 裸机参考值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312420" y="1358503"/>
            <a:ext cx="362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756821" y="1358503"/>
            <a:ext cx="10617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4.0 ns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886575" y="1358503"/>
            <a:ext cx="10618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参考 4–5 ns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016478" y="1349127"/>
            <a:ext cx="454521" cy="168176"/>
          </a:xfrm>
          <a:prstGeom prst="roundRect">
            <a:avLst>
              <a:gd name="adj" fmla="val 75508574"/>
            </a:avLst>
          </a:prstGeom>
          <a:solidFill>
            <a:srgbClr val="DAFB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8092678" y="1361777"/>
            <a:ext cx="30816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准确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312420" y="1606004"/>
            <a:ext cx="362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A6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756821" y="1606004"/>
            <a:ext cx="10617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A6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18.6 ns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886575" y="1606004"/>
            <a:ext cx="10618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参考 12–20 ns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016478" y="1596628"/>
            <a:ext cx="454521" cy="168176"/>
          </a:xfrm>
          <a:prstGeom prst="roundRect">
            <a:avLst>
              <a:gd name="adj" fmla="val 75508574"/>
            </a:avLst>
          </a:prstGeom>
          <a:solidFill>
            <a:srgbClr val="DAFB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8092678" y="1609279"/>
            <a:ext cx="30816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正常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312420" y="1853505"/>
            <a:ext cx="362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756821" y="1853505"/>
            <a:ext cx="10227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116.6 ns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848326" y="1853505"/>
            <a:ext cx="10227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参考 30–60 ns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7939832" y="1853654"/>
            <a:ext cx="531168" cy="158651"/>
          </a:xfrm>
          <a:prstGeom prst="roundRect">
            <a:avLst>
              <a:gd name="adj" fmla="val 80041916"/>
            </a:avLst>
          </a:prstGeom>
          <a:solidFill>
            <a:srgbClr val="FFF8C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8016032" y="1866305"/>
            <a:ext cx="3863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~2× 偏高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312420" y="2101007"/>
            <a:ext cx="362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756821" y="2101007"/>
            <a:ext cx="10227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344 ns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848326" y="2101007"/>
            <a:ext cx="10227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参考 60–120 ns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939832" y="2101155"/>
            <a:ext cx="531168" cy="158651"/>
          </a:xfrm>
          <a:prstGeom prst="roundRect">
            <a:avLst>
              <a:gd name="adj" fmla="val 80041916"/>
            </a:avLst>
          </a:prstGeom>
          <a:solidFill>
            <a:srgbClr val="FFEB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8016032" y="2113806"/>
            <a:ext cx="3863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~4× 偏高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185470" y="2551658"/>
            <a:ext cx="50750" cy="659309"/>
          </a:xfrm>
          <a:prstGeom prst="roundRect">
            <a:avLst>
              <a:gd name="adj" fmla="val 50049"/>
            </a:avLst>
          </a:prstGeom>
          <a:solidFill>
            <a:srgbClr val="9A6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5236220" y="2551658"/>
            <a:ext cx="3361730" cy="659309"/>
          </a:xfrm>
          <a:prstGeom prst="rect">
            <a:avLst/>
          </a:prstGeom>
          <a:solidFill>
            <a:srgbClr val="FFF8C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5350520" y="2640509"/>
            <a:ext cx="31957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虚拟机的"快"是有条件的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5350520" y="2831009"/>
            <a:ext cx="3195792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缓存层（L1/L2）与裸机几乎无差异；内存子系统受 EPT 和调度影响显著偏慢，是虚拟机性能损失的主要来源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5185470" y="3299816"/>
            <a:ext cx="3412480" cy="1466553"/>
          </a:xfrm>
          <a:prstGeom prst="roundRect">
            <a:avLst>
              <a:gd name="adj" fmla="val 4062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5286970" y="3363218"/>
            <a:ext cx="18958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裸机参考：Intel Sapphire Rapids 带宽-延迟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7932241" y="3382268"/>
            <a:ext cx="57549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 2024 Fig.3f</a:t>
            </a:r>
            <a:endParaRPr lang="en-US" sz="650" dirty="0"/>
          </a:p>
        </p:txBody>
      </p:sp>
      <p:pic>
        <p:nvPicPr>
          <p:cNvPr id="69" name="Image 0" descr="E:/Project/benchmark/benchmark/paper_images/mess2024_fig3f_intel_sapphirerapi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970" y="3534668"/>
            <a:ext cx="3209479" cy="115535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0" name="Text 67"/>
          <p:cNvSpPr/>
          <p:nvPr/>
        </p:nvSpPr>
        <p:spPr>
          <a:xfrm>
            <a:off x="546050" y="4921300"/>
            <a:ext cx="82129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裸机参考值：Intel i9-13900HX 规格  |  VM 环境：VirtualBox 7 · Ubuntu 22.04 · 4 vCPU · 4 GB RAM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6050" y="279350"/>
            <a:ext cx="821293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 err="1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拓展</a:t>
            </a:r>
            <a:r>
              <a:rPr lang="zh-CN" altLang="en-US" sz="2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问题②</a:t>
            </a:r>
            <a:r>
              <a:rPr lang="en-US" sz="2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：为什么更快的 CPU 有时没用？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6050" y="819001"/>
            <a:ext cx="1092101" cy="38100"/>
          </a:xfrm>
          <a:prstGeom prst="rect">
            <a:avLst/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6050" y="984052"/>
            <a:ext cx="4593282" cy="771525"/>
          </a:xfrm>
          <a:prstGeom prst="roundRect">
            <a:avLst>
              <a:gd name="adj" fmla="val 6584"/>
            </a:avLst>
          </a:prstGeom>
          <a:solidFill>
            <a:srgbClr val="DDF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450" y="1098352"/>
            <a:ext cx="4374252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25"/>
              </a:lnSpc>
              <a:buNone/>
            </a:pPr>
            <a:r>
              <a:rPr lang="en-US" sz="9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当程序</a:t>
            </a:r>
            <a:r>
              <a:rPr lang="en-US" sz="9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搬数据比计算更多</a:t>
            </a:r>
            <a:r>
              <a:rPr lang="en-US" sz="9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，瓶颈在"送货速度"（内存带宽），</a:t>
            </a:r>
            <a:r>
              <a:rPr lang="en-US" sz="950" dirty="0" err="1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而不在"处理速度</a:t>
            </a:r>
            <a:r>
              <a:rPr lang="en-US" sz="9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</a:p>
          <a:p>
            <a:pPr marL="0" indent="0" algn="l">
              <a:lnSpc>
                <a:spcPts val="1425"/>
              </a:lnSpc>
              <a:buNone/>
            </a:pPr>
            <a:r>
              <a:rPr lang="en-US" sz="9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（CPU）</a:t>
            </a:r>
            <a:endParaRPr lang="en-US" sz="950" dirty="0"/>
          </a:p>
          <a:p>
            <a:pPr marL="0" indent="0" algn="l">
              <a:lnSpc>
                <a:spcPts val="1425"/>
              </a:lnSpc>
              <a:buNone/>
            </a:pPr>
            <a:r>
              <a:rPr lang="en-US" sz="9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——就像工厂 99% 时间在等货，再换更快的工人也毫无意义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6050" y="1857077"/>
            <a:ext cx="4593282" cy="2797219"/>
          </a:xfrm>
          <a:prstGeom prst="roundRect">
            <a:avLst>
              <a:gd name="adj" fmla="val 1715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98450" y="2192089"/>
            <a:ext cx="43742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8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内存带宽实测：顺序 vs 随机，差距有多大？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98450" y="2657326"/>
            <a:ext cx="8549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 顺序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98450" y="2790676"/>
            <a:ext cx="8549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121 GB/s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638151" y="2703314"/>
            <a:ext cx="2031950" cy="165050"/>
          </a:xfrm>
          <a:prstGeom prst="roundRect">
            <a:avLst>
              <a:gd name="adj" fmla="val 15389"/>
            </a:avLst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771602" y="2706588"/>
            <a:ext cx="1091654" cy="158651"/>
          </a:xfrm>
          <a:prstGeom prst="roundRect">
            <a:avLst>
              <a:gd name="adj" fmla="val 80041916"/>
            </a:avLst>
          </a:prstGeom>
          <a:solidFill>
            <a:srgbClr val="DAFB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860453" y="2719239"/>
            <a:ext cx="9322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供货充足，不是瓶颈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98450" y="3135213"/>
            <a:ext cx="8549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A6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 顺序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8450" y="3268563"/>
            <a:ext cx="8549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3.60 GB/s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638151" y="3181201"/>
            <a:ext cx="939701" cy="165050"/>
          </a:xfrm>
          <a:prstGeom prst="roundRect">
            <a:avLst>
              <a:gd name="adj" fmla="val 15389"/>
            </a:avLst>
          </a:prstGeom>
          <a:solidFill>
            <a:srgbClr val="9A6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679353" y="3184475"/>
            <a:ext cx="1091654" cy="158651"/>
          </a:xfrm>
          <a:prstGeom prst="roundRect">
            <a:avLst>
              <a:gd name="adj" fmla="val 80041916"/>
            </a:avLst>
          </a:prstGeom>
          <a:solidFill>
            <a:srgbClr val="FFF8C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768203" y="3197126"/>
            <a:ext cx="9322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偏慢，开始成为瓶颈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98450" y="3613249"/>
            <a:ext cx="8549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 随机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98450" y="3746599"/>
            <a:ext cx="8549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0.17 GB/s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638151" y="3659237"/>
            <a:ext cx="50750" cy="165050"/>
          </a:xfrm>
          <a:prstGeom prst="roundRect">
            <a:avLst>
              <a:gd name="adj" fmla="val 50049"/>
            </a:avLst>
          </a:prstGeom>
          <a:solidFill>
            <a:srgbClr val="CF22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790402" y="3662511"/>
            <a:ext cx="2255639" cy="158651"/>
          </a:xfrm>
          <a:prstGeom prst="roundRect">
            <a:avLst>
              <a:gd name="adj" fmla="val 80041916"/>
            </a:avLst>
          </a:prstGeom>
          <a:solidFill>
            <a:srgbClr val="FFEB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879253" y="3675162"/>
            <a:ext cx="21194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极慢，CPU 大部分时间在空等 → 升级 CPU 无效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98450" y="4197548"/>
            <a:ext cx="4288482" cy="0"/>
          </a:xfrm>
          <a:prstGeom prst="line">
            <a:avLst/>
          </a:prstGeom>
          <a:noFill/>
          <a:ln w="9525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98450" y="4321225"/>
            <a:ext cx="8587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顺序 vs 随机差距：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641872" y="4291161"/>
            <a:ext cx="2383631" cy="193477"/>
          </a:xfrm>
          <a:prstGeom prst="roundRect">
            <a:avLst>
              <a:gd name="adj" fmla="val 65634313"/>
            </a:avLst>
          </a:prstGeom>
          <a:solidFill>
            <a:srgbClr val="FFEB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756171" y="4316462"/>
            <a:ext cx="2383631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= 69×  |  RAM = 22×  |  每次 miss 空等约 344 ns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317033" y="926673"/>
            <a:ext cx="3280916" cy="1884312"/>
          </a:xfrm>
          <a:prstGeom prst="roundRect">
            <a:avLst>
              <a:gd name="adj" fmla="val 3525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418534" y="1047452"/>
            <a:ext cx="10266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经典 Roofline 模型示意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434858" y="1066502"/>
            <a:ext cx="10828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Williams et al. 2009 / Wikipedia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5317034" y="2999851"/>
            <a:ext cx="3280916" cy="1001613"/>
          </a:xfrm>
          <a:prstGeom prst="roundRect">
            <a:avLst>
              <a:gd name="adj" fmla="val 5072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5317034" y="2999851"/>
            <a:ext cx="3280916" cy="38100"/>
          </a:xfrm>
          <a:prstGeom prst="roundRect">
            <a:avLst>
              <a:gd name="adj" fmla="val 66667"/>
            </a:avLst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5443984" y="3114151"/>
            <a:ext cx="30875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图中两条线的交点说明什么？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443984" y="3349002"/>
            <a:ext cx="3087556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斜线 = 内存带宽上限，水平线 = CPU 算力上限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5443984" y="3532656"/>
            <a:ext cx="3087556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交点</a:t>
            </a:r>
            <a:r>
              <a:rPr lang="en-US" sz="85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左边</a:t>
            </a: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：内存跟不上，CPU 闲着等；交点</a:t>
            </a:r>
            <a:r>
              <a:rPr lang="en-US" sz="85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右边</a:t>
            </a: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：算力可以跑满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443984" y="3716310"/>
            <a:ext cx="3087556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随机访问使交点</a:t>
            </a:r>
            <a:r>
              <a:rPr lang="en-US" sz="85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右移 700×</a:t>
            </a: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——几乎所有程序都被卡在左边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5317034" y="4077664"/>
            <a:ext cx="45719" cy="529382"/>
          </a:xfrm>
          <a:prstGeom prst="roundRect">
            <a:avLst>
              <a:gd name="adj" fmla="val 50049"/>
            </a:avLst>
          </a:prstGeom>
          <a:solidFill>
            <a:srgbClr val="CF22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5367784" y="4077664"/>
            <a:ext cx="3230166" cy="516732"/>
          </a:xfrm>
          <a:prstGeom prst="rect">
            <a:avLst/>
          </a:prstGeom>
          <a:solidFill>
            <a:srgbClr val="FFEB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5482084" y="4160924"/>
            <a:ext cx="3061597" cy="453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</a:t>
            </a:r>
            <a:r>
              <a:rPr lang="en-US" sz="8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随机读 RAM 带宽仅 0.17 GB/s，22× 慢于顺序；数据库、图遍历慢数百倍的根本原因——换 CPU 无效，关键是减少随机访问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546050" y="4921300"/>
            <a:ext cx="82129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Roofline Model: Williams et al. 2009  |  实测带宽：bandwidth_bench v2  |  RAM 随机 0.17 GB/s，顺序 3.60 GB/s</a:t>
            </a:r>
            <a:endParaRPr lang="en-US" sz="900" dirty="0"/>
          </a:p>
        </p:txBody>
      </p:sp>
      <p:pic>
        <p:nvPicPr>
          <p:cNvPr id="30" name="Image 0" descr="E:/Project/benchmark/benchmark/paper_images/roofline_wikipedia_naive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8534" y="1253611"/>
            <a:ext cx="3077914" cy="14656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1F2328"/>
                </a:solidFill>
                <a:latin typeface="Arial"/>
              </a:rPr>
              <a:t>c) </a:t>
            </a:r>
            <a:r>
              <a:rPr sz="2800" b="1" dirty="0" err="1">
                <a:solidFill>
                  <a:srgbClr val="1F2328"/>
                </a:solidFill>
                <a:latin typeface="Arial"/>
              </a:rPr>
              <a:t>实验环境</a:t>
            </a:r>
            <a:endParaRPr sz="2800" b="1" dirty="0">
              <a:solidFill>
                <a:srgbClr val="1F2328"/>
              </a:solidFill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43000"/>
          <a:ext cx="822960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项目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虚拟机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宿主机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系统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Ubuntu 64 位 / VMware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Windows 11 家庭中文版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CPU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2 个 vCPU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Intel Core i9-13900HX，24 核 / 32 线程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内存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4 GB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15.75 GB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Cache 记录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L1d 48KB / L2 2MB / L3 36MB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L3 36MB，Windows 汇总 L2 32MB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84048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6700"/>
                </a:solidFill>
                <a:latin typeface="Arial"/>
              </a:rPr>
              <a:t>定位：虚拟机用于观察缓存边界与调度影响；宿主机用于提供裸机级参考基线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c) 测试方法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8229600" cy="96012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280160"/>
            <a:ext cx="782726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F2328"/>
                </a:solidFill>
                <a:latin typeface="Courier New"/>
              </a:rPr>
              <a:t>gcc -O2 -Wall -Wextra -std=gnu11 wss_scan.c -o wss_scan
./wss_scan
taskset -c 0 ./wss_scan    # 固定到 vCPU0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8229600" cy="114300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2560320"/>
            <a:ext cx="782726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dirty="0" err="1">
                <a:solidFill>
                  <a:srgbClr val="1F2328"/>
                </a:solidFill>
                <a:latin typeface="Courier New"/>
              </a:rPr>
              <a:t>工作集大小</a:t>
            </a:r>
            <a:r>
              <a:rPr sz="1300" b="0" dirty="0">
                <a:solidFill>
                  <a:srgbClr val="1F2328"/>
                </a:solidFill>
                <a:latin typeface="Courier New"/>
              </a:rPr>
              <a:t>: 4KB, 8KB, 16KB, ... , 512MB, 1GB
</a:t>
            </a:r>
            <a:r>
              <a:rPr sz="1300" b="0" dirty="0" err="1">
                <a:solidFill>
                  <a:srgbClr val="1F2328"/>
                </a:solidFill>
                <a:latin typeface="Courier New"/>
              </a:rPr>
              <a:t>访问模式</a:t>
            </a:r>
            <a:r>
              <a:rPr sz="1300" b="0">
                <a:solidFill>
                  <a:srgbClr val="1F2328"/>
                </a:solidFill>
                <a:latin typeface="Courier New"/>
              </a:rPr>
              <a:t>: p = *(void **)p
</a:t>
            </a:r>
            <a:r>
              <a:rPr sz="1300" b="0" dirty="0" err="1">
                <a:solidFill>
                  <a:srgbClr val="1F2328"/>
                </a:solidFill>
                <a:latin typeface="Courier New"/>
              </a:rPr>
              <a:t>统计方式</a:t>
            </a:r>
            <a:r>
              <a:rPr sz="1300" b="0" dirty="0">
                <a:solidFill>
                  <a:srgbClr val="1F2328"/>
                </a:solidFill>
                <a:latin typeface="Courier New"/>
              </a:rPr>
              <a:t>: </a:t>
            </a:r>
            <a:r>
              <a:rPr sz="1300" b="0" dirty="0" err="1">
                <a:solidFill>
                  <a:srgbClr val="1F2328"/>
                </a:solidFill>
                <a:latin typeface="Courier New"/>
              </a:rPr>
              <a:t>每个大小重复测量，取中位数作为</a:t>
            </a:r>
            <a:r>
              <a:rPr sz="1300" b="0" dirty="0">
                <a:solidFill>
                  <a:srgbClr val="1F2328"/>
                </a:solidFill>
                <a:latin typeface="Courier New"/>
              </a:rPr>
              <a:t> Avg Access(ns)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6908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6700"/>
                </a:solidFill>
                <a:latin typeface="Arial"/>
              </a:rPr>
              <a:t>关键点：随机 pointer chasing 让下一次访问地址依赖当前读出的指针，尽量避免硬件预取器提前加载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c) 为什么不直接使用 lscpu 的 Cache 容量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886200" cy="141732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234439"/>
            <a:ext cx="348386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2328"/>
                </a:solidFill>
                <a:latin typeface="Courier New"/>
              </a:rPr>
              <a:t>lscpu:
L1d cache: 96 KiB
L1i cache: 64 KiB
L2 cache : 4 MiB
L3 cache : 72 MiB</a:t>
            </a:r>
          </a:p>
        </p:txBody>
      </p:sp>
      <p:sp>
        <p:nvSpPr>
          <p:cNvPr id="6" name="Rectangle 5"/>
          <p:cNvSpPr/>
          <p:nvPr/>
        </p:nvSpPr>
        <p:spPr>
          <a:xfrm>
            <a:off x="4800600" y="1097280"/>
            <a:ext cx="3886200" cy="141732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01768" y="1234439"/>
            <a:ext cx="348386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2328"/>
                </a:solidFill>
                <a:latin typeface="Courier New"/>
              </a:rPr>
              <a:t>cpu0/cache:
index0: 48K     L1d
index1: 32K     L1i
index2: 2048K   L2
index3: 36864K  L3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80360"/>
            <a:ext cx="8229600" cy="91440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2880360"/>
            <a:ext cx="54864" cy="914400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4" y="2999232"/>
            <a:ext cx="7818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328"/>
                </a:solidFill>
                <a:latin typeface="Arial"/>
              </a:rPr>
              <a:t>采用 cpu0/cache 作为主边界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3319272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56D76"/>
                </a:solidFill>
                <a:latin typeface="Arial"/>
              </a:rPr>
              <a:t>本程序主要是单线程随机访问，更接近单个逻辑 CPU 视角。lscpu 的 96KB / 4MB / 72MB 很可能是 2 个 vCPU 的汇总值。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0624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6700"/>
                </a:solidFill>
                <a:latin typeface="Arial"/>
              </a:rPr>
              <a:t>因此：环境记录保留 lscpu，曲线边界判断采用 L1d=48KB、L2=2MB、L3=36MB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1A"/>
                </a:solidFill>
              </a:defRPr>
            </a:pPr>
            <a:r>
              <a:t>d) 虚拟机 CPU 拓扑与 lscpu Cache 数据显示差异分析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371600" cy="254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实验数据：不同虚拟机 CPU 配置下 lscpu 显示的 Cache 大小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34440"/>
          <a:ext cx="7315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CPU 配置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vCPU 数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L1d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L1i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L2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L3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规律说明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2 处理器 × 每核 1 线程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96 KiB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64 KiB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4 MiB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72 MiB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基准配置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4 处理器 × 每核 1 线程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192 KiB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128 KiB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8 MiB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144 MiB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L1/L2 翻倍, L3 翻倍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4 处理器 × 每核 2 线程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384 KiB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256 KiB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16 MiB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144 MiB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L1/L2 翻倍, L3 不变(共享)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8 处理器 × 每核 1 线程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384 KiB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256 KiB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16 MiB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288 MiB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33333"/>
                          </a:solidFill>
                        </a:defRPr>
                      </a:pPr>
                      <a:r>
                        <a:t>L1/L2 同上, L3 翻倍(不同插槽)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21001" y="2955071"/>
            <a:ext cx="2187458" cy="307777"/>
          </a:xfrm>
          <a:prstGeom prst="rect">
            <a:avLst/>
          </a:prstGeom>
          <a:noFill/>
        </p:spPr>
        <p:txBody>
          <a:bodyPr wrap="none" lIns="45720" tIns="45720" rIns="45720" bIns="45720" anchor="t">
            <a:spAutoFit/>
          </a:bodyPr>
          <a:lstStyle/>
          <a:p>
            <a:pPr algn="ctr">
              <a:defRPr sz="1400" b="1">
                <a:solidFill>
                  <a:srgbClr val="2E74B5"/>
                </a:solidFill>
              </a:defRPr>
            </a:pPr>
            <a:r>
              <a:rPr dirty="0"/>
              <a:t>▎</a:t>
            </a:r>
            <a:r>
              <a:rPr lang="en-US" dirty="0"/>
              <a:t>  </a:t>
            </a:r>
            <a:r>
              <a:rPr dirty="0" err="1"/>
              <a:t>为什么会出现这种现象</a:t>
            </a:r>
            <a:r>
              <a:rPr dirty="0"/>
              <a:t>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4375" y="3207526"/>
            <a:ext cx="5303520" cy="1228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850">
                <a:solidFill>
                  <a:srgbClr val="333333"/>
                </a:solidFill>
              </a:defRPr>
            </a:pPr>
            <a:r>
              <a:rPr dirty="0"/>
              <a:t>L1d / L1i：每个 vCPU </a:t>
            </a:r>
            <a:r>
              <a:rPr dirty="0" err="1"/>
              <a:t>核心独占，lscpu</a:t>
            </a:r>
            <a:r>
              <a:rPr dirty="0"/>
              <a:t> 按 vCPU </a:t>
            </a:r>
            <a:r>
              <a:rPr dirty="0" err="1"/>
              <a:t>数量叠加显示</a:t>
            </a:r>
            <a:endParaRPr lang="en-US" dirty="0"/>
          </a:p>
          <a:p>
            <a:pPr>
              <a:spcAft>
                <a:spcPts val="100"/>
              </a:spcAft>
              <a:defRPr sz="850">
                <a:solidFill>
                  <a:srgbClr val="333333"/>
                </a:solidFill>
              </a:defRPr>
            </a:pPr>
            <a:r>
              <a:rPr dirty="0"/>
              <a:t> 每 vCPU ≈ 48 KiB L1d + 32 KiB L1i → </a:t>
            </a:r>
            <a:r>
              <a:rPr dirty="0" err="1"/>
              <a:t>逐核线性增长</a:t>
            </a:r>
            <a:endParaRPr dirty="0"/>
          </a:p>
          <a:p>
            <a:pPr>
              <a:spcAft>
                <a:spcPts val="100"/>
              </a:spcAft>
              <a:defRPr sz="850">
                <a:solidFill>
                  <a:srgbClr val="333333"/>
                </a:solidFill>
              </a:defRPr>
            </a:pPr>
            <a:r>
              <a:rPr dirty="0"/>
              <a:t>L2 </a:t>
            </a:r>
            <a:r>
              <a:rPr dirty="0" err="1"/>
              <a:t>Cache：同样每个核心独占，随</a:t>
            </a:r>
            <a:r>
              <a:rPr dirty="0"/>
              <a:t> vCPU </a:t>
            </a:r>
            <a:r>
              <a:rPr dirty="0" err="1"/>
              <a:t>数量线性叠加</a:t>
            </a:r>
            <a:endParaRPr lang="en-US" dirty="0"/>
          </a:p>
          <a:p>
            <a:pPr>
              <a:spcAft>
                <a:spcPts val="100"/>
              </a:spcAft>
              <a:defRPr sz="850">
                <a:solidFill>
                  <a:srgbClr val="333333"/>
                </a:solidFill>
              </a:defRPr>
            </a:pPr>
            <a:r>
              <a:rPr dirty="0"/>
              <a:t>每 vCPU ≈ 2 MiB L2 → 2/4/8 vCPU </a:t>
            </a:r>
            <a:r>
              <a:rPr dirty="0" err="1"/>
              <a:t>对应</a:t>
            </a:r>
            <a:r>
              <a:rPr dirty="0"/>
              <a:t> 4/8/16 MiB</a:t>
            </a:r>
            <a:endParaRPr lang="zh-CN" altLang="en-US" dirty="0"/>
          </a:p>
          <a:p>
            <a:pPr>
              <a:spcAft>
                <a:spcPts val="100"/>
              </a:spcAft>
              <a:defRPr sz="850">
                <a:solidFill>
                  <a:srgbClr val="333333"/>
                </a:solidFill>
              </a:defRPr>
            </a:pPr>
            <a:r>
              <a:rPr lang="en-US" altLang="zh-CN" dirty="0"/>
              <a:t>L3 Cache</a:t>
            </a:r>
            <a:r>
              <a:rPr lang="zh-CN" altLang="en-US" dirty="0"/>
              <a:t>：多个核心共享，不按核心数量继续翻倍</a:t>
            </a:r>
          </a:p>
          <a:p>
            <a:pPr>
              <a:spcAft>
                <a:spcPts val="100"/>
              </a:spcAft>
              <a:defRPr sz="850">
                <a:solidFill>
                  <a:srgbClr val="333333"/>
                </a:solidFill>
              </a:defRPr>
            </a:pPr>
            <a:r>
              <a:rPr lang="zh-CN" altLang="en-US" dirty="0"/>
              <a:t>   同一插槽内的 </a:t>
            </a:r>
            <a:r>
              <a:rPr lang="en-US" altLang="zh-CN" dirty="0"/>
              <a:t>cores </a:t>
            </a:r>
            <a:r>
              <a:rPr lang="zh-CN" altLang="en-US" dirty="0"/>
              <a:t>共享一个 </a:t>
            </a:r>
            <a:r>
              <a:rPr lang="en-US" altLang="zh-CN" dirty="0"/>
              <a:t>L3</a:t>
            </a:r>
            <a:r>
              <a:rPr lang="zh-CN" altLang="en-US" dirty="0"/>
              <a:t>；不同插槽各自暴露独立 </a:t>
            </a:r>
            <a:r>
              <a:rPr lang="en-US" altLang="zh-CN" dirty="0"/>
              <a:t>L3</a:t>
            </a:r>
          </a:p>
          <a:p>
            <a:pPr>
              <a:spcAft>
                <a:spcPts val="100"/>
              </a:spcAft>
              <a:defRPr sz="850">
                <a:solidFill>
                  <a:srgbClr val="333333"/>
                </a:solidFill>
              </a:defRPr>
            </a:pPr>
            <a:r>
              <a:rPr lang="en-US" altLang="zh-CN" dirty="0"/>
              <a:t>  4 </a:t>
            </a:r>
            <a:r>
              <a:rPr lang="zh-CN" altLang="en-US" dirty="0"/>
              <a:t>处理器</a:t>
            </a:r>
            <a:r>
              <a:rPr lang="en-US" altLang="zh-CN" dirty="0"/>
              <a:t>×2 </a:t>
            </a:r>
            <a:r>
              <a:rPr lang="zh-CN" altLang="en-US" dirty="0"/>
              <a:t>核</a:t>
            </a:r>
            <a:r>
              <a:rPr lang="en-US" altLang="zh-CN" dirty="0"/>
              <a:t>(</a:t>
            </a:r>
            <a:r>
              <a:rPr lang="zh-CN" altLang="en-US" dirty="0"/>
              <a:t>同插槽</a:t>
            </a:r>
            <a:r>
              <a:rPr lang="en-US" altLang="zh-CN" dirty="0"/>
              <a:t>) → L3=144 MiB </a:t>
            </a:r>
            <a:r>
              <a:rPr lang="zh-CN" altLang="en-US" dirty="0"/>
              <a:t>不变</a:t>
            </a:r>
          </a:p>
          <a:p>
            <a:pPr>
              <a:spcAft>
                <a:spcPts val="100"/>
              </a:spcAft>
              <a:defRPr sz="850">
                <a:solidFill>
                  <a:srgbClr val="333333"/>
                </a:solidFill>
              </a:defRPr>
            </a:pPr>
            <a:r>
              <a:rPr lang="zh-CN" altLang="en-US" dirty="0"/>
              <a:t>  </a:t>
            </a:r>
            <a:r>
              <a:rPr lang="en-US" altLang="zh-CN" dirty="0"/>
              <a:t>8 </a:t>
            </a:r>
            <a:r>
              <a:rPr lang="zh-CN" altLang="en-US" dirty="0"/>
              <a:t>处理器</a:t>
            </a:r>
            <a:r>
              <a:rPr lang="en-US" altLang="zh-CN" dirty="0"/>
              <a:t>×1 </a:t>
            </a:r>
            <a:r>
              <a:rPr lang="zh-CN" altLang="en-US" dirty="0"/>
              <a:t>核</a:t>
            </a:r>
            <a:r>
              <a:rPr lang="en-US" altLang="zh-CN" dirty="0"/>
              <a:t>(</a:t>
            </a:r>
            <a:r>
              <a:rPr lang="zh-CN" altLang="en-US" dirty="0"/>
              <a:t>不同插槽</a:t>
            </a:r>
            <a:r>
              <a:rPr lang="en-US" altLang="zh-CN" dirty="0"/>
              <a:t>) → L3=288 MiB </a:t>
            </a:r>
            <a:r>
              <a:rPr lang="zh-CN" altLang="en-US" dirty="0"/>
              <a:t>翻倍</a:t>
            </a:r>
          </a:p>
        </p:txBody>
      </p:sp>
      <p:sp>
        <p:nvSpPr>
          <p:cNvPr id="8" name="Rectangle 7"/>
          <p:cNvSpPr/>
          <p:nvPr/>
        </p:nvSpPr>
        <p:spPr>
          <a:xfrm>
            <a:off x="6159304" y="3200400"/>
            <a:ext cx="2743200" cy="914400"/>
          </a:xfrm>
          <a:prstGeom prst="rect">
            <a:avLst/>
          </a:prstGeom>
          <a:solidFill>
            <a:srgbClr val="E8F0FE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E74B5"/>
                </a:solidFill>
              </a:defRPr>
            </a:pPr>
            <a:r>
              <a:rPr dirty="0" err="1"/>
              <a:t>关键洞察</a:t>
            </a:r>
            <a:endParaRPr dirty="0"/>
          </a:p>
          <a:p>
            <a:pPr>
              <a:defRPr sz="400"/>
            </a:pPr>
            <a:endParaRPr dirty="0"/>
          </a:p>
          <a:p>
            <a:pPr algn="ctr">
              <a:defRPr sz="850">
                <a:solidFill>
                  <a:srgbClr val="333333"/>
                </a:solidFill>
              </a:defRPr>
            </a:pPr>
            <a:r>
              <a:rPr dirty="0" err="1"/>
              <a:t>lscpu</a:t>
            </a:r>
            <a:r>
              <a:rPr dirty="0"/>
              <a:t> </a:t>
            </a:r>
            <a:r>
              <a:rPr dirty="0" err="1"/>
              <a:t>显示的不是</a:t>
            </a:r>
            <a:endParaRPr dirty="0"/>
          </a:p>
          <a:p>
            <a:pPr algn="ctr">
              <a:defRPr sz="850">
                <a:solidFill>
                  <a:srgbClr val="333333"/>
                </a:solidFill>
              </a:defRPr>
            </a:pPr>
            <a:r>
              <a:rPr dirty="0"/>
              <a:t>"</a:t>
            </a:r>
            <a:r>
              <a:rPr dirty="0" err="1"/>
              <a:t>单个</a:t>
            </a:r>
            <a:r>
              <a:rPr dirty="0"/>
              <a:t> CPU </a:t>
            </a:r>
            <a:r>
              <a:rPr dirty="0" err="1"/>
              <a:t>核心的缓存</a:t>
            </a:r>
            <a:r>
              <a:rPr dirty="0"/>
              <a:t>"</a:t>
            </a:r>
          </a:p>
          <a:p>
            <a:pPr>
              <a:defRPr sz="400"/>
            </a:pPr>
            <a:endParaRPr dirty="0"/>
          </a:p>
          <a:p>
            <a:pPr algn="ctr">
              <a:defRPr sz="850">
                <a:solidFill>
                  <a:srgbClr val="333333"/>
                </a:solidFill>
              </a:defRPr>
            </a:pPr>
            <a:r>
              <a:rPr dirty="0" err="1"/>
              <a:t>而是操作系统看到的</a:t>
            </a:r>
            <a:endParaRPr dirty="0"/>
          </a:p>
          <a:p>
            <a:pPr algn="ctr">
              <a:defRPr sz="850" b="1">
                <a:solidFill>
                  <a:srgbClr val="C0392B"/>
                </a:solidFill>
              </a:defRPr>
            </a:pPr>
            <a:r>
              <a:rPr dirty="0" err="1"/>
              <a:t>缓存总量汇总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424375" y="4362139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74B5"/>
                </a:solidFill>
              </a:defRPr>
            </a:pPr>
            <a:r>
              <a:rPr dirty="0"/>
              <a:t>▎</a:t>
            </a:r>
            <a:r>
              <a:rPr lang="en-US" dirty="0"/>
              <a:t>  </a:t>
            </a:r>
            <a:r>
              <a:rPr dirty="0" err="1"/>
              <a:t>结论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457200" y="4559737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333333"/>
                </a:solidFill>
              </a:defRPr>
            </a:pPr>
            <a:r>
              <a:rPr dirty="0" err="1"/>
              <a:t>lscpu</a:t>
            </a:r>
            <a:r>
              <a:rPr dirty="0"/>
              <a:t> </a:t>
            </a:r>
            <a:r>
              <a:rPr dirty="0" err="1"/>
              <a:t>显示的是虚拟机</a:t>
            </a:r>
            <a:r>
              <a:rPr dirty="0"/>
              <a:t> CPU </a:t>
            </a:r>
            <a:r>
              <a:rPr dirty="0" err="1"/>
              <a:t>拓扑导致的缓存汇总信息，不等于真实物理</a:t>
            </a:r>
            <a:r>
              <a:rPr dirty="0"/>
              <a:t> CPU </a:t>
            </a:r>
            <a:r>
              <a:rPr dirty="0" err="1"/>
              <a:t>上某一个核心的缓存大小。实验中应使用</a:t>
            </a:r>
            <a:r>
              <a:rPr dirty="0"/>
              <a:t> cpu0/cache（sysfs）获取单核缓存边界值作为测量参考。L1d=48KB, L2=2MB 是可靠的每核边界；L3 </a:t>
            </a:r>
            <a:r>
              <a:rPr dirty="0" err="1"/>
              <a:t>取决于插槽</a:t>
            </a:r>
            <a:r>
              <a:rPr dirty="0"/>
              <a:t>/</a:t>
            </a:r>
            <a:r>
              <a:rPr dirty="0" err="1"/>
              <a:t>共享域配置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c) 边界线选择对结果解释的影响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pt_lscpu_bou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4160520" cy="2329891"/>
          </a:xfrm>
          <a:prstGeom prst="rect">
            <a:avLst/>
          </a:prstGeom>
        </p:spPr>
      </p:pic>
      <p:pic>
        <p:nvPicPr>
          <p:cNvPr id="5" name="Picture 4" descr="ppt_true_bound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051560"/>
            <a:ext cx="4160520" cy="232989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1005840"/>
            <a:ext cx="411480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/>
              <a:t>✘   </a:t>
            </a:r>
            <a:r>
              <a:rPr dirty="0" err="1"/>
              <a:t>使用</a:t>
            </a:r>
            <a:r>
              <a:rPr dirty="0"/>
              <a:t> </a:t>
            </a:r>
            <a:r>
              <a:rPr dirty="0" err="1"/>
              <a:t>lscpu</a:t>
            </a:r>
            <a:r>
              <a:rPr dirty="0"/>
              <a:t> 汇总值标记边界（96KB / 4MB / 72MB）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005840"/>
            <a:ext cx="411480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✔   使用 cpu0/cache 单核边界值（48KB / 2MB / 36MB）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304594"/>
            <a:ext cx="3749039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750">
                <a:solidFill>
                  <a:srgbClr val="C0392B"/>
                </a:solidFill>
              </a:defRPr>
            </a:pPr>
            <a:r>
              <a:t>⚠ 边界线与实际延迟跳变点明显错位：96KB 标记远在真实 L1→L2 转折（~48KB）之后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3337560"/>
            <a:ext cx="3749039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750">
                <a:solidFill>
                  <a:srgbClr val="27AE60"/>
                </a:solidFill>
              </a:defRPr>
            </a:pPr>
            <a:r>
              <a:t>✓ 边界线与延迟跳变点精确吻合：48KB / 2MB 恰好对应曲线的两个转折拐点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03320"/>
            <a:ext cx="8229600" cy="112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E74B5"/>
                </a:solidFill>
              </a:defRPr>
            </a:pPr>
            <a:r>
              <a:rPr dirty="0"/>
              <a:t>▎</a:t>
            </a:r>
            <a:r>
              <a:rPr lang="en-US" dirty="0"/>
              <a:t> </a:t>
            </a:r>
            <a:r>
              <a:rPr dirty="0" err="1"/>
              <a:t>对比分析</a:t>
            </a:r>
            <a:endParaRPr dirty="0"/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</a:defRPr>
            </a:pPr>
            <a:r>
              <a:rPr dirty="0"/>
              <a:t>① </a:t>
            </a:r>
            <a:r>
              <a:rPr dirty="0" err="1"/>
              <a:t>左图（lscpu</a:t>
            </a:r>
            <a:r>
              <a:rPr dirty="0"/>
              <a:t> </a:t>
            </a:r>
            <a:r>
              <a:rPr dirty="0" err="1"/>
              <a:t>汇总值</a:t>
            </a:r>
            <a:r>
              <a:rPr dirty="0"/>
              <a:t>）：L1d </a:t>
            </a:r>
            <a:r>
              <a:rPr dirty="0" err="1"/>
              <a:t>标记为</a:t>
            </a:r>
            <a:r>
              <a:rPr dirty="0"/>
              <a:t> 96KB，但曲线在 ~48KB </a:t>
            </a:r>
            <a:r>
              <a:rPr dirty="0" err="1"/>
              <a:t>处即出现明显延迟上升</a:t>
            </a:r>
            <a:r>
              <a:rPr dirty="0"/>
              <a:t>。</a:t>
            </a:r>
            <a:r>
              <a:rPr sz="900" dirty="0">
                <a:solidFill>
                  <a:srgbClr val="C0392B"/>
                </a:solidFill>
              </a:rPr>
              <a:t> 原因：96KB 是 2 个 vCPU 的 L1d </a:t>
            </a:r>
            <a:r>
              <a:rPr sz="900" dirty="0" err="1">
                <a:solidFill>
                  <a:srgbClr val="C0392B"/>
                </a:solidFill>
              </a:rPr>
              <a:t>之和，单线程只能用到其中一个核心的</a:t>
            </a:r>
            <a:r>
              <a:rPr sz="900" dirty="0">
                <a:solidFill>
                  <a:srgbClr val="C0392B"/>
                </a:solidFill>
              </a:rPr>
              <a:t> 48KB。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</a:defRPr>
            </a:pPr>
            <a:r>
              <a:rPr dirty="0"/>
              <a:t>② 右图（cpu0/cache </a:t>
            </a:r>
            <a:r>
              <a:rPr dirty="0" err="1"/>
              <a:t>单核值</a:t>
            </a:r>
            <a:r>
              <a:rPr dirty="0"/>
              <a:t>）：L1d </a:t>
            </a:r>
            <a:r>
              <a:rPr dirty="0" err="1"/>
              <a:t>标记为</a:t>
            </a:r>
            <a:r>
              <a:rPr dirty="0"/>
              <a:t> 48KB，与曲线第一个拐点精确对齐；L2 </a:t>
            </a:r>
            <a:r>
              <a:rPr dirty="0" err="1"/>
              <a:t>标记为</a:t>
            </a:r>
            <a:r>
              <a:rPr dirty="0"/>
              <a:t> 2MB，与第二个拐点对齐。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</a:defRPr>
            </a:pPr>
            <a:r>
              <a:rPr dirty="0"/>
              <a:t>③ L3 </a:t>
            </a:r>
            <a:r>
              <a:rPr dirty="0" err="1"/>
              <a:t>同理：lscpu</a:t>
            </a:r>
            <a:r>
              <a:rPr dirty="0"/>
              <a:t> </a:t>
            </a:r>
            <a:r>
              <a:rPr dirty="0" err="1"/>
              <a:t>显示</a:t>
            </a:r>
            <a:r>
              <a:rPr dirty="0"/>
              <a:t> 72MB（2 个 vCPU </a:t>
            </a:r>
            <a:r>
              <a:rPr dirty="0" err="1"/>
              <a:t>汇总</a:t>
            </a:r>
            <a:r>
              <a:rPr dirty="0"/>
              <a:t>），cpu0/cache </a:t>
            </a:r>
            <a:r>
              <a:rPr dirty="0" err="1"/>
              <a:t>显示</a:t>
            </a:r>
            <a:r>
              <a:rPr dirty="0"/>
              <a:t> 36MB（单核可用）。</a:t>
            </a:r>
            <a:r>
              <a:rPr dirty="0" err="1"/>
              <a:t>单线程的实际</a:t>
            </a:r>
            <a:r>
              <a:rPr dirty="0"/>
              <a:t> L3 </a:t>
            </a:r>
            <a:r>
              <a:rPr dirty="0" err="1"/>
              <a:t>命中范围以</a:t>
            </a:r>
            <a:r>
              <a:rPr dirty="0"/>
              <a:t> 36MB </a:t>
            </a:r>
            <a:r>
              <a:rPr dirty="0" err="1"/>
              <a:t>为界</a:t>
            </a:r>
            <a:r>
              <a:rPr dirty="0"/>
              <a:t>。</a:t>
            </a:r>
          </a:p>
          <a:p>
            <a:pPr>
              <a:spcAft>
                <a:spcPts val="100"/>
              </a:spcAft>
              <a:defRPr sz="1000" b="1">
                <a:solidFill>
                  <a:srgbClr val="2E74B5"/>
                </a:solidFill>
              </a:defRPr>
            </a:pPr>
            <a:r>
              <a:rPr dirty="0"/>
              <a:t>结论：</a:t>
            </a:r>
            <a:r>
              <a:rPr sz="1000" dirty="0">
                <a:solidFill>
                  <a:srgbClr val="333333"/>
                </a:solidFill>
              </a:rPr>
              <a:t>单线程实验的缓存边界必须以单核视角（cpu0/</a:t>
            </a:r>
            <a:r>
              <a:rPr sz="1000" dirty="0" err="1">
                <a:solidFill>
                  <a:srgbClr val="333333"/>
                </a:solidFill>
              </a:rPr>
              <a:t>cache）为准。lscpu</a:t>
            </a:r>
            <a:r>
              <a:rPr sz="1000" dirty="0">
                <a:solidFill>
                  <a:srgbClr val="333333"/>
                </a:solidFill>
              </a:rPr>
              <a:t> </a:t>
            </a:r>
            <a:r>
              <a:rPr sz="1000" dirty="0" err="1">
                <a:solidFill>
                  <a:srgbClr val="333333"/>
                </a:solidFill>
              </a:rPr>
              <a:t>的汇总值会高估边界，导致曲线转折点的解释出现系统性偏差</a:t>
            </a:r>
            <a:r>
              <a:rPr sz="1000" dirty="0">
                <a:solidFill>
                  <a:srgbClr val="333333"/>
                </a:solidFill>
              </a:rPr>
              <a:t>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74B5"/>
                </a:solidFill>
              </a:defRPr>
            </a:pPr>
            <a:r>
              <a:t>c) 工作集扫描实测 —— L3 有效容量受宿主机负载动态影响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371600" cy="254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822960"/>
          <a:ext cx="2011680" cy="412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工作集大小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平均延迟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4 KB</a:t>
                      </a:r>
                    </a:p>
                  </a:txBody>
                  <a:tcPr>
                    <a:solidFill>
                      <a:srgbClr val="E9F7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3.54 ns</a:t>
                      </a:r>
                    </a:p>
                  </a:txBody>
                  <a:tcPr anchor="ctr">
                    <a:solidFill>
                      <a:srgbClr val="E9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8 KB</a:t>
                      </a:r>
                    </a:p>
                  </a:txBody>
                  <a:tcPr>
                    <a:solidFill>
                      <a:srgbClr val="E9F7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3.36 ns</a:t>
                      </a:r>
                    </a:p>
                  </a:txBody>
                  <a:tcPr anchor="ctr">
                    <a:solidFill>
                      <a:srgbClr val="E9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16 KB</a:t>
                      </a:r>
                    </a:p>
                  </a:txBody>
                  <a:tcPr>
                    <a:solidFill>
                      <a:srgbClr val="E9F7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3.11 ns</a:t>
                      </a:r>
                    </a:p>
                  </a:txBody>
                  <a:tcPr anchor="ctr">
                    <a:solidFill>
                      <a:srgbClr val="E9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32 KB</a:t>
                      </a:r>
                    </a:p>
                  </a:txBody>
                  <a:tcPr>
                    <a:solidFill>
                      <a:srgbClr val="E9F7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2.86 ns</a:t>
                      </a:r>
                    </a:p>
                  </a:txBody>
                  <a:tcPr anchor="ctr">
                    <a:solidFill>
                      <a:srgbClr val="E9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64 KB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19.17 ns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128 KB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18.50 ns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256 KB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22.32 ns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512 KB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27.95 ns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1 MB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29.38 ns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2 MB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38.20 ns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4 MB</a:t>
                      </a:r>
                    </a:p>
                  </a:txBody>
                  <a:tcPr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82.28 ns</a:t>
                      </a:r>
                    </a:p>
                  </a:txBody>
                  <a:tcPr anchor="ctr">
                    <a:solidFill>
                      <a:srgbClr val="FDF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8 MB</a:t>
                      </a:r>
                    </a:p>
                  </a:txBody>
                  <a:tcPr>
                    <a:solidFill>
                      <a:srgbClr val="FFE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114.34 ns</a:t>
                      </a:r>
                    </a:p>
                  </a:txBody>
                  <a:tcPr anchor="ctr">
                    <a:solidFill>
                      <a:srgbClr val="FFE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16 MB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246.58 ns</a:t>
                      </a:r>
                    </a:p>
                  </a:txBody>
                  <a:tcPr anchor="ctr">
                    <a:solidFill>
                      <a:srgbClr val="F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32 MB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263.00 ns</a:t>
                      </a:r>
                    </a:p>
                  </a:txBody>
                  <a:tcPr anchor="ctr">
                    <a:solidFill>
                      <a:srgbClr val="F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64 MB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262.91 ns</a:t>
                      </a:r>
                    </a:p>
                  </a:txBody>
                  <a:tcPr anchor="ctr">
                    <a:solidFill>
                      <a:srgbClr val="F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128 MB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270.82 ns</a:t>
                      </a:r>
                    </a:p>
                  </a:txBody>
                  <a:tcPr anchor="ctr">
                    <a:solidFill>
                      <a:srgbClr val="F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256 MB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282.68 ns</a:t>
                      </a:r>
                    </a:p>
                  </a:txBody>
                  <a:tcPr anchor="ctr">
                    <a:solidFill>
                      <a:srgbClr val="F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512 MB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305.08 ns</a:t>
                      </a:r>
                    </a:p>
                  </a:txBody>
                  <a:tcPr anchor="ctr">
                    <a:solidFill>
                      <a:srgbClr val="F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1 GB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33333"/>
                          </a:solidFill>
                        </a:defRPr>
                      </a:pPr>
                      <a:r>
                        <a:t>331.07 ns</a:t>
                      </a:r>
                    </a:p>
                  </a:txBody>
                  <a:tcPr anchor="ctr">
                    <a:solidFill>
                      <a:srgbClr val="F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0" y="82296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27AE60"/>
                </a:solidFill>
              </a:rPr>
              <a:t>  ■ L1d (48KB)  </a:t>
            </a:r>
            <a:r>
              <a:rPr sz="750" b="1">
                <a:solidFill>
                  <a:srgbClr val="2E74B5"/>
                </a:solidFill>
              </a:rPr>
              <a:t>  ■ L2 (2MB)  </a:t>
            </a:r>
            <a:r>
              <a:rPr sz="750" b="1">
                <a:solidFill>
                  <a:srgbClr val="E67E22"/>
                </a:solidFill>
              </a:rPr>
              <a:t>  ■ L3 有效区  </a:t>
            </a:r>
            <a:r>
              <a:rPr sz="750" b="1">
                <a:solidFill>
                  <a:srgbClr val="C0392B"/>
                </a:solidFill>
              </a:rPr>
              <a:t>  ■ RAM  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223892"/>
            <a:ext cx="5943600" cy="1828800"/>
          </a:xfrm>
          <a:prstGeom prst="rect">
            <a:avLst/>
          </a:prstGeom>
          <a:solidFill>
            <a:srgbClr val="FDF2E9"/>
          </a:solidFill>
          <a:ln w="1524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100" b="1">
                <a:solidFill>
                  <a:srgbClr val="E67E22"/>
                </a:solidFill>
              </a:defRPr>
            </a:pPr>
            <a:r>
              <a:rPr dirty="0"/>
              <a:t>▎</a:t>
            </a:r>
            <a:r>
              <a:rPr lang="en-US" dirty="0"/>
              <a:t> </a:t>
            </a:r>
            <a:r>
              <a:rPr dirty="0" err="1"/>
              <a:t>实操记录：三次测量中</a:t>
            </a:r>
            <a:r>
              <a:rPr dirty="0"/>
              <a:t> L3 </a:t>
            </a:r>
            <a:r>
              <a:rPr dirty="0" err="1"/>
              <a:t>有效边界的漂移</a:t>
            </a:r>
            <a:endParaRPr dirty="0"/>
          </a:p>
          <a:p>
            <a:pPr>
              <a:spcAft>
                <a:spcPts val="500"/>
              </a:spcAft>
            </a:pPr>
            <a:r>
              <a:rPr sz="850" b="1" dirty="0" err="1">
                <a:solidFill>
                  <a:srgbClr val="2E74B5"/>
                </a:solidFill>
              </a:rPr>
              <a:t>第一次测量（宿主机空闲</a:t>
            </a:r>
            <a:r>
              <a:rPr sz="850" b="1" dirty="0">
                <a:solidFill>
                  <a:srgbClr val="2E74B5"/>
                </a:solidFill>
              </a:rPr>
              <a:t>）：</a:t>
            </a:r>
            <a:r>
              <a:rPr sz="850" dirty="0" err="1">
                <a:solidFill>
                  <a:srgbClr val="333333"/>
                </a:solidFill>
              </a:rPr>
              <a:t>跳变发生在</a:t>
            </a:r>
            <a:r>
              <a:rPr sz="850" dirty="0">
                <a:solidFill>
                  <a:srgbClr val="333333"/>
                </a:solidFill>
              </a:rPr>
              <a:t> 8MB→16MB。16MB </a:t>
            </a:r>
            <a:r>
              <a:rPr sz="850" dirty="0" err="1">
                <a:solidFill>
                  <a:srgbClr val="333333"/>
                </a:solidFill>
              </a:rPr>
              <a:t>延迟</a:t>
            </a:r>
            <a:r>
              <a:rPr sz="850" dirty="0">
                <a:solidFill>
                  <a:srgbClr val="333333"/>
                </a:solidFill>
              </a:rPr>
              <a:t> 246ns，进入 RAM </a:t>
            </a:r>
            <a:r>
              <a:rPr sz="850" dirty="0" err="1">
                <a:solidFill>
                  <a:srgbClr val="333333"/>
                </a:solidFill>
              </a:rPr>
              <a:t>区间。此时单线程有效</a:t>
            </a:r>
            <a:r>
              <a:rPr sz="850" dirty="0">
                <a:solidFill>
                  <a:srgbClr val="333333"/>
                </a:solidFill>
              </a:rPr>
              <a:t> L3 </a:t>
            </a:r>
            <a:r>
              <a:rPr sz="850" dirty="0" err="1">
                <a:solidFill>
                  <a:srgbClr val="333333"/>
                </a:solidFill>
              </a:rPr>
              <a:t>约为</a:t>
            </a:r>
            <a:r>
              <a:rPr sz="850" dirty="0">
                <a:solidFill>
                  <a:srgbClr val="333333"/>
                </a:solidFill>
              </a:rPr>
              <a:t> 8~12MB。</a:t>
            </a:r>
          </a:p>
          <a:p>
            <a:pPr>
              <a:spcAft>
                <a:spcPts val="500"/>
              </a:spcAft>
            </a:pPr>
            <a:r>
              <a:rPr sz="850" b="1" dirty="0" err="1">
                <a:solidFill>
                  <a:srgbClr val="2E74B5"/>
                </a:solidFill>
              </a:rPr>
              <a:t>第二次测量（宿主机负载增加</a:t>
            </a:r>
            <a:r>
              <a:rPr sz="850" b="1" dirty="0">
                <a:solidFill>
                  <a:srgbClr val="2E74B5"/>
                </a:solidFill>
              </a:rPr>
              <a:t>）：</a:t>
            </a:r>
            <a:r>
              <a:rPr sz="850" dirty="0" err="1">
                <a:solidFill>
                  <a:srgbClr val="333333"/>
                </a:solidFill>
              </a:rPr>
              <a:t>跳变提前至</a:t>
            </a:r>
            <a:r>
              <a:rPr sz="850" dirty="0">
                <a:solidFill>
                  <a:srgbClr val="333333"/>
                </a:solidFill>
              </a:rPr>
              <a:t> 4MB→8MB。8MB </a:t>
            </a:r>
            <a:r>
              <a:rPr sz="850" dirty="0" err="1">
                <a:solidFill>
                  <a:srgbClr val="333333"/>
                </a:solidFill>
              </a:rPr>
              <a:t>延迟即显著升高。有效</a:t>
            </a:r>
            <a:r>
              <a:rPr sz="850" dirty="0">
                <a:solidFill>
                  <a:srgbClr val="333333"/>
                </a:solidFill>
              </a:rPr>
              <a:t> L3 </a:t>
            </a:r>
            <a:r>
              <a:rPr sz="850" dirty="0" err="1">
                <a:solidFill>
                  <a:srgbClr val="333333"/>
                </a:solidFill>
              </a:rPr>
              <a:t>收缩至约</a:t>
            </a:r>
            <a:r>
              <a:rPr sz="850" dirty="0">
                <a:solidFill>
                  <a:srgbClr val="333333"/>
                </a:solidFill>
              </a:rPr>
              <a:t> 4MB。</a:t>
            </a:r>
          </a:p>
          <a:p>
            <a:pPr>
              <a:spcAft>
                <a:spcPts val="500"/>
              </a:spcAft>
            </a:pPr>
            <a:r>
              <a:rPr sz="850" b="1" dirty="0" err="1">
                <a:solidFill>
                  <a:srgbClr val="2E74B5"/>
                </a:solidFill>
              </a:rPr>
              <a:t>第三次测量（宿主机高负载，大量软件运行</a:t>
            </a:r>
            <a:r>
              <a:rPr sz="850" b="1" dirty="0">
                <a:solidFill>
                  <a:srgbClr val="2E74B5"/>
                </a:solidFill>
              </a:rPr>
              <a:t>）：</a:t>
            </a:r>
            <a:r>
              <a:rPr sz="850" dirty="0" err="1">
                <a:solidFill>
                  <a:srgbClr val="333333"/>
                </a:solidFill>
              </a:rPr>
              <a:t>跳变进一步提前至</a:t>
            </a:r>
            <a:r>
              <a:rPr sz="850" dirty="0">
                <a:solidFill>
                  <a:srgbClr val="333333"/>
                </a:solidFill>
              </a:rPr>
              <a:t> 2MB→4MB。4MB </a:t>
            </a:r>
            <a:r>
              <a:rPr sz="850" dirty="0" err="1">
                <a:solidFill>
                  <a:srgbClr val="333333"/>
                </a:solidFill>
              </a:rPr>
              <a:t>延迟直接飙升至</a:t>
            </a:r>
            <a:r>
              <a:rPr sz="850" dirty="0">
                <a:solidFill>
                  <a:srgbClr val="333333"/>
                </a:solidFill>
              </a:rPr>
              <a:t> RAM </a:t>
            </a:r>
            <a:r>
              <a:rPr sz="850" dirty="0" err="1">
                <a:solidFill>
                  <a:srgbClr val="333333"/>
                </a:solidFill>
              </a:rPr>
              <a:t>水平</a:t>
            </a:r>
            <a:r>
              <a:rPr sz="850" dirty="0">
                <a:solidFill>
                  <a:srgbClr val="333333"/>
                </a:solidFill>
              </a:rPr>
              <a:t>（&gt;200ns），L2 </a:t>
            </a:r>
            <a:r>
              <a:rPr sz="850" dirty="0" err="1">
                <a:solidFill>
                  <a:srgbClr val="333333"/>
                </a:solidFill>
              </a:rPr>
              <a:t>之后几乎无</a:t>
            </a:r>
            <a:r>
              <a:rPr sz="850" dirty="0">
                <a:solidFill>
                  <a:srgbClr val="333333"/>
                </a:solidFill>
              </a:rPr>
              <a:t> L3 </a:t>
            </a:r>
            <a:r>
              <a:rPr sz="850" dirty="0" err="1">
                <a:solidFill>
                  <a:srgbClr val="333333"/>
                </a:solidFill>
              </a:rPr>
              <a:t>缓冲，直接进入主存</a:t>
            </a:r>
            <a:r>
              <a:rPr sz="850" dirty="0">
                <a:solidFill>
                  <a:srgbClr val="333333"/>
                </a:solidFill>
              </a:rPr>
              <a:t>。</a:t>
            </a:r>
          </a:p>
          <a:p>
            <a:pPr>
              <a:spcAft>
                <a:spcPts val="200"/>
              </a:spcAft>
            </a:pPr>
            <a:endParaRPr sz="850" dirty="0">
              <a:solidFill>
                <a:srgbClr val="333333"/>
              </a:solidFill>
            </a:endParaRPr>
          </a:p>
          <a:p>
            <a:r>
              <a:rPr sz="850" b="1" dirty="0" err="1">
                <a:solidFill>
                  <a:srgbClr val="C0392B"/>
                </a:solidFill>
              </a:rPr>
              <a:t>趋势：</a:t>
            </a:r>
            <a:r>
              <a:rPr sz="850" dirty="0" err="1">
                <a:solidFill>
                  <a:srgbClr val="C0392B"/>
                </a:solidFill>
              </a:rPr>
              <a:t>宿主机负载越重</a:t>
            </a:r>
            <a:r>
              <a:rPr sz="850" dirty="0">
                <a:solidFill>
                  <a:srgbClr val="C0392B"/>
                </a:solidFill>
              </a:rPr>
              <a:t> → VM </a:t>
            </a:r>
            <a:r>
              <a:rPr sz="850" dirty="0" err="1">
                <a:solidFill>
                  <a:srgbClr val="C0392B"/>
                </a:solidFill>
              </a:rPr>
              <a:t>可用的</a:t>
            </a:r>
            <a:r>
              <a:rPr sz="850" dirty="0">
                <a:solidFill>
                  <a:srgbClr val="C0392B"/>
                </a:solidFill>
              </a:rPr>
              <a:t> L3 </a:t>
            </a:r>
            <a:r>
              <a:rPr sz="850" dirty="0" err="1">
                <a:solidFill>
                  <a:srgbClr val="C0392B"/>
                </a:solidFill>
              </a:rPr>
              <a:t>有效容量越小</a:t>
            </a:r>
            <a:r>
              <a:rPr sz="850" dirty="0">
                <a:solidFill>
                  <a:srgbClr val="C0392B"/>
                </a:solidFill>
              </a:rPr>
              <a:t> → L3→RAM 边界越向左移（16MB → 8MB → 4MB）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3189852"/>
            <a:ext cx="5943600" cy="1188720"/>
          </a:xfrm>
          <a:prstGeom prst="rect">
            <a:avLst/>
          </a:prstGeom>
          <a:solidFill>
            <a:srgbClr val="F8F9FA"/>
          </a:solidFill>
          <a:ln w="127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100" b="1">
                <a:solidFill>
                  <a:srgbClr val="2E74B5"/>
                </a:solidFill>
              </a:defRPr>
            </a:pPr>
            <a:r>
              <a:rPr dirty="0"/>
              <a:t>▎</a:t>
            </a:r>
            <a:r>
              <a:rPr lang="en-US" dirty="0"/>
              <a:t> </a:t>
            </a:r>
            <a:r>
              <a:rPr dirty="0" err="1"/>
              <a:t>原因分析</a:t>
            </a:r>
            <a:endParaRPr dirty="0"/>
          </a:p>
          <a:p>
            <a:pPr>
              <a:spcAft>
                <a:spcPts val="400"/>
              </a:spcAft>
            </a:pPr>
            <a:r>
              <a:rPr sz="850" dirty="0">
                <a:solidFill>
                  <a:srgbClr val="333333"/>
                </a:solidFill>
              </a:rPr>
              <a:t>L3 </a:t>
            </a:r>
            <a:r>
              <a:rPr sz="850" dirty="0" err="1">
                <a:solidFill>
                  <a:srgbClr val="333333"/>
                </a:solidFill>
              </a:rPr>
              <a:t>是物理</a:t>
            </a:r>
            <a:r>
              <a:rPr sz="850" dirty="0">
                <a:solidFill>
                  <a:srgbClr val="333333"/>
                </a:solidFill>
              </a:rPr>
              <a:t> CPU </a:t>
            </a:r>
            <a:r>
              <a:rPr sz="850" dirty="0" err="1">
                <a:solidFill>
                  <a:srgbClr val="333333"/>
                </a:solidFill>
              </a:rPr>
              <a:t>上所有核心共享的末级缓存。</a:t>
            </a:r>
            <a:r>
              <a:rPr sz="850" b="1" dirty="0" err="1">
                <a:solidFill>
                  <a:srgbClr val="C0392B"/>
                </a:solidFill>
              </a:rPr>
              <a:t>在虚拟化环境下，宿主机上其他</a:t>
            </a:r>
            <a:r>
              <a:rPr sz="850" b="1" dirty="0">
                <a:solidFill>
                  <a:srgbClr val="C0392B"/>
                </a:solidFill>
              </a:rPr>
              <a:t> </a:t>
            </a:r>
            <a:r>
              <a:rPr sz="850" b="1" dirty="0" err="1">
                <a:solidFill>
                  <a:srgbClr val="C0392B"/>
                </a:solidFill>
              </a:rPr>
              <a:t>vCPU、主机进程、内核线程都在竞争同一块物理</a:t>
            </a:r>
            <a:r>
              <a:rPr sz="850" b="1" dirty="0">
                <a:solidFill>
                  <a:srgbClr val="C0392B"/>
                </a:solidFill>
              </a:rPr>
              <a:t> L3。</a:t>
            </a:r>
          </a:p>
          <a:p>
            <a:r>
              <a:rPr sz="850" dirty="0" err="1">
                <a:solidFill>
                  <a:srgbClr val="333333"/>
                </a:solidFill>
              </a:rPr>
              <a:t>虚拟机看到的</a:t>
            </a:r>
            <a:r>
              <a:rPr sz="850" dirty="0">
                <a:solidFill>
                  <a:srgbClr val="333333"/>
                </a:solidFill>
              </a:rPr>
              <a:t> 36MB L3 </a:t>
            </a:r>
            <a:r>
              <a:rPr sz="850" dirty="0" err="1">
                <a:solidFill>
                  <a:srgbClr val="333333"/>
                </a:solidFill>
              </a:rPr>
              <a:t>只是硬件上报的总容量，并非该</a:t>
            </a:r>
            <a:r>
              <a:rPr sz="850" dirty="0">
                <a:solidFill>
                  <a:srgbClr val="333333"/>
                </a:solidFill>
              </a:rPr>
              <a:t> vCPU </a:t>
            </a:r>
            <a:r>
              <a:rPr sz="850" dirty="0" err="1">
                <a:solidFill>
                  <a:srgbClr val="333333"/>
                </a:solidFill>
              </a:rPr>
              <a:t>的独占配额。实际可用的</a:t>
            </a:r>
            <a:r>
              <a:rPr sz="850" dirty="0">
                <a:solidFill>
                  <a:srgbClr val="333333"/>
                </a:solidFill>
              </a:rPr>
              <a:t> L3 </a:t>
            </a:r>
            <a:r>
              <a:rPr sz="850" dirty="0" err="1">
                <a:solidFill>
                  <a:srgbClr val="333333"/>
                </a:solidFill>
              </a:rPr>
              <a:t>容量由宿主机实时负载决定</a:t>
            </a:r>
            <a:r>
              <a:rPr sz="850" dirty="0">
                <a:solidFill>
                  <a:srgbClr val="333333"/>
                </a:solidFill>
              </a:rPr>
              <a:t> —— </a:t>
            </a:r>
            <a:r>
              <a:rPr sz="850" dirty="0" err="1">
                <a:solidFill>
                  <a:srgbClr val="333333"/>
                </a:solidFill>
              </a:rPr>
              <a:t>宿主机越忙，VM</a:t>
            </a:r>
            <a:r>
              <a:rPr sz="850" dirty="0">
                <a:solidFill>
                  <a:srgbClr val="333333"/>
                </a:solidFill>
              </a:rPr>
              <a:t> </a:t>
            </a:r>
            <a:r>
              <a:rPr sz="850" dirty="0" err="1">
                <a:solidFill>
                  <a:srgbClr val="333333"/>
                </a:solidFill>
              </a:rPr>
              <a:t>能分到的</a:t>
            </a:r>
            <a:r>
              <a:rPr sz="850" dirty="0">
                <a:solidFill>
                  <a:srgbClr val="333333"/>
                </a:solidFill>
              </a:rPr>
              <a:t> L3 就越少，甚至可能被完全挤出，L2 </a:t>
            </a:r>
            <a:r>
              <a:rPr sz="850" dirty="0" err="1">
                <a:solidFill>
                  <a:srgbClr val="333333"/>
                </a:solidFill>
              </a:rPr>
              <a:t>之后直接落到主存</a:t>
            </a:r>
            <a:r>
              <a:rPr sz="850" dirty="0">
                <a:solidFill>
                  <a:srgbClr val="333333"/>
                </a:solidFill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1618" y="4454448"/>
            <a:ext cx="5995182" cy="679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E74B5"/>
                </a:solidFill>
              </a:defRPr>
            </a:pPr>
            <a:r>
              <a:rPr dirty="0"/>
              <a:t>▎</a:t>
            </a:r>
            <a:r>
              <a:rPr lang="en-US" dirty="0"/>
              <a:t> </a:t>
            </a:r>
            <a:r>
              <a:rPr dirty="0" err="1"/>
              <a:t>结论</a:t>
            </a:r>
            <a:endParaRPr dirty="0"/>
          </a:p>
          <a:p>
            <a:r>
              <a:rPr sz="850" dirty="0">
                <a:solidFill>
                  <a:srgbClr val="333333"/>
                </a:solidFill>
              </a:rPr>
              <a:t>cpu0/cache </a:t>
            </a:r>
            <a:r>
              <a:rPr sz="850" dirty="0" err="1">
                <a:solidFill>
                  <a:srgbClr val="333333"/>
                </a:solidFill>
              </a:rPr>
              <a:t>报告的</a:t>
            </a:r>
            <a:r>
              <a:rPr sz="850" dirty="0">
                <a:solidFill>
                  <a:srgbClr val="333333"/>
                </a:solidFill>
              </a:rPr>
              <a:t> L3 容量（36MB）是静态硬件指标，不代表单线程实际可用。在虚拟机中，L3 </a:t>
            </a:r>
            <a:r>
              <a:rPr sz="850" dirty="0" err="1">
                <a:solidFill>
                  <a:srgbClr val="333333"/>
                </a:solidFill>
              </a:rPr>
              <a:t>有效容量是动态的，受宿主机负载实时影响。实测中观察到的</a:t>
            </a:r>
            <a:r>
              <a:rPr sz="850" dirty="0">
                <a:solidFill>
                  <a:srgbClr val="333333"/>
                </a:solidFill>
              </a:rPr>
              <a:t> L3→RAM </a:t>
            </a:r>
            <a:r>
              <a:rPr sz="850" dirty="0" err="1">
                <a:solidFill>
                  <a:srgbClr val="333333"/>
                </a:solidFill>
              </a:rPr>
              <a:t>边界从</a:t>
            </a:r>
            <a:r>
              <a:rPr sz="850" dirty="0">
                <a:solidFill>
                  <a:srgbClr val="333333"/>
                </a:solidFill>
              </a:rPr>
              <a:t> 16MB </a:t>
            </a:r>
            <a:r>
              <a:rPr sz="850" dirty="0" err="1">
                <a:solidFill>
                  <a:srgbClr val="333333"/>
                </a:solidFill>
              </a:rPr>
              <a:t>逐步漂移至</a:t>
            </a:r>
            <a:r>
              <a:rPr sz="850" dirty="0">
                <a:solidFill>
                  <a:srgbClr val="333333"/>
                </a:solidFill>
              </a:rPr>
              <a:t> 4MB，证明了 L3 </a:t>
            </a:r>
            <a:r>
              <a:rPr sz="850" dirty="0" err="1">
                <a:solidFill>
                  <a:srgbClr val="333333"/>
                </a:solidFill>
              </a:rPr>
              <a:t>作为共享资源在虚拟化环境下的不可靠性</a:t>
            </a:r>
            <a:r>
              <a:rPr sz="850" dirty="0">
                <a:solidFill>
                  <a:srgbClr val="333333"/>
                </a:solidFill>
              </a:rPr>
              <a:t> —— </a:t>
            </a:r>
            <a:r>
              <a:rPr sz="850" dirty="0" err="1">
                <a:solidFill>
                  <a:srgbClr val="333333"/>
                </a:solidFill>
              </a:rPr>
              <a:t>性能分析和边界判断必须以实测延迟拐点为准，而非依赖</a:t>
            </a:r>
            <a:r>
              <a:rPr sz="850" dirty="0">
                <a:solidFill>
                  <a:srgbClr val="333333"/>
                </a:solidFill>
              </a:rPr>
              <a:t> </a:t>
            </a:r>
            <a:r>
              <a:rPr sz="850" dirty="0" err="1">
                <a:solidFill>
                  <a:srgbClr val="333333"/>
                </a:solidFill>
              </a:rPr>
              <a:t>lscpu</a:t>
            </a:r>
            <a:r>
              <a:rPr sz="850" dirty="0">
                <a:solidFill>
                  <a:srgbClr val="333333"/>
                </a:solidFill>
              </a:rPr>
              <a:t>/cpu0 </a:t>
            </a:r>
            <a:r>
              <a:rPr sz="850" dirty="0" err="1">
                <a:solidFill>
                  <a:srgbClr val="333333"/>
                </a:solidFill>
              </a:rPr>
              <a:t>的静态数值</a:t>
            </a:r>
            <a:r>
              <a:rPr sz="850" dirty="0">
                <a:solidFill>
                  <a:srgbClr val="333333"/>
                </a:solidFill>
              </a:rPr>
              <a:t>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c) 工作集扫描结果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pt_true_bou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05840"/>
            <a:ext cx="8138160" cy="45573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2628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6700"/>
                </a:solidFill>
                <a:latin typeface="Arial"/>
              </a:rPr>
              <a:t>结论：64KB 附近离开 L1d 低延迟区；2MB 后继续升高；几十 MB 后逐步进入主内存访问区域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c) 扩展一：虚拟机与宿主机对比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8229600" cy="713232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4864" cy="713232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2984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2328"/>
                </a:solidFill>
                <a:latin typeface="Arial"/>
              </a:rPr>
              <a:t>64KB 随机访问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23444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Host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44475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969DA"/>
                </a:solidFill>
                <a:latin typeface="Courier New"/>
              </a:rPr>
              <a:t>3.12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23444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VM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44475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969DA"/>
                </a:solidFill>
                <a:latin typeface="Courier New"/>
              </a:rPr>
              <a:t>17.68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12344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倍率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14447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969DA"/>
                </a:solidFill>
                <a:latin typeface="Courier New"/>
              </a:rPr>
              <a:t>5.7x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57400"/>
            <a:ext cx="8229600" cy="713232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057400"/>
            <a:ext cx="54864" cy="713232"/>
          </a:xfrm>
          <a:prstGeom prst="rect">
            <a:avLst/>
          </a:prstGeom>
          <a:solidFill>
            <a:srgbClr val="9A6700"/>
          </a:solidFill>
          <a:ln>
            <a:solidFill>
              <a:srgbClr val="9A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" y="22128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2328"/>
                </a:solidFill>
                <a:latin typeface="Arial"/>
              </a:rPr>
              <a:t>2MB 随机访问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14884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Host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35915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9A6700"/>
                </a:solidFill>
                <a:latin typeface="Courier New"/>
              </a:rPr>
              <a:t>6.50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14884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VM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35915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9A6700"/>
                </a:solidFill>
                <a:latin typeface="Courier New"/>
              </a:rPr>
              <a:t>40.56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21488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倍率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23591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9A6700"/>
                </a:solidFill>
                <a:latin typeface="Courier New"/>
              </a:rPr>
              <a:t>6.2x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971800"/>
            <a:ext cx="8229600" cy="713232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2971800"/>
            <a:ext cx="54864" cy="713232"/>
          </a:xfrm>
          <a:prstGeom prst="rect">
            <a:avLst/>
          </a:prstGeom>
          <a:solidFill>
            <a:srgbClr val="CF222E"/>
          </a:solidFill>
          <a:ln>
            <a:solidFill>
              <a:srgbClr val="CF2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" y="31272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2328"/>
                </a:solidFill>
                <a:latin typeface="Arial"/>
              </a:rPr>
              <a:t>1GB 随机访问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306324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Host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7382" y="3273552"/>
            <a:ext cx="173181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CF222E"/>
                </a:solidFill>
                <a:latin typeface="Courier New"/>
              </a:rPr>
              <a:t>110.94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306324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VM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199" y="3273552"/>
            <a:ext cx="173736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CF222E"/>
                </a:solidFill>
                <a:latin typeface="Courier New"/>
              </a:rPr>
              <a:t>321.89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30632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倍率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2735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CF222E"/>
                </a:solidFill>
                <a:latin typeface="Courier New"/>
              </a:rPr>
              <a:t>2.9x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16052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6700"/>
                </a:solidFill>
                <a:latin typeface="Arial"/>
              </a:rPr>
              <a:t>虚拟机绝对延迟更高，但趋势仍然能够反映缓存层级变化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c) 顺序访问 vs 随机访问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pt_host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4160520" cy="2329891"/>
          </a:xfrm>
          <a:prstGeom prst="rect">
            <a:avLst/>
          </a:prstGeom>
        </p:spPr>
      </p:pic>
      <p:pic>
        <p:nvPicPr>
          <p:cNvPr id="5" name="Picture 4" descr="ppt_vm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051560"/>
            <a:ext cx="4160520" cy="23298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4988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6700"/>
                </a:solidFill>
                <a:latin typeface="Arial"/>
              </a:rPr>
              <a:t>顺序访问被硬件预取器优化，曲线更平；随机访问更能暴露 Cache 层级台阶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c) 关键数据摘录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工作集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Host 顺序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Host 随机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VM 顺序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VM 随机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32KB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1.96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0.97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7.95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2.49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64KB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2.00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3.12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7.32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17.68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2MB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1.95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6.50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6.16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40.56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16MB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2.18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54.48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8.74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203.46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1GB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3.03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110.94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11.22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321.89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88620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6700"/>
                </a:solidFill>
                <a:latin typeface="Arial"/>
              </a:rPr>
              <a:t>随机访问在 64KB、2MB、十几 MB 后台阶明显；虚拟机在大工作集下延迟被进一步放大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c) 虚拟机延迟偏高的原因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3886200" cy="91440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54864" cy="914400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4944" y="1170431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328"/>
                </a:solidFill>
                <a:latin typeface="Arial"/>
              </a:rPr>
              <a:t>vCPU 调度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9047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56D76"/>
                </a:solidFill>
                <a:latin typeface="Arial"/>
              </a:rPr>
              <a:t>虚拟机只有 2 个 vCPU，实验线程由宿主机调度，可能暂停、迁移或被抢占。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800600" y="1051560"/>
            <a:ext cx="3886200" cy="91440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800600" y="1051560"/>
            <a:ext cx="54864" cy="914400"/>
          </a:xfrm>
          <a:prstGeom prst="rect">
            <a:avLst/>
          </a:prstGeom>
          <a:solidFill>
            <a:srgbClr val="1A7F37"/>
          </a:solidFill>
          <a:ln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38344" y="1170431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328"/>
                </a:solidFill>
                <a:latin typeface="Arial"/>
              </a:rPr>
              <a:t>Cache 不独占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38344" y="149047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>
                <a:solidFill>
                  <a:srgbClr val="656D76"/>
                </a:solidFill>
                <a:latin typeface="Arial"/>
              </a:rPr>
              <a:t>L3 </a:t>
            </a:r>
            <a:r>
              <a:rPr sz="1200" b="0" dirty="0" err="1">
                <a:solidFill>
                  <a:srgbClr val="656D76"/>
                </a:solidFill>
                <a:latin typeface="Arial"/>
              </a:rPr>
              <a:t>是共享资源，虚拟机无法独占宿主机</a:t>
            </a:r>
            <a:r>
              <a:rPr sz="1200" b="0" dirty="0">
                <a:solidFill>
                  <a:srgbClr val="656D76"/>
                </a:solidFill>
                <a:latin typeface="Arial"/>
              </a:rPr>
              <a:t> L3，与其他进程互相干扰。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3886200" cy="91440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331720"/>
            <a:ext cx="54864" cy="914400"/>
          </a:xfrm>
          <a:prstGeom prst="rect">
            <a:avLst/>
          </a:prstGeom>
          <a:solidFill>
            <a:srgbClr val="9A6700"/>
          </a:solidFill>
          <a:ln>
            <a:solidFill>
              <a:srgbClr val="9A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" y="2450591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328"/>
                </a:solidFill>
                <a:latin typeface="Arial"/>
              </a:rPr>
              <a:t>内存虚拟化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77063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 err="1">
                <a:solidFill>
                  <a:srgbClr val="656D76"/>
                </a:solidFill>
                <a:latin typeface="Arial"/>
              </a:rPr>
              <a:t>虚拟地址到宿主机物理地址存在额外映射，随机访问会放大</a:t>
            </a:r>
            <a:r>
              <a:rPr sz="1200" b="0" dirty="0">
                <a:solidFill>
                  <a:srgbClr val="656D76"/>
                </a:solidFill>
                <a:latin typeface="Arial"/>
              </a:rPr>
              <a:t> TLB </a:t>
            </a:r>
            <a:r>
              <a:rPr sz="1200" b="0" dirty="0" err="1">
                <a:solidFill>
                  <a:srgbClr val="656D76"/>
                </a:solidFill>
                <a:latin typeface="Arial"/>
              </a:rPr>
              <a:t>和页表开销</a:t>
            </a:r>
            <a:r>
              <a:rPr sz="1200" b="0" dirty="0">
                <a:solidFill>
                  <a:srgbClr val="656D76"/>
                </a:solidFill>
                <a:latin typeface="Arial"/>
              </a:rPr>
              <a:t>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00600" y="2331720"/>
            <a:ext cx="3886200" cy="91440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800600" y="2331720"/>
            <a:ext cx="54864" cy="914400"/>
          </a:xfrm>
          <a:prstGeom prst="rect">
            <a:avLst/>
          </a:prstGeom>
          <a:solidFill>
            <a:srgbClr val="CF222E"/>
          </a:solidFill>
          <a:ln>
            <a:solidFill>
              <a:srgbClr val="CF2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38344" y="2450591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328"/>
                </a:solidFill>
                <a:latin typeface="Arial"/>
              </a:rPr>
              <a:t>后台负载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38344" y="277063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 err="1">
                <a:solidFill>
                  <a:srgbClr val="656D76"/>
                </a:solidFill>
                <a:latin typeface="Arial"/>
              </a:rPr>
              <a:t>Windows、VMware、图形界面和安全服务都会影响</a:t>
            </a:r>
            <a:r>
              <a:rPr sz="1200" b="0" dirty="0">
                <a:solidFill>
                  <a:srgbClr val="656D76"/>
                </a:solidFill>
                <a:latin typeface="Arial"/>
              </a:rPr>
              <a:t> CPU </a:t>
            </a:r>
            <a:r>
              <a:rPr sz="1200" b="0" dirty="0" err="1">
                <a:solidFill>
                  <a:srgbClr val="656D76"/>
                </a:solidFill>
                <a:latin typeface="Arial"/>
              </a:rPr>
              <a:t>与内存带宽</a:t>
            </a:r>
            <a:r>
              <a:rPr sz="1200" b="0" dirty="0">
                <a:solidFill>
                  <a:srgbClr val="656D76"/>
                </a:solidFill>
                <a:latin typeface="Arial"/>
              </a:rPr>
              <a:t>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11480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6700"/>
                </a:solidFill>
                <a:latin typeface="Arial"/>
              </a:rPr>
              <a:t>所以：虚拟机实验重点看趋势和拐点，不直接把绝对 ns 值当作裸机性能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c) 扩展二：固定 CPU 核心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868" y="1188720"/>
            <a:ext cx="3931920" cy="105156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732" y="1270337"/>
            <a:ext cx="352958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 err="1">
                <a:solidFill>
                  <a:srgbClr val="1F2328"/>
                </a:solidFill>
                <a:latin typeface="Courier New"/>
              </a:rPr>
              <a:t>普通运行</a:t>
            </a:r>
            <a:r>
              <a:rPr sz="1200" b="0" dirty="0">
                <a:solidFill>
                  <a:srgbClr val="1F2328"/>
                </a:solidFill>
                <a:latin typeface="Courier New"/>
              </a:rPr>
              <a:t>:
./</a:t>
            </a:r>
            <a:r>
              <a:rPr sz="1200" b="0" dirty="0" err="1">
                <a:solidFill>
                  <a:srgbClr val="1F2328"/>
                </a:solidFill>
                <a:latin typeface="Courier New"/>
              </a:rPr>
              <a:t>wss_scan</a:t>
            </a:r>
            <a:endParaRPr lang="en-US" sz="1200" dirty="0">
              <a:solidFill>
                <a:srgbClr val="1F2328"/>
              </a:solidFill>
              <a:latin typeface="Courier New"/>
            </a:endParaRPr>
          </a:p>
          <a:p>
            <a:r>
              <a:rPr sz="1200" b="0" dirty="0">
                <a:solidFill>
                  <a:srgbClr val="1F2328"/>
                </a:solidFill>
                <a:latin typeface="Courier New"/>
              </a:rPr>
              <a:t>
</a:t>
            </a:r>
            <a:r>
              <a:rPr sz="1200" b="0" dirty="0" err="1">
                <a:solidFill>
                  <a:srgbClr val="1F2328"/>
                </a:solidFill>
                <a:latin typeface="Courier New"/>
              </a:rPr>
              <a:t>固定核心</a:t>
            </a:r>
            <a:r>
              <a:rPr sz="1200" b="0" dirty="0">
                <a:solidFill>
                  <a:srgbClr val="1F2328"/>
                </a:solidFill>
                <a:latin typeface="Courier New"/>
              </a:rPr>
              <a:t>:
taskset -c 0 ./</a:t>
            </a:r>
            <a:r>
              <a:rPr sz="1200" b="0" dirty="0" err="1">
                <a:solidFill>
                  <a:srgbClr val="1F2328"/>
                </a:solidFill>
                <a:latin typeface="Courier New"/>
              </a:rPr>
              <a:t>wss_scan</a:t>
            </a:r>
            <a:endParaRPr sz="1200" b="0" dirty="0">
              <a:solidFill>
                <a:srgbClr val="1F2328"/>
              </a:solidFill>
              <a:latin typeface="Courier New"/>
            </a:endParaRPr>
          </a:p>
        </p:txBody>
      </p:sp>
      <p:pic>
        <p:nvPicPr>
          <p:cNvPr id="6" name="Picture 5" descr="ppt_vm_pinned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960120"/>
            <a:ext cx="4160520" cy="232989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2514600"/>
            <a:ext cx="3931920" cy="91440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2514600"/>
            <a:ext cx="54864" cy="914400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2633472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328"/>
                </a:solidFill>
                <a:latin typeface="Arial"/>
              </a:rPr>
              <a:t>实验目的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953512"/>
            <a:ext cx="3520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 err="1">
                <a:solidFill>
                  <a:srgbClr val="656D76"/>
                </a:solidFill>
                <a:latin typeface="Arial"/>
              </a:rPr>
              <a:t>减少线程在</a:t>
            </a:r>
            <a:r>
              <a:rPr sz="1200" b="0" dirty="0">
                <a:solidFill>
                  <a:srgbClr val="656D76"/>
                </a:solidFill>
                <a:latin typeface="Arial"/>
              </a:rPr>
              <a:t> vCPU </a:t>
            </a:r>
            <a:r>
              <a:rPr sz="1200" b="0" dirty="0" err="1">
                <a:solidFill>
                  <a:srgbClr val="656D76"/>
                </a:solidFill>
                <a:latin typeface="Arial"/>
              </a:rPr>
              <a:t>之间迁移，降低调度带来的测量抖动</a:t>
            </a:r>
            <a:r>
              <a:rPr sz="1200" b="0" dirty="0">
                <a:solidFill>
                  <a:srgbClr val="656D76"/>
                </a:solidFill>
                <a:latin typeface="Arial"/>
              </a:rPr>
              <a:t>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611880"/>
            <a:ext cx="3931920" cy="85852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66344" y="3611880"/>
            <a:ext cx="45719" cy="858520"/>
          </a:xfrm>
          <a:prstGeom prst="rect">
            <a:avLst/>
          </a:prstGeom>
          <a:solidFill>
            <a:srgbClr val="1A7F37"/>
          </a:solidFill>
          <a:ln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4944" y="3730752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1F2328"/>
                </a:solidFill>
                <a:latin typeface="Arial"/>
              </a:rPr>
              <a:t>1GB </a:t>
            </a:r>
            <a:r>
              <a:rPr sz="1300" b="1" dirty="0" err="1">
                <a:solidFill>
                  <a:srgbClr val="1F2328"/>
                </a:solidFill>
                <a:latin typeface="Arial"/>
              </a:rPr>
              <a:t>结果</a:t>
            </a:r>
            <a:endParaRPr sz="1300" b="1" dirty="0">
              <a:solidFill>
                <a:srgbClr val="1F2328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4944" y="4050791"/>
            <a:ext cx="3520439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56D76"/>
                </a:solidFill>
                <a:latin typeface="Arial"/>
              </a:rPr>
              <a:t>普通 367.73 ns → 固定 318.95 ns，下降约 13.3%</a:t>
            </a:r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FCA331CE-DFC2-A136-F5B4-2A6347DDC202}"/>
              </a:ext>
            </a:extLst>
          </p:cNvPr>
          <p:cNvSpPr/>
          <p:nvPr/>
        </p:nvSpPr>
        <p:spPr>
          <a:xfrm>
            <a:off x="457200" y="1188720"/>
            <a:ext cx="54864" cy="1051560"/>
          </a:xfrm>
          <a:prstGeom prst="rect">
            <a:avLst/>
          </a:prstGeom>
          <a:solidFill>
            <a:srgbClr val="CF222E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c) 固定核心运行效果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4300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工作集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普通运行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固定核心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变化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1MB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42.49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28.48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下降 33.0%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8MB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121.64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97.00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下降 20.3%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64MB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254.28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236.53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下降 7.0%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256MB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319.39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273.03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下降 14.5%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1GB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367.73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318.95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下降 13.3%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429000"/>
            <a:ext cx="7863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656D76"/>
                </a:solidFill>
                <a:latin typeface="Arial"/>
              </a:defRPr>
            </a:pPr>
            <a:r>
              <a:t>固定核心后多数工作集延迟降低，说明 vCPU 迁移和调度确实会影响测量。</a:t>
            </a:r>
          </a:p>
          <a:p>
            <a:pPr>
              <a:spcAft>
                <a:spcPts val="600"/>
              </a:spcAft>
              <a:defRPr sz="1300">
                <a:solidFill>
                  <a:srgbClr val="656D76"/>
                </a:solidFill>
                <a:latin typeface="Arial"/>
              </a:defRPr>
            </a:pPr>
            <a:r>
              <a:t>16MB 附近差异很小，说明固定核心不能消除所有虚拟化开销。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c) 实验判断总结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713232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54864" cy="713232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207007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2328"/>
                </a:solidFill>
                <a:latin typeface="Arial"/>
              </a:rPr>
              <a:t>Cache 边界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14300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L1d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3533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969DA"/>
                </a:solidFill>
                <a:latin typeface="Courier New"/>
              </a:rPr>
              <a:t>48K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14300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L2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3533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969DA"/>
                </a:solidFill>
                <a:latin typeface="Courier New"/>
              </a:rPr>
              <a:t>2M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11430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L3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13533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969DA"/>
                </a:solidFill>
                <a:latin typeface="Courier New"/>
              </a:rPr>
              <a:t>36M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965960"/>
            <a:ext cx="8229600" cy="713232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965960"/>
            <a:ext cx="54864" cy="713232"/>
          </a:xfrm>
          <a:prstGeom prst="rect">
            <a:avLst/>
          </a:prstGeom>
          <a:solidFill>
            <a:srgbClr val="1A7F37"/>
          </a:solidFill>
          <a:ln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" y="21214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2328"/>
                </a:solidFill>
                <a:latin typeface="Arial"/>
              </a:rPr>
              <a:t>访问模式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05740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Seq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2677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7F37"/>
                </a:solidFill>
                <a:latin typeface="Courier New"/>
              </a:rPr>
              <a:t>平滑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05740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Rand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2677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7F37"/>
                </a:solidFill>
                <a:latin typeface="Courier New"/>
              </a:rPr>
              <a:t>台阶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20574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选择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22677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7F37"/>
                </a:solidFill>
                <a:latin typeface="Courier New"/>
              </a:rPr>
              <a:t>Rand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880360"/>
            <a:ext cx="8229600" cy="713232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2880360"/>
            <a:ext cx="54864" cy="713232"/>
          </a:xfrm>
          <a:prstGeom prst="rect">
            <a:avLst/>
          </a:prstGeom>
          <a:solidFill>
            <a:srgbClr val="CF222E"/>
          </a:solidFill>
          <a:ln>
            <a:solidFill>
              <a:srgbClr val="CF2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" y="30358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2328"/>
                </a:solidFill>
                <a:latin typeface="Arial"/>
              </a:rPr>
              <a:t>虚拟化影响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297180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Host 1GB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06618" y="3182112"/>
            <a:ext cx="172258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CF222E"/>
                </a:solidFill>
                <a:latin typeface="Courier New"/>
              </a:rPr>
              <a:t>110.94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297180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VM 1GB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43979" y="3182112"/>
            <a:ext cx="172258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CF222E"/>
                </a:solidFill>
                <a:latin typeface="Courier New"/>
              </a:rPr>
              <a:t>321.89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29718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倍率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1821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CF222E"/>
                </a:solidFill>
                <a:latin typeface="Courier New"/>
              </a:rPr>
              <a:t>2.9x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16052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6700"/>
                </a:solidFill>
                <a:latin typeface="Arial"/>
              </a:rPr>
              <a:t>关键判断：随机 pointer chasing 更适合本题；虚拟机结果可看趋势，不宜看作裸机绝对性能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c) 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7863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656D76"/>
                </a:solidFill>
                <a:latin typeface="Arial"/>
              </a:defRPr>
            </a:pPr>
            <a:r>
              <a:t>1. 本实验采用 /sys/.../cpu0/cache 作为主边界：L1d=48KB、L2=2MB、L3=36MB。</a:t>
            </a:r>
          </a:p>
          <a:p>
            <a:pPr>
              <a:spcAft>
                <a:spcPts val="600"/>
              </a:spcAft>
              <a:defRPr sz="1300">
                <a:solidFill>
                  <a:srgbClr val="656D76"/>
                </a:solidFill>
                <a:latin typeface="Arial"/>
              </a:defRPr>
            </a:pPr>
            <a:r>
              <a:t>2. 顺序访问受硬件预取器优化，延迟低且曲线平滑；随机访问更容易看见缓存层级台阶。</a:t>
            </a:r>
          </a:p>
          <a:p>
            <a:pPr>
              <a:spcAft>
                <a:spcPts val="600"/>
              </a:spcAft>
              <a:defRPr sz="1300">
                <a:solidFill>
                  <a:srgbClr val="656D76"/>
                </a:solidFill>
                <a:latin typeface="Arial"/>
              </a:defRPr>
            </a:pPr>
            <a:r>
              <a:t>3. 虚拟机随机访问延迟明显高于宿主机，大工作集下差异最明显。</a:t>
            </a:r>
          </a:p>
          <a:p>
            <a:pPr>
              <a:spcAft>
                <a:spcPts val="600"/>
              </a:spcAft>
              <a:defRPr sz="1300">
                <a:solidFill>
                  <a:srgbClr val="656D76"/>
                </a:solidFill>
                <a:latin typeface="Arial"/>
              </a:defRPr>
            </a:pPr>
            <a:r>
              <a:t>4. 固定 CPU 核心后多数工作集延迟下降，1GB 工作集下降约 13.3%。</a:t>
            </a:r>
          </a:p>
          <a:p>
            <a:pPr>
              <a:spcAft>
                <a:spcPts val="600"/>
              </a:spcAft>
              <a:defRPr sz="1300">
                <a:solidFill>
                  <a:srgbClr val="656D76"/>
                </a:solidFill>
                <a:latin typeface="Arial"/>
              </a:defRPr>
            </a:pPr>
            <a:r>
              <a:t>5. 虚拟机中可以观察容量边界，但报告中应重点分析趋势和转折点。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60520"/>
            <a:ext cx="8229600" cy="475488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315968"/>
            <a:ext cx="7863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56D76"/>
                </a:solidFill>
                <a:latin typeface="Arial"/>
              </a:rPr>
              <a:t>数据来源：Ubuntu 虚拟机实测 + Windows 宿主机实测 + /sys/devices/system/cpu/cpu0/cache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d/e) 实验环境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4323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项目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配置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CPU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AMD Ryzen 7 9700X (Zen 5, 8C/16T, 最高 5.58GHz)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内存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96GB DDR5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系统盘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Samsung 990 PRO 2TB (PCIe 4.0 x4 NVMe)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操作系统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Ubuntu 22.04 (Linux 6.8.0-111-generic)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文件系统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ext4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测试工具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fio v3.28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定位：高端桌面 / 工作站级别，代表 2024 年消费级存储性能上限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7850190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d/e) 测试方法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772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7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fio --ioengine=libaio --direct=1 --bs=4k --rw=randread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7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--iodepth={1,32} --size=1G --runtime=30 --time_based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关键参数说明：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块大小        4KB（模拟数据库/文件系统元数据访问模式）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I/O 深度      QD=1 (单线程同步) / QD=32 (高并发异步)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引擎          libaio (Linux 异步 I/O)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直接 I/O      O_DIRECT，绕过页缓存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测试模式      randread / randwrite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测试时长      30 秒 (time_based)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5625679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d/e) 本机实测结果 — Samsung 990 PRO 2TB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432304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测试项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QD=1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QD=32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QD=32 / QD=1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随机 4K 读 IOPS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21,370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583,901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27.3x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随机 4K 写 IOPS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70,232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458,704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6.5x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随机 4K 读带宽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83.5 MB/s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2,280.9 MB/s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27.3x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随机 4K 写带宽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274.3 MB/s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1,791.8 MB/s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6.5x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随机 4K 读延迟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45.7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53.3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随机 4K 写延迟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12.9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67.8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写延迟 (12.9μs) 远低于读延迟 (45.7μs) — 990 PRO 的 SLC 缓存写入极快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0827958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d/e) 延迟百分位分布（实测）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138988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百分位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4K读 QD=1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4K读 QD=32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4K写 QD=1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4K写 QD=32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P50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46.3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51.5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13.0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68.1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P99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48.9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84.5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14.1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81.4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P99.9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64.3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122.4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17.3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138.2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结论：延迟极度集中</a:t>
            </a:r>
            <a:endParaRPr lang="en-US" sz="1600" dirty="0"/>
          </a:p>
        </p:txBody>
      </p:sp>
      <p:sp>
        <p:nvSpPr>
          <p:cNvPr id="4" name="Text 3"/>
          <p:cNvSpPr/>
          <p:nvPr/>
        </p:nvSpPr>
        <p:spPr>
          <a:xfrm>
            <a:off x="640080" y="32004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随机 4K 读 QD=1：95% 请求落在 38-47 μs 极窄区间（P1=37.6μs, P95=47.4μs）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P99.9 仅 64.3 μs，尾延迟控制极佳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极少数离群点 ~218 μs (P99.99)，由 GC / FTL 缓存未命中导致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459546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d/e) 三类存储随机 4K 读性能对比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138988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设备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IOPS (QD=1)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IOPS (QD=32)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延迟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来源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990 PRO (NVMe)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21,370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583,901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45.7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fio 实测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860 EVO (SATA)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10,000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98,000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~100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Samsung DS [1]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Barracuda (HDD 7200)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~79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~150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~12.7 ms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Seagate DS [2]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457200" y="2926080"/>
          <a:ext cx="822960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982266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d/e) 性能差距总结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051560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4864" cy="1051560"/>
          </a:xfrm>
          <a:prstGeom prst="rect">
            <a:avLst/>
          </a:prstGeom>
          <a:solidFill>
            <a:srgbClr val="CF22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NVMe vs HDD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0" y="1234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QD=1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0" y="15087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270x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0" y="1234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QD=32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0" y="1508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3,900x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1051560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54864" cy="1051560"/>
          </a:xfrm>
          <a:prstGeom prst="rect">
            <a:avLst/>
          </a:prstGeom>
          <a:solidFill>
            <a:srgbClr val="9A67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31520" y="2514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NVMe vs SATA SSD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0" y="2468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QD=1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0" y="27432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A6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2.1x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00800" y="2468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QD=32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2743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A6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6.0x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8229600" cy="1051560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54864" cy="1051560"/>
          </a:xfrm>
          <a:prstGeom prst="rect">
            <a:avLst/>
          </a:prstGeom>
          <a:solidFill>
            <a:srgbClr val="BC4C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31520" y="3749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SATA SSD vs HDD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14800" y="3703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QD=1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0" y="39776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C4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127x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40080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QD=32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3977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C4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650x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NVMe 在高队列深度下优势呈指数级放大 — 协议层多队列并行的本质差异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739308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d/e) 延迟分布特征对比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NVMe SSD — 极窄单峰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主峰: 38-47 μs (95%请求)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P99: 48.9 μs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P99.9: 64.3 μs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P99.99: ~218 μs (GC尾延迟)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分布特征: 单峰、极窄、尾延迟收敛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93776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F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HDD — 宽峰长尾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69164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主峰: 4-8 ms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长尾: 延伸至 20-50 ms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寻道时间: 平均 4-8 ms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旋转等待: 平均 4.17 ms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分布特征: 宽峰、明显长尾、双物理过程叠加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NVMe 延迟比 HDD 低 2-3 个数量级，且分布宽度差异更为悬殊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6674032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d/e) SSD 是否真的"没有寻道时间"？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4864" cy="1005840"/>
          </a:xfrm>
          <a:prstGeom prst="rect">
            <a:avLst/>
          </a:prstGeom>
          <a:solidFill>
            <a:srgbClr val="1A7F3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FTL 地址翻译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逻辑地址 → 物理 NAND 页地址映射查找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通常缓存在 SSD DRAM 中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0" y="1417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A7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~1-5 μs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8229600" cy="1005840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54864" cy="1005840"/>
          </a:xfrm>
          <a:prstGeom prst="rect">
            <a:avLst/>
          </a:prstGeom>
          <a:solidFill>
            <a:srgbClr val="9A67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31520" y="2468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NAND 页读取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7889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从闪存芯片读出数据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TLC: 50-75 μs / QLC: 100-150 μs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0" y="2606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9A6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50-150 μs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8229600" cy="1005840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54864" cy="1005840"/>
          </a:xfrm>
          <a:prstGeom prst="rect">
            <a:avLst/>
          </a:prstGeom>
          <a:solidFill>
            <a:srgbClr val="CF22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31520" y="3657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通道/芯片竞争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9776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多个请求竞争同一 NAND die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产生排队延迟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0" y="3794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可变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96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结论：SSD 无机械寻道，但存在电子“逻辑寻道”开销 — 比 HDD 快 2-3 个数量级，但非零延迟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3899820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d/e) 不同硬件配置对比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7772400" cy="208483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配置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设备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IOPS QD=1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IOPS QD=32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延迟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本机 (桌面)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990 PRO NVMe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21,370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583,901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45.7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笔记本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SN770 NVMe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740,000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服务器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Optane P5800X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1,500,000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&lt;6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旧笔记本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860 EVO SATA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10,000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98,000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~100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台式机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Barracuda HDD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~79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~150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~12.7 ms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Optane (3D XPoint) 延迟仅 6μs — 比 NAND 快一个数量级，接近 DRAM 级别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数据来源：本机 fio 实测 + Samsung/Seagate/WD/Intel 官方 Datasheet &amp; Product Brief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6541604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d/e) SATA SSD vs NVMe SSD 关键差异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432304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维度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SATA SSD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NVMe SSD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接口协议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AHCI (单队列, 深度32)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NVMe (64K队列, 每队列64K深度)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带宽上限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~600 MB/s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PCIe 4.0 x4: ~7,000 MB/s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4K读 QD=1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~10,000 IOPS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~20,000+ IOPS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4K读 QD=32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~98,000 IOPS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~580,000-1,000,000 IOPS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扩展性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受限于单队列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多队列并行，线性扩展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典型场景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旧平台升级、预算方案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主流新装机、高性能需求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96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核心结论：NVMe 在高 QD 场景优势最显著 — 协议层多队列并行的本质差异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184605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d/e) DDR4 vs DDR5 对存储子系统的影响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17373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项目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DDR4-3200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DDR5-5600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内存带宽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~50 GB/s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~85 GB/s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内存延迟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~80 ns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~90 ns (CL略高)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对 NVMe 影响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页缓存走内存通道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更高带宽利于大文件缓存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对 FTL 影响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映射表在 SSD DRAM 中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与主机内存无关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291840"/>
            <a:ext cx="8229600" cy="1463040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640080" y="338328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关键结论：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DDR5 首字延迟略高于 DDR4（CAS latency 绝对时间更长）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带宽优势在大块顺序访问场景下显著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对随机 4K 小 IO 场景，主机内存代际差异影响有限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瓶颈在 NAND 本身，而非主机内存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2696897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d/e) 各配置特点总结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621792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4864" cy="621792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笔记本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77440" y="1188720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单盘 NVMe，受散热限制可能降速，512GB-1TB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47088"/>
            <a:ext cx="8229600" cy="621792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57200" y="1847088"/>
            <a:ext cx="54864" cy="621792"/>
          </a:xfrm>
          <a:prstGeom prst="rect">
            <a:avLst/>
          </a:prstGeom>
          <a:solidFill>
            <a:srgbClr val="1A7F3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31520" y="1938528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台式机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77440" y="1938528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多盘组合 (NVMe + HDD)，散热好，持续性能稳定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96896"/>
            <a:ext cx="8229600" cy="621792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57200" y="2596896"/>
            <a:ext cx="54864" cy="621792"/>
          </a:xfrm>
          <a:prstGeom prst="rect">
            <a:avLst/>
          </a:prstGeom>
          <a:solidFill>
            <a:srgbClr val="BC4C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31520" y="2688336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服务器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377440" y="2688336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企业级 SSD，高耐久度，Optane 缓存层，RAID 阵列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46704"/>
            <a:ext cx="8229600" cy="621792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57200" y="3346704"/>
            <a:ext cx="54864" cy="621792"/>
          </a:xfrm>
          <a:prstGeom prst="rect">
            <a:avLst/>
          </a:prstGeom>
          <a:solidFill>
            <a:srgbClr val="656D7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31520" y="3438144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DDR4 平台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377440" y="3438144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PCIe 3.0 为主，NVMe 带宽上限 ~3.5 GB/s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096512"/>
            <a:ext cx="8229600" cy="621792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57200" y="4096512"/>
            <a:ext cx="54864" cy="621792"/>
          </a:xfrm>
          <a:prstGeom prst="rect">
            <a:avLst/>
          </a:prstGeom>
          <a:solidFill>
            <a:srgbClr val="1A7F3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31520" y="418795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DDR5 平台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377440" y="4187952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PCIe 4.0/5.0，NVMe 带宽 7-14 GB/s，CPU 缓存更大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2858304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d/e) 结论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NVMe vs HDD 性能差距达 2-3 个数量级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随机 4K 读：270x (QD=1) ~ 3,900x (QD=32)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NVMe 延迟分布极度集中（单峰），HDD 呈明显长尾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990 PRO: 95%请求在 38-47μs；HDD: 4-50ms 宽分布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SSD 无机械寻道，但存在电子逻辑寻道开销（FTL + NAND读取）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NVMe 高 QD 优势来自协议层多队列并行（vs AHCI 单队列）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Optane 延迟 ~6μs，接近 DRAM 级别，代表存储层次的未来方向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40080" y="42519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数据来源：本机 fio 实测 + Samsung/Seagate/WD/Intel 官方 Datasheet &amp; Product Brief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277317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3741</Words>
  <Application>Microsoft Office PowerPoint</Application>
  <PresentationFormat>全屏显示(16:9)</PresentationFormat>
  <Paragraphs>865</Paragraphs>
  <Slides>37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37</vt:i4>
      </vt:variant>
    </vt:vector>
  </HeadingPairs>
  <TitlesOfParts>
    <vt:vector size="45" baseType="lpstr">
      <vt:lpstr>等线</vt:lpstr>
      <vt:lpstr>Arial</vt:lpstr>
      <vt:lpstr>Arial Black</vt:lpstr>
      <vt:lpstr>Calibri</vt:lpstr>
      <vt:lpstr>Consolas</vt:lpstr>
      <vt:lpstr>Courier New</vt:lpstr>
      <vt:lpstr>Office Theme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彭宇翔</dc:creator>
  <cp:keywords/>
  <dc:description>generated using python-pptx</dc:description>
  <cp:lastModifiedBy>1 1</cp:lastModifiedBy>
  <cp:revision>7</cp:revision>
  <dcterms:created xsi:type="dcterms:W3CDTF">2013-01-27T09:14:16Z</dcterms:created>
  <dcterms:modified xsi:type="dcterms:W3CDTF">2026-05-19T10:54:56Z</dcterms:modified>
  <cp:category/>
</cp:coreProperties>
</file>
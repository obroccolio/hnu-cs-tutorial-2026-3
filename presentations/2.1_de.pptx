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7" r:id="rId5"/>
    <p:sldId id="269" r:id="rId6"/>
    <p:sldId id="270" r:id="rId7"/>
    <p:sldId id="266" r:id="rId8"/>
    <p:sldId id="271" r:id="rId9"/>
    <p:sldId id="272" r:id="rId10"/>
    <p:sldId id="273" r:id="rId11"/>
    <p:sldId id="274" r:id="rId12"/>
    <p:sldId id="275" r:id="rId13"/>
    <p:sldId id="277" r:id="rId14"/>
    <p:sldId id="278" r:id="rId15"/>
    <p:sldId id="279" r:id="rId16"/>
    <p:sldId id="259" r:id="rId17"/>
    <p:sldId id="260" r:id="rId18"/>
    <p:sldId id="261" r:id="rId19"/>
    <p:sldId id="26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F37"/>
    <a:srgbClr val="BC4C00"/>
    <a:srgbClr val="0969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63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2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3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E8D5-B379-9ED7-DA1B-5F3AAE62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7C462-5FCA-11C1-9972-1606595BA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65A7B-E1FE-6338-69F0-BA985B57C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695F5-AB4B-A5AA-3498-C37AE53D95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4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8501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959B-0828-2989-C850-D3AF5674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9C635-CDB5-D20D-279A-3299965EC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28BCD-143A-F78E-BDCC-83720BAC2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BB438-021B-5022-3A5F-579947D5C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5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2557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DEC5-69A0-81E4-21A0-0DED51D6F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C3440-9C8A-1AB3-781B-A4ED835D8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BA28E-39F3-139B-85A7-DC0952DAB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6182E-EE94-7CBA-DE3E-0DF3FCC6C2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6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9043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D708-04B6-DB72-F61E-5E33B650E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76D0F-48A6-D720-9336-64EBF8462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8DA99-6C6A-AA3A-7B58-CF448059D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2B3D9-8F7D-7DC8-DD41-B904ACFD3D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7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2076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1073C-F59B-318B-C098-4B38DC26D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94CA6-BFD8-B7AB-C777-252948483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E8213-1241-5122-1D77-3FA1CB916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B5021-D6D5-6167-FA0A-B7F3B1DBF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8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0056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58F86-1CCA-C768-DBE0-E3E017CA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B1F88-EBA4-87C6-956A-6A92BC931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EFE03-5395-76FB-AF24-ED3F70342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DBBA4-127D-8D17-F00C-D49B8948B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9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7468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6EE4A-00DD-7D7F-6C90-EC33456D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D0FB6-3507-D1BD-28DA-CA0205A72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8F039-2218-4A9D-359A-3F738D2F2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EE998-251F-F6D3-098B-381971769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10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010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62079-757B-0415-E949-92179F51E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03F4A-2FEB-4799-5789-8CE3B3D61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35CA9-5CF1-A8A5-09EB-1B23E8251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70C50-62D1-5C7F-E16B-BEB7C8772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11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5371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74A6-2169-CDAA-D450-2AD207D1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A5D16-4DF5-2E01-5F2C-DA7DC336B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C6185-0DED-1FB8-DA57-EDC30E2F6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24AAB-15EF-D534-9CBA-4E3EC367F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12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6082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B6C9-2F58-AF67-F1BC-960BD3E2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F6773-35D7-C190-2D6D-522E7D13A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24530-3002-82EB-A31A-F0E3B6D37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1BD23-62D4-DF5C-E036-F883421E17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13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152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F45AE-B5E4-E3A5-5E40-B279F139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9A376-E298-9B63-E3B6-3A3B8A2DA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7D964-1903-2277-E14E-1A966222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9E796-50EE-63F4-5AEF-16BB4A84BB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14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471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2BC0-2E16-FC17-3590-3A90035C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9A3BB-F30C-2F45-A94E-FE5C55D15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E885F-AA59-9FA4-FA9E-231CF613A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F2D6B-7D67-FE46-AD37-EEA4D8B624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15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3320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16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17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18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19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72084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04088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6092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8096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0100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32104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2084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4088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6092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8096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0100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2104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2084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04088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6092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8096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0100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32104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2084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04088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6092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8096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0100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32104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2084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04088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36092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8096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0100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32104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31520" y="1005840"/>
            <a:ext cx="1280160" cy="292608"/>
          </a:xfrm>
          <a:prstGeom prst="rect">
            <a:avLst/>
          </a:prstGeom>
          <a:solidFill>
            <a:srgbClr val="343B43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1520" y="10058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 2.1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1508760"/>
            <a:ext cx="640080" cy="4114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1520" y="1691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循环顺序之争</a:t>
            </a:r>
            <a:endParaRPr lang="en-US" sz="4400" dirty="0"/>
          </a:p>
        </p:txBody>
      </p:sp>
      <p:sp>
        <p:nvSpPr>
          <p:cNvPr id="42" name="Shape 4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0" y="4297680"/>
            <a:ext cx="9144000" cy="1371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alibri" pitchFamily="34" charset="-120"/>
              </a:rPr>
              <a:t>问题</a:t>
            </a:r>
            <a:r>
              <a:rPr lang="zh-CN" altLang="en-US" sz="2800" b="1" dirty="0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alibri" pitchFamily="34" charset="-120"/>
              </a:rPr>
              <a:t>描述</a:t>
            </a:r>
            <a:endParaRPr lang="en-US" sz="28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39" y="868680"/>
            <a:ext cx="1596683" cy="685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39" y="2251710"/>
            <a:ext cx="4572000" cy="320040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19" y="234772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6967" y="234772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2415" y="234772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59" y="227457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gemm_loop_order.c</a:t>
            </a:r>
            <a:endParaRPr lang="en-US" sz="9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39" y="2576322"/>
            <a:ext cx="457200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19" y="2667762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// C = A × B, N = 1001
</a:t>
            </a:r>
            <a:r>
              <a:rPr lang="en-US" sz="1200" dirty="0">
                <a:solidFill>
                  <a:srgbClr val="CF222E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for </a:t>
            </a:r>
            <a:r>
              <a:rPr lang="en-US" sz="1200" dirty="0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(i = 0; i &lt; N; i++)
</a:t>
            </a:r>
            <a:r>
              <a:rPr lang="en-US" sz="1200" dirty="0">
                <a:solidFill>
                  <a:srgbClr val="CF222E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  for </a:t>
            </a:r>
            <a:r>
              <a:rPr lang="en-US" sz="1200" dirty="0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(j = 0; j &lt; N; j++)
</a:t>
            </a:r>
            <a:r>
              <a:rPr lang="en-US" sz="1200" dirty="0">
                <a:solidFill>
                  <a:srgbClr val="CF222E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    for </a:t>
            </a:r>
            <a:r>
              <a:rPr lang="en-US" sz="1200" dirty="0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(k = 0; k &lt; N; k++)
</a:t>
            </a:r>
            <a:r>
              <a:rPr lang="en-US" sz="1200" dirty="0">
                <a:solidFill>
                  <a:srgbClr val="0969DA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      C[i][j] += A[i][k] * B[k][j];</a:t>
            </a:r>
            <a:endParaRPr lang="en-US" sz="12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39" y="1133856"/>
            <a:ext cx="8183880" cy="912114"/>
          </a:xfrm>
          <a:prstGeom prst="rect">
            <a:avLst/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1133856"/>
            <a:ext cx="108536" cy="912114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1225296"/>
            <a:ext cx="716338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d) C 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语言矩阵是行优先存储的</a:t>
            </a:r>
            <a:r>
              <a:rPr lang="en-US" altLang="zh-CN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——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如果改用列优先（手动转置 </a:t>
            </a:r>
            <a:r>
              <a:rPr lang="en-US" altLang="zh-CN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B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），结论会有变化吗？</a:t>
            </a:r>
            <a:endParaRPr lang="en-US" sz="13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398" y="2247138"/>
            <a:ext cx="3291841" cy="1108711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399" y="2247138"/>
            <a:ext cx="45720" cy="1108711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78" y="2272285"/>
            <a:ext cx="3017521" cy="977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b="1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正向增益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：在 </a:t>
            </a:r>
            <a:r>
              <a:rPr lang="en-US" altLang="zh-CN" sz="1400" dirty="0" err="1">
                <a:latin typeface="HarmonyOS Sans SC" panose="00000800000000000000" pitchFamily="2" charset="-122"/>
                <a:ea typeface="HarmonyOS Sans SC" panose="00000800000000000000" pitchFamily="2" charset="-122"/>
              </a:rPr>
              <a:t>ijk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 等列优先访问模式下，引入转置（</a:t>
            </a:r>
            <a:r>
              <a:rPr lang="en-US" altLang="zh-CN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Transpose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）能否有效将跨步长访问转换为连续访问，从而提升性能？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0" y="3477008"/>
            <a:ext cx="3291839" cy="1110994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0" y="3477008"/>
            <a:ext cx="45720" cy="1110994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0" y="3619461"/>
            <a:ext cx="3017519" cy="877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b="1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负向损耗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：在 </a:t>
            </a:r>
            <a:r>
              <a:rPr lang="en-US" altLang="zh-CN" sz="1400" dirty="0" err="1">
                <a:latin typeface="HarmonyOS Sans SC" panose="00000800000000000000" pitchFamily="2" charset="-122"/>
                <a:ea typeface="HarmonyOS Sans SC" panose="00000800000000000000" pitchFamily="2" charset="-122"/>
              </a:rPr>
              <a:t>kij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 等本身已具备高局部性的模式下，强制转置为何会引发高达 </a:t>
            </a:r>
            <a:r>
              <a:rPr lang="en-US" altLang="zh-CN" sz="1400" b="1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51.59%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 的性能倒退？</a:t>
            </a:r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1001  |  double (8 bytes)</a:t>
            </a:r>
            <a:endParaRPr lang="en-US" sz="10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89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深度原理解析</a:t>
            </a:r>
            <a:endParaRPr lang="en-US" sz="2800" b="1" dirty="0"/>
          </a:p>
        </p:txBody>
      </p:sp>
      <p:sp>
        <p:nvSpPr>
          <p:cNvPr id="3" name="Shape 1"/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0" cy="21031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1148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0702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b="1" dirty="0">
                <a:solidFill>
                  <a:srgbClr val="0969DA"/>
                </a:solidFill>
                <a:ea typeface="HarmonyOS Sans SC" panose="00000800000000000000" pitchFamily="2" charset="-122"/>
              </a:rPr>
              <a:t>内存布局约束 </a:t>
            </a:r>
            <a:r>
              <a:rPr lang="en-US" altLang="zh-CN" sz="1400" b="1" dirty="0">
                <a:solidFill>
                  <a:srgbClr val="0969DA"/>
                </a:solidFill>
                <a:ea typeface="HarmonyOS Sans SC" panose="00000800000000000000" pitchFamily="2" charset="-122"/>
              </a:rPr>
              <a:t>(Memory Layout )</a:t>
            </a:r>
            <a:endParaRPr lang="en-US" sz="1400" dirty="0">
              <a:solidFill>
                <a:srgbClr val="0969DA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645618"/>
            <a:ext cx="3597812" cy="1383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dirty="0">
                <a:ea typeface="HarmonyOS Sans SC" panose="00000800000000000000" pitchFamily="2" charset="-122"/>
              </a:rPr>
              <a:t>C </a:t>
            </a:r>
            <a:r>
              <a:rPr lang="zh-CN" altLang="en-US" dirty="0">
                <a:ea typeface="HarmonyOS Sans SC" panose="00000800000000000000" pitchFamily="2" charset="-122"/>
              </a:rPr>
              <a:t>语言采用“行主序（</a:t>
            </a:r>
            <a:r>
              <a:rPr lang="en-US" altLang="zh-CN" dirty="0">
                <a:ea typeface="HarmonyOS Sans SC" panose="00000800000000000000" pitchFamily="2" charset="-122"/>
              </a:rPr>
              <a:t>Row-major</a:t>
            </a:r>
            <a:r>
              <a:rPr lang="zh-CN" altLang="en-US" dirty="0">
                <a:ea typeface="HarmonyOS Sans SC" panose="00000800000000000000" pitchFamily="2" charset="-122"/>
              </a:rPr>
              <a:t>）存储。这意味着在内存空间中，只有对矩阵进行连续的行访问，才能实现 </a:t>
            </a:r>
            <a:r>
              <a:rPr lang="en-US" altLang="zh-CN" dirty="0">
                <a:ea typeface="HarmonyOS Sans SC" panose="00000800000000000000" pitchFamily="2" charset="-122"/>
              </a:rPr>
              <a:t>Stride=1</a:t>
            </a:r>
            <a:r>
              <a:rPr lang="zh-CN" altLang="en-US" dirty="0">
                <a:ea typeface="HarmonyOS Sans SC" panose="00000800000000000000" pitchFamily="2" charset="-122"/>
              </a:rPr>
              <a:t>（步长为</a:t>
            </a:r>
            <a:r>
              <a:rPr lang="en-US" altLang="zh-CN" dirty="0">
                <a:ea typeface="HarmonyOS Sans SC" panose="00000800000000000000" pitchFamily="2" charset="-122"/>
              </a:rPr>
              <a:t>1</a:t>
            </a:r>
            <a:r>
              <a:rPr lang="zh-CN" altLang="en-US" dirty="0">
                <a:ea typeface="HarmonyOS Sans SC" panose="00000800000000000000" pitchFamily="2" charset="-122"/>
              </a:rPr>
              <a:t>）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200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097280"/>
            <a:ext cx="3840480" cy="10972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37760" y="1097280"/>
            <a:ext cx="3840480" cy="36576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2064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b="1" dirty="0">
                <a:solidFill>
                  <a:srgbClr val="BC4C00"/>
                </a:solidFill>
                <a:ea typeface="HarmonyOS Sans SC" panose="00000800000000000000" pitchFamily="2" charset="-122"/>
              </a:rPr>
              <a:t>转置的本质</a:t>
            </a:r>
            <a:endParaRPr lang="en-US" sz="1400" b="1" dirty="0">
              <a:solidFill>
                <a:srgbClr val="BC4C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2064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20640" y="1554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 dirty="0">
                <a:ea typeface="HarmonyOS Sans SC" panose="00000800000000000000" pitchFamily="2" charset="-122"/>
              </a:rPr>
              <a:t>转置操作 </a:t>
            </a:r>
            <a:r>
              <a:rPr lang="en-US" altLang="zh-CN" sz="1200" dirty="0">
                <a:ea typeface="HarmonyOS Sans SC" panose="00000800000000000000" pitchFamily="2" charset="-122"/>
              </a:rPr>
              <a:t>B = A^T</a:t>
            </a:r>
            <a:r>
              <a:rPr lang="zh-CN" altLang="en-US" sz="1200" dirty="0">
                <a:ea typeface="HarmonyOS Sans SC" panose="00000800000000000000" pitchFamily="2" charset="-122"/>
              </a:rPr>
              <a:t> 的物理意义是：将原本在 </a:t>
            </a:r>
            <a:r>
              <a:rPr lang="en-US" altLang="zh-CN" sz="1200" dirty="0">
                <a:ea typeface="HarmonyOS Sans SC" panose="00000800000000000000" pitchFamily="2" charset="-122"/>
              </a:rPr>
              <a:t>A </a:t>
            </a:r>
            <a:r>
              <a:rPr lang="zh-CN" altLang="en-US" sz="1200" dirty="0">
                <a:ea typeface="HarmonyOS Sans SC" panose="00000800000000000000" pitchFamily="2" charset="-122"/>
              </a:rPr>
              <a:t>矩阵中“不连续”的列数据，在 </a:t>
            </a:r>
            <a:r>
              <a:rPr lang="en-US" altLang="zh-CN" sz="1200" dirty="0">
                <a:ea typeface="HarmonyOS Sans SC" panose="00000800000000000000" pitchFamily="2" charset="-122"/>
              </a:rPr>
              <a:t>B </a:t>
            </a:r>
            <a:r>
              <a:rPr lang="zh-CN" altLang="en-US" sz="1200" dirty="0">
                <a:ea typeface="HarmonyOS Sans SC" panose="00000800000000000000" pitchFamily="2" charset="-122"/>
              </a:rPr>
              <a:t>矩阵中重构成“连续”的行数据。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383280"/>
            <a:ext cx="4114800" cy="15316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3364991"/>
            <a:ext cx="4114800" cy="45719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19" y="3502151"/>
            <a:ext cx="1959429" cy="231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 b="1" dirty="0">
                <a:solidFill>
                  <a:srgbClr val="1A7F37"/>
                </a:solidFill>
                <a:ea typeface="HarmonyOS Sans SC" panose="00000800000000000000" pitchFamily="2" charset="-122"/>
              </a:rPr>
              <a:t>性能博弈点</a:t>
            </a:r>
            <a:endParaRPr lang="en-US" sz="1200" b="1" dirty="0">
              <a:solidFill>
                <a:srgbClr val="1A7F37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1520" y="3653027"/>
            <a:ext cx="3722914" cy="1277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正向增益：对于 </a:t>
            </a:r>
            <a:r>
              <a:rPr lang="en-US" altLang="zh-CN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ijk</a:t>
            </a:r>
            <a:r>
              <a:rPr lang="en-US" altLang="zh-CN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等列访问频繁的顺序，转置带来的 </a:t>
            </a:r>
            <a:r>
              <a:rPr lang="en-US" altLang="zh-CN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Cache </a:t>
            </a:r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命中率提升远大于转置本身的 内存开销（约 </a:t>
            </a:r>
            <a:r>
              <a:rPr lang="en-US" altLang="zh-CN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$O(N^2)$</a:t>
            </a:r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），因此大幅提速。负向损耗：对于 </a:t>
            </a:r>
            <a:r>
              <a:rPr lang="en-US" altLang="zh-CN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kij</a:t>
            </a:r>
            <a:r>
              <a:rPr lang="en-US" altLang="zh-CN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等本身已实现行连续访问的顺序，转置反而强行破坏了良好的局部性，且叠加了额外的副本空间开销，导致性能崩溃（降低 </a:t>
            </a:r>
            <a:r>
              <a:rPr lang="en-US" altLang="zh-CN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51.59%</a:t>
            </a:r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）。</a:t>
            </a:r>
            <a:endParaRPr lang="en-US" sz="110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56425141-884A-450F-6BA2-E38C4256C4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10" r="3603" b="20279"/>
          <a:stretch>
            <a:fillRect/>
          </a:stretch>
        </p:blipFill>
        <p:spPr>
          <a:xfrm>
            <a:off x="4846319" y="2523744"/>
            <a:ext cx="4122798" cy="19568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F896-CDBC-0374-23B6-AC4FC5ED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2">
            <a:extLst>
              <a:ext uri="{FF2B5EF4-FFF2-40B4-BE49-F238E27FC236}">
                <a16:creationId xmlns:a16="http://schemas.microsoft.com/office/drawing/2014/main" id="{CA69DA17-ADF7-0158-3AA7-953856D7B35D}"/>
              </a:ext>
            </a:extLst>
          </p:cNvPr>
          <p:cNvSpPr/>
          <p:nvPr/>
        </p:nvSpPr>
        <p:spPr>
          <a:xfrm>
            <a:off x="168963" y="1211923"/>
            <a:ext cx="6119295" cy="3137536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0DA51756-ECDE-82E6-10C3-4CECF6A89427}"/>
              </a:ext>
            </a:extLst>
          </p:cNvPr>
          <p:cNvSpPr/>
          <p:nvPr/>
        </p:nvSpPr>
        <p:spPr>
          <a:xfrm>
            <a:off x="168963" y="1211923"/>
            <a:ext cx="80893" cy="3137536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A7CB41DE-23EF-F2FD-A33A-48240DDB6F1D}"/>
              </a:ext>
            </a:extLst>
          </p:cNvPr>
          <p:cNvSpPr/>
          <p:nvPr/>
        </p:nvSpPr>
        <p:spPr>
          <a:xfrm>
            <a:off x="351843" y="1237070"/>
            <a:ext cx="5338972" cy="2177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3FEAC3-EB1A-82B4-CBBE-00CE0B6F7565}"/>
              </a:ext>
            </a:extLst>
          </p:cNvPr>
          <p:cNvSpPr/>
          <p:nvPr/>
        </p:nvSpPr>
        <p:spPr>
          <a:xfrm>
            <a:off x="457200" y="34289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深度原理解析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BFA4B4-54DB-A33A-25FE-4E6D74785B8A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2A2E7B-D4DF-035B-CBCD-511927BE6CE0}"/>
              </a:ext>
            </a:extLst>
          </p:cNvPr>
          <p:cNvSpPr txBox="1"/>
          <p:nvPr/>
        </p:nvSpPr>
        <p:spPr>
          <a:xfrm>
            <a:off x="351843" y="1499459"/>
            <a:ext cx="53571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本实验对 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 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种循环顺序 分别在 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-O1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、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-O2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、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-O3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 三个编译优化级别下，测试转置前后的性能影响。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实验参数：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矩阵大小：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1001 × 1001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编译器：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GCC 14.2.0 with 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ui-monospace"/>
                <a:ea typeface="HarmonyOS Sans SC" panose="00000800000000000000" pitchFamily="2" charset="-122"/>
              </a:rPr>
              <a:t>-march=native</a:t>
            </a:r>
            <a:endParaRPr lang="zh-CN" altLang="en-US" sz="1600" i="0" dirty="0">
              <a:solidFill>
                <a:srgbClr val="1F2328"/>
              </a:solidFill>
              <a:effectLst/>
              <a:latin typeface="-apple-system"/>
              <a:ea typeface="HarmonyOS Sans SC" panose="00000800000000000000" pitchFamily="2" charset="-122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平台：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Apple Silicon M-series MacBook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总实验数：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 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循环顺序 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× 3 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优化级别 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= 18 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个版本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A245F5E-2B24-11CB-D703-0EA26D0D2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055" y="1211923"/>
            <a:ext cx="1113010" cy="313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8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A6544-D6F2-ED1B-B45F-ADF007B9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64AD84-736E-3F70-61B1-BA59522130C7}"/>
              </a:ext>
            </a:extLst>
          </p:cNvPr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转置前</a:t>
            </a: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zh-CN" alt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转置后</a:t>
            </a:r>
            <a:r>
              <a:rPr lang="en-US" sz="28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2BEB5D-CFC6-E7B2-CCC0-6277279D063C}"/>
              </a:ext>
            </a:extLst>
          </p:cNvPr>
          <p:cNvSpPr/>
          <p:nvPr/>
        </p:nvSpPr>
        <p:spPr>
          <a:xfrm flipV="1">
            <a:off x="548640" y="822960"/>
            <a:ext cx="3373456" cy="457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727191-68DB-C4E8-35DC-AAABBA0A5466}"/>
              </a:ext>
            </a:extLst>
          </p:cNvPr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03E6A7A-7C6D-9525-D1FC-19FCB33FCA23}"/>
              </a:ext>
            </a:extLst>
          </p:cNvPr>
          <p:cNvSpPr/>
          <p:nvPr/>
        </p:nvSpPr>
        <p:spPr>
          <a:xfrm>
            <a:off x="5772952" y="3155283"/>
            <a:ext cx="3099437" cy="1645920"/>
          </a:xfrm>
          <a:prstGeom prst="rect">
            <a:avLst/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6343C34-FB39-54B5-A295-B716EDCA20E6}"/>
              </a:ext>
            </a:extLst>
          </p:cNvPr>
          <p:cNvSpPr/>
          <p:nvPr/>
        </p:nvSpPr>
        <p:spPr>
          <a:xfrm>
            <a:off x="5772952" y="3155283"/>
            <a:ext cx="48429" cy="16459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A3343E4-59CE-DE17-55A8-E1F43DF9A8D2}"/>
              </a:ext>
            </a:extLst>
          </p:cNvPr>
          <p:cNvSpPr/>
          <p:nvPr/>
        </p:nvSpPr>
        <p:spPr>
          <a:xfrm>
            <a:off x="5910112" y="3298974"/>
            <a:ext cx="2808865" cy="1410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最内层循环访问变为 </a:t>
            </a:r>
            <a:r>
              <a:rPr lang="en-US" altLang="zh-CN" sz="1400" dirty="0">
                <a:ea typeface="HarmonyOS Sans SC" panose="00000800000000000000" pitchFamily="2" charset="-122"/>
              </a:rPr>
              <a:t>B[j][k]</a:t>
            </a:r>
            <a:r>
              <a:rPr lang="zh-CN" altLang="en-US" sz="1400" dirty="0">
                <a:ea typeface="HarmonyOS Sans SC" panose="00000800000000000000" pitchFamily="2" charset="-122"/>
              </a:rPr>
              <a:t>。此时 </a:t>
            </a:r>
            <a:r>
              <a:rPr lang="en-US" altLang="zh-CN" sz="1400" dirty="0">
                <a:ea typeface="HarmonyOS Sans SC" panose="00000800000000000000" pitchFamily="2" charset="-122"/>
              </a:rPr>
              <a:t>j</a:t>
            </a:r>
            <a:r>
              <a:rPr lang="zh-CN" altLang="en-US" sz="1400" dirty="0">
                <a:ea typeface="HarmonyOS Sans SC" panose="00000800000000000000" pitchFamily="2" charset="-122"/>
              </a:rPr>
              <a:t>（行）固定，</a:t>
            </a:r>
            <a:r>
              <a:rPr lang="en-US" altLang="zh-CN" sz="1400" dirty="0">
                <a:ea typeface="HarmonyOS Sans SC" panose="00000800000000000000" pitchFamily="2" charset="-122"/>
              </a:rPr>
              <a:t>k</a:t>
            </a:r>
            <a:r>
              <a:rPr lang="zh-CN" altLang="en-US" sz="1400" dirty="0">
                <a:ea typeface="HarmonyOS Sans SC" panose="00000800000000000000" pitchFamily="2" charset="-122"/>
              </a:rPr>
              <a:t>（列）在变。这是理想的行连续访问（</a:t>
            </a:r>
            <a:r>
              <a:rPr lang="en-US" altLang="zh-CN" sz="1400" dirty="0">
                <a:ea typeface="HarmonyOS Sans SC" panose="00000800000000000000" pitchFamily="2" charset="-122"/>
              </a:rPr>
              <a:t>Stride=1</a:t>
            </a:r>
            <a:r>
              <a:rPr lang="zh-CN" altLang="en-US" sz="1400" dirty="0">
                <a:ea typeface="HarmonyOS Sans SC" panose="00000800000000000000" pitchFamily="2" charset="-122"/>
              </a:rPr>
              <a:t>）。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3484063-9083-FEF5-C86E-3B927C722BC1}"/>
              </a:ext>
            </a:extLst>
          </p:cNvPr>
          <p:cNvSpPr/>
          <p:nvPr/>
        </p:nvSpPr>
        <p:spPr>
          <a:xfrm>
            <a:off x="379095" y="3155283"/>
            <a:ext cx="3040079" cy="1645920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2A43C1A-E8AE-55E8-E199-F1273715B023}"/>
              </a:ext>
            </a:extLst>
          </p:cNvPr>
          <p:cNvSpPr/>
          <p:nvPr/>
        </p:nvSpPr>
        <p:spPr>
          <a:xfrm>
            <a:off x="356235" y="3155283"/>
            <a:ext cx="47501" cy="1645920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A648A73-09B8-8603-7894-FC5B00C47B7B}"/>
              </a:ext>
            </a:extLst>
          </p:cNvPr>
          <p:cNvSpPr/>
          <p:nvPr/>
        </p:nvSpPr>
        <p:spPr>
          <a:xfrm>
            <a:off x="493396" y="3246723"/>
            <a:ext cx="2755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最内层循环由 </a:t>
            </a:r>
            <a:r>
              <a:rPr lang="en-US" altLang="zh-CN" sz="1400" dirty="0">
                <a:ea typeface="HarmonyOS Sans SC" panose="00000800000000000000" pitchFamily="2" charset="-122"/>
              </a:rPr>
              <a:t>k</a:t>
            </a:r>
            <a:r>
              <a:rPr lang="zh-CN" altLang="en-US" sz="1400" dirty="0">
                <a:ea typeface="HarmonyOS Sans SC" panose="00000800000000000000" pitchFamily="2" charset="-122"/>
              </a:rPr>
              <a:t> 控制。访问 </a:t>
            </a:r>
            <a:r>
              <a:rPr lang="en-US" altLang="zh-CN" sz="1400" dirty="0">
                <a:ea typeface="HarmonyOS Sans SC" panose="00000800000000000000" pitchFamily="2" charset="-122"/>
              </a:rPr>
              <a:t>B[k][j]</a:t>
            </a:r>
            <a:r>
              <a:rPr lang="zh-CN" altLang="en-US" sz="1400" dirty="0">
                <a:ea typeface="HarmonyOS Sans SC" panose="00000800000000000000" pitchFamily="2" charset="-122"/>
              </a:rPr>
              <a:t> 时，</a:t>
            </a:r>
            <a:r>
              <a:rPr lang="en-US" altLang="zh-CN" sz="1400" dirty="0">
                <a:ea typeface="HarmonyOS Sans SC" panose="00000800000000000000" pitchFamily="2" charset="-122"/>
              </a:rPr>
              <a:t>j</a:t>
            </a:r>
            <a:r>
              <a:rPr lang="zh-CN" altLang="en-US" sz="1400" dirty="0">
                <a:ea typeface="HarmonyOS Sans SC" panose="00000800000000000000" pitchFamily="2" charset="-122"/>
              </a:rPr>
              <a:t>（列）固定，</a:t>
            </a:r>
            <a:r>
              <a:rPr lang="en-US" altLang="zh-CN" sz="1400" dirty="0">
                <a:ea typeface="HarmonyOS Sans SC" panose="00000800000000000000" pitchFamily="2" charset="-122"/>
              </a:rPr>
              <a:t>k</a:t>
            </a:r>
            <a:r>
              <a:rPr lang="zh-CN" altLang="en-US" sz="1400" dirty="0">
                <a:ea typeface="HarmonyOS Sans SC" panose="00000800000000000000" pitchFamily="2" charset="-122"/>
              </a:rPr>
              <a:t>（行）在变。这是典型的跨行访问。每计算一次乘法，</a:t>
            </a:r>
            <a:r>
              <a:rPr lang="en-US" altLang="zh-CN" sz="1400" dirty="0">
                <a:ea typeface="HarmonyOS Sans SC" panose="00000800000000000000" pitchFamily="2" charset="-122"/>
              </a:rPr>
              <a:t>CPU </a:t>
            </a:r>
            <a:r>
              <a:rPr lang="zh-CN" altLang="en-US" sz="1400" dirty="0">
                <a:ea typeface="HarmonyOS Sans SC" panose="00000800000000000000" pitchFamily="2" charset="-122"/>
              </a:rPr>
              <a:t>都要跳过一整行去取下一个数据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38B0882-6AC1-1458-380D-CFCE29AF9389}"/>
              </a:ext>
            </a:extLst>
          </p:cNvPr>
          <p:cNvSpPr/>
          <p:nvPr/>
        </p:nvSpPr>
        <p:spPr>
          <a:xfrm>
            <a:off x="365758" y="1005841"/>
            <a:ext cx="3053417" cy="276398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544509CA-0E33-DDFA-E72A-2287A36A25FC}"/>
              </a:ext>
            </a:extLst>
          </p:cNvPr>
          <p:cNvSpPr/>
          <p:nvPr/>
        </p:nvSpPr>
        <p:spPr>
          <a:xfrm>
            <a:off x="548639" y="1101852"/>
            <a:ext cx="61068" cy="78971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0B880EC0-E267-A11B-4B9D-D3E3A5F4C24F}"/>
              </a:ext>
            </a:extLst>
          </p:cNvPr>
          <p:cNvSpPr/>
          <p:nvPr/>
        </p:nvSpPr>
        <p:spPr>
          <a:xfrm>
            <a:off x="704087" y="1101852"/>
            <a:ext cx="61068" cy="78971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6C7D0B7C-5E73-A4EF-409D-FDE783D34F3C}"/>
              </a:ext>
            </a:extLst>
          </p:cNvPr>
          <p:cNvSpPr/>
          <p:nvPr/>
        </p:nvSpPr>
        <p:spPr>
          <a:xfrm>
            <a:off x="859535" y="1101852"/>
            <a:ext cx="61068" cy="78971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E860360-2D81-F704-E93A-1E1A5002338C}"/>
              </a:ext>
            </a:extLst>
          </p:cNvPr>
          <p:cNvSpPr/>
          <p:nvPr/>
        </p:nvSpPr>
        <p:spPr>
          <a:xfrm>
            <a:off x="1097278" y="1028700"/>
            <a:ext cx="1832051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转置前</a:t>
            </a:r>
            <a:endParaRPr lang="en-US" sz="105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321AF043-8929-23C4-C9E5-49C9EFAEA239}"/>
              </a:ext>
            </a:extLst>
          </p:cNvPr>
          <p:cNvSpPr/>
          <p:nvPr/>
        </p:nvSpPr>
        <p:spPr>
          <a:xfrm>
            <a:off x="365758" y="1278081"/>
            <a:ext cx="3053417" cy="17373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F5852BDE-7CAE-C05E-BE68-3001E6B29040}"/>
              </a:ext>
            </a:extLst>
          </p:cNvPr>
          <p:cNvSpPr/>
          <p:nvPr/>
        </p:nvSpPr>
        <p:spPr>
          <a:xfrm>
            <a:off x="482696" y="1378250"/>
            <a:ext cx="2809143" cy="157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8C959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// C = A × B, N = 1001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(i = 0; i &lt; N; i++)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(j = 0; j &lt; N; j++)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  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(k = 0; k &lt; N; k++)
</a:t>
            </a:r>
            <a:r>
              <a:rPr lang="en-US" sz="1200" dirty="0">
                <a:solidFill>
                  <a:srgbClr val="0969DA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    C[i][j] += A[i][k] * </a:t>
            </a:r>
            <a:r>
              <a:rPr lang="en-US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B[k][j];</a:t>
            </a:r>
            <a:endParaRPr lang="en-US" sz="12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E1654D72-58DD-C805-A408-7922D282EAFF}"/>
              </a:ext>
            </a:extLst>
          </p:cNvPr>
          <p:cNvSpPr/>
          <p:nvPr/>
        </p:nvSpPr>
        <p:spPr>
          <a:xfrm>
            <a:off x="5770544" y="1001682"/>
            <a:ext cx="3053417" cy="277059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639776AE-5213-C83A-8F72-541C67FFA289}"/>
              </a:ext>
            </a:extLst>
          </p:cNvPr>
          <p:cNvSpPr/>
          <p:nvPr/>
        </p:nvSpPr>
        <p:spPr>
          <a:xfrm>
            <a:off x="5953425" y="1097694"/>
            <a:ext cx="61068" cy="7916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D534D715-A2BE-1348-56BE-8BBCE3E3E998}"/>
              </a:ext>
            </a:extLst>
          </p:cNvPr>
          <p:cNvSpPr/>
          <p:nvPr/>
        </p:nvSpPr>
        <p:spPr>
          <a:xfrm>
            <a:off x="6108873" y="1097694"/>
            <a:ext cx="61068" cy="7916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0ACBC3D5-3592-8B58-FED8-6D3520F22491}"/>
              </a:ext>
            </a:extLst>
          </p:cNvPr>
          <p:cNvSpPr/>
          <p:nvPr/>
        </p:nvSpPr>
        <p:spPr>
          <a:xfrm>
            <a:off x="6264321" y="1097694"/>
            <a:ext cx="61068" cy="7916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37FA967E-2D5E-8A0E-A83C-83E28905C436}"/>
              </a:ext>
            </a:extLst>
          </p:cNvPr>
          <p:cNvSpPr/>
          <p:nvPr/>
        </p:nvSpPr>
        <p:spPr>
          <a:xfrm>
            <a:off x="6502064" y="1024542"/>
            <a:ext cx="1832051" cy="23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转置后</a:t>
            </a:r>
            <a:endParaRPr lang="en-US" sz="105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6928D89B-B26B-4C9E-9CDC-3261083E611A}"/>
              </a:ext>
            </a:extLst>
          </p:cNvPr>
          <p:cNvSpPr/>
          <p:nvPr/>
        </p:nvSpPr>
        <p:spPr>
          <a:xfrm>
            <a:off x="5770544" y="1273923"/>
            <a:ext cx="3053417" cy="174151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F92DB0EC-24E2-7042-522C-15993AD2DBEC}"/>
              </a:ext>
            </a:extLst>
          </p:cNvPr>
          <p:cNvSpPr/>
          <p:nvPr/>
        </p:nvSpPr>
        <p:spPr>
          <a:xfrm>
            <a:off x="5887482" y="1374092"/>
            <a:ext cx="2809143" cy="1583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8C959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// C = A × B, N = 1001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(i = 0; i &lt; N; i++)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(j = 0; j &lt; N; j++)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  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(k = 0; k &lt; N; k++)
</a:t>
            </a:r>
            <a:r>
              <a:rPr lang="en-US" sz="1200" dirty="0">
                <a:solidFill>
                  <a:srgbClr val="0969DA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    C[i][j] += A[i][k] * </a:t>
            </a:r>
            <a:r>
              <a:rPr lang="en-US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B[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j</a:t>
            </a:r>
            <a:r>
              <a:rPr lang="en-US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][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k</a:t>
            </a:r>
            <a:r>
              <a:rPr lang="en-US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];</a:t>
            </a:r>
            <a:endParaRPr lang="en-US" sz="12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C1E4726-4EE6-0C1D-DD43-BB3698137134}"/>
              </a:ext>
            </a:extLst>
          </p:cNvPr>
          <p:cNvCxnSpPr/>
          <p:nvPr/>
        </p:nvCxnSpPr>
        <p:spPr>
          <a:xfrm>
            <a:off x="3582030" y="2123524"/>
            <a:ext cx="1944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353F6AD3-087A-CEA6-0947-ED6FCC7E7427}"/>
              </a:ext>
            </a:extLst>
          </p:cNvPr>
          <p:cNvSpPr txBox="1"/>
          <p:nvPr/>
        </p:nvSpPr>
        <p:spPr>
          <a:xfrm>
            <a:off x="3641925" y="1583471"/>
            <a:ext cx="1740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关键在于</a:t>
            </a:r>
            <a:r>
              <a:rPr lang="en-US" altLang="zh-CN" sz="1400" dirty="0">
                <a:ea typeface="HarmonyOS Sans SC" panose="00000800000000000000" pitchFamily="2" charset="-122"/>
              </a:rPr>
              <a:t>j</a:t>
            </a:r>
            <a:r>
              <a:rPr lang="zh-CN" altLang="en-US" sz="1400" dirty="0">
                <a:ea typeface="HarmonyOS Sans SC" panose="00000800000000000000" pitchFamily="2" charset="-122"/>
              </a:rPr>
              <a:t>和</a:t>
            </a:r>
            <a:r>
              <a:rPr lang="en-US" altLang="zh-CN" sz="1400" dirty="0">
                <a:ea typeface="HarmonyOS Sans SC" panose="00000800000000000000" pitchFamily="2" charset="-122"/>
              </a:rPr>
              <a:t>k</a:t>
            </a:r>
            <a:r>
              <a:rPr lang="zh-CN" altLang="en-US" sz="1400" dirty="0">
                <a:ea typeface="HarmonyOS Sans SC" panose="00000800000000000000" pitchFamily="2" charset="-122"/>
              </a:rPr>
              <a:t>的顺序！</a:t>
            </a:r>
          </a:p>
        </p:txBody>
      </p:sp>
    </p:spTree>
    <p:extLst>
      <p:ext uri="{BB962C8B-B14F-4D97-AF65-F5344CB8AC3E}">
        <p14:creationId xmlns:p14="http://schemas.microsoft.com/office/powerpoint/2010/main" val="463373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6442A-23F4-B984-608C-208F7529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6BFD3F-84B5-CD22-84C7-E67DC275876E}"/>
              </a:ext>
            </a:extLst>
          </p:cNvPr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转置前</a:t>
            </a: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zh-CN" alt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转置后</a:t>
            </a:r>
            <a:r>
              <a:rPr lang="en-US" sz="28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1FBD14-3F21-521E-3AAA-272B325A99DB}"/>
              </a:ext>
            </a:extLst>
          </p:cNvPr>
          <p:cNvSpPr/>
          <p:nvPr/>
        </p:nvSpPr>
        <p:spPr>
          <a:xfrm flipV="1">
            <a:off x="548640" y="822960"/>
            <a:ext cx="3373456" cy="457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C722F-712D-A3EA-BC3C-C45F5B29AFC9}"/>
              </a:ext>
            </a:extLst>
          </p:cNvPr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033A214-CB84-8F25-82D1-BC599D54F5FF}"/>
              </a:ext>
            </a:extLst>
          </p:cNvPr>
          <p:cNvPicPr>
            <a:picLocks/>
          </p:cNvPicPr>
          <p:nvPr/>
        </p:nvPicPr>
        <p:blipFill>
          <a:blip r:embed="rId3"/>
          <a:srcRect b="10499"/>
          <a:stretch>
            <a:fillRect/>
          </a:stretch>
        </p:blipFill>
        <p:spPr>
          <a:xfrm>
            <a:off x="1046648" y="1188720"/>
            <a:ext cx="7050704" cy="344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95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2998-A3E0-3D0A-2EC2-6169F1D9B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3459B3-7DCE-C09C-9E6A-0F87D99A9893}"/>
              </a:ext>
            </a:extLst>
          </p:cNvPr>
          <p:cNvSpPr/>
          <p:nvPr/>
        </p:nvSpPr>
        <p:spPr>
          <a:xfrm>
            <a:off x="457200" y="34289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深度原理解析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9DFC12-0AE4-6503-3028-6BECC58A9FA5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A01EBC2-475C-A37F-C055-F7B86D0FD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589" y="1276787"/>
            <a:ext cx="6844821" cy="316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06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6462-2818-17EB-1FF9-5A3B0284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7">
            <a:extLst>
              <a:ext uri="{FF2B5EF4-FFF2-40B4-BE49-F238E27FC236}">
                <a16:creationId xmlns:a16="http://schemas.microsoft.com/office/drawing/2014/main" id="{2B491EA7-98D1-A48A-2019-96EB13F29322}"/>
              </a:ext>
            </a:extLst>
          </p:cNvPr>
          <p:cNvSpPr/>
          <p:nvPr/>
        </p:nvSpPr>
        <p:spPr>
          <a:xfrm>
            <a:off x="2196827" y="3027461"/>
            <a:ext cx="4114800" cy="1802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EB2105C-C4FC-1553-5667-840D011A56E1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分块矩阵转置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8122D7-34E1-15D3-5D49-154601A83740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B97AE7-2794-510F-443A-198E76CF7BDE}"/>
              </a:ext>
            </a:extLst>
          </p:cNvPr>
          <p:cNvSpPr/>
          <p:nvPr/>
        </p:nvSpPr>
        <p:spPr>
          <a:xfrm>
            <a:off x="685800" y="1320824"/>
            <a:ext cx="4114800" cy="149047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6186E31-59AC-37AD-D1DA-5432CDCC9F4A}"/>
              </a:ext>
            </a:extLst>
          </p:cNvPr>
          <p:cNvSpPr/>
          <p:nvPr/>
        </p:nvSpPr>
        <p:spPr>
          <a:xfrm>
            <a:off x="685800" y="1320824"/>
            <a:ext cx="41148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5047825-C783-18EB-417F-3222BE801284}"/>
              </a:ext>
            </a:extLst>
          </p:cNvPr>
          <p:cNvSpPr/>
          <p:nvPr/>
        </p:nvSpPr>
        <p:spPr>
          <a:xfrm>
            <a:off x="91440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A3E33C6-FD92-7421-1D00-40762B33052B}"/>
              </a:ext>
            </a:extLst>
          </p:cNvPr>
          <p:cNvSpPr/>
          <p:nvPr/>
        </p:nvSpPr>
        <p:spPr>
          <a:xfrm>
            <a:off x="27432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DC4177E-A6D7-C45D-65C0-AC2AD256EA9D}"/>
              </a:ext>
            </a:extLst>
          </p:cNvPr>
          <p:cNvSpPr/>
          <p:nvPr/>
        </p:nvSpPr>
        <p:spPr>
          <a:xfrm>
            <a:off x="2562587" y="29333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88A8EEC-AB7D-744F-F30C-CD064B36F178}"/>
              </a:ext>
            </a:extLst>
          </p:cNvPr>
          <p:cNvSpPr/>
          <p:nvPr/>
        </p:nvSpPr>
        <p:spPr>
          <a:xfrm>
            <a:off x="3202667" y="29333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38B6D86-15E4-8007-7224-ECB2DC45B344}"/>
              </a:ext>
            </a:extLst>
          </p:cNvPr>
          <p:cNvSpPr/>
          <p:nvPr/>
        </p:nvSpPr>
        <p:spPr>
          <a:xfrm>
            <a:off x="4391387" y="29333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C8B0D64-4BAA-0A82-7BBF-0CFCD6719A08}"/>
              </a:ext>
            </a:extLst>
          </p:cNvPr>
          <p:cNvSpPr/>
          <p:nvPr/>
        </p:nvSpPr>
        <p:spPr>
          <a:xfrm>
            <a:off x="2562587" y="2844581"/>
            <a:ext cx="64008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07DB518-888D-8402-C751-D18ABFC99789}"/>
              </a:ext>
            </a:extLst>
          </p:cNvPr>
          <p:cNvSpPr/>
          <p:nvPr/>
        </p:nvSpPr>
        <p:spPr>
          <a:xfrm>
            <a:off x="3202667" y="2844581"/>
            <a:ext cx="109728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53028E2-E67F-3F28-5DBB-329C0CC4F9E7}"/>
              </a:ext>
            </a:extLst>
          </p:cNvPr>
          <p:cNvSpPr/>
          <p:nvPr/>
        </p:nvSpPr>
        <p:spPr>
          <a:xfrm>
            <a:off x="4391387" y="2844581"/>
            <a:ext cx="137160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9F88339-C9E6-CFB6-D7A5-4A2552A57FC3}"/>
              </a:ext>
            </a:extLst>
          </p:cNvPr>
          <p:cNvSpPr/>
          <p:nvPr/>
        </p:nvSpPr>
        <p:spPr>
          <a:xfrm>
            <a:off x="5112218" y="1906525"/>
            <a:ext cx="3840480" cy="149047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D0539B8-6566-D2D6-444A-966D96B08DB4}"/>
              </a:ext>
            </a:extLst>
          </p:cNvPr>
          <p:cNvSpPr/>
          <p:nvPr/>
        </p:nvSpPr>
        <p:spPr>
          <a:xfrm>
            <a:off x="5112218" y="1906525"/>
            <a:ext cx="3840480" cy="36576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86A09A7-3749-5660-67C9-D58CBD600BB8}"/>
              </a:ext>
            </a:extLst>
          </p:cNvPr>
          <p:cNvSpPr/>
          <p:nvPr/>
        </p:nvSpPr>
        <p:spPr>
          <a:xfrm>
            <a:off x="5295098" y="2272285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BF0F5E1-8C9F-4A9C-B2CA-6B5EB14A4966}"/>
              </a:ext>
            </a:extLst>
          </p:cNvPr>
          <p:cNvSpPr/>
          <p:nvPr/>
        </p:nvSpPr>
        <p:spPr>
          <a:xfrm>
            <a:off x="2196827" y="3009173"/>
            <a:ext cx="2915391" cy="82298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75A0540-523E-F88C-14EF-621AF22FBACA}"/>
              </a:ext>
            </a:extLst>
          </p:cNvPr>
          <p:cNvSpPr/>
          <p:nvPr/>
        </p:nvSpPr>
        <p:spPr>
          <a:xfrm>
            <a:off x="2379706" y="3146333"/>
            <a:ext cx="1959429" cy="296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 b="1" dirty="0">
                <a:solidFill>
                  <a:srgbClr val="1A7F37"/>
                </a:solidFill>
                <a:ea typeface="HarmonyOS Sans SC" panose="00000800000000000000" pitchFamily="2" charset="-122"/>
              </a:rPr>
              <a:t>块级循环和元素级循环</a:t>
            </a:r>
            <a:endParaRPr lang="en-US" sz="1200" b="1" dirty="0">
              <a:solidFill>
                <a:srgbClr val="1A7F37"/>
              </a:solidFill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5B106C8-0878-5CE7-7DE5-9CA26719764D}"/>
              </a:ext>
            </a:extLst>
          </p:cNvPr>
          <p:cNvSpPr/>
          <p:nvPr/>
        </p:nvSpPr>
        <p:spPr>
          <a:xfrm>
            <a:off x="2379707" y="3297209"/>
            <a:ext cx="3651554" cy="153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  块级循环和元素级循环分别有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ijk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jik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ikj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jki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kij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kji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六种，则衍生出</a:t>
            </a:r>
            <a:r>
              <a:rPr lang="en-US" altLang="zh-CN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altLang="zh-CN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6=36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种循环方式</a:t>
            </a:r>
            <a:endParaRPr lang="en-US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F21C2D8-2FDC-2568-2653-AD5058E78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218" y="2226165"/>
            <a:ext cx="3502681" cy="85118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A50E3B-DDDF-1EF3-762E-EBABFB714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79" y="1494178"/>
            <a:ext cx="3864506" cy="131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2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EE87-99A5-7D6E-76A9-772DACCE7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33EDA2-4B6C-E754-8AED-A7E222AE403C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结果分析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40D77E-16BE-4040-714A-D0CF69DD9523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888A25-B4B0-BFDC-9F25-21F0A5720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130" y="1056756"/>
            <a:ext cx="6657739" cy="387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05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75C0A-42D3-95E0-0D83-221F8862A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D5B776-4C57-34EC-A8F5-0A02ABB29BEE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结果分析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81C57F3-7A91-88E4-33A3-F4772AD2E8D6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25997F-22B4-0532-7CE0-5CBD4B1BD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53" y="1013820"/>
            <a:ext cx="6982691" cy="375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30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D24D6-F6D8-9688-4374-30255450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DD02E2-8900-6DBF-4388-11B124794020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结果分析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42105C-7C27-0887-94EC-1F84C7FC94DE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A65337-6DCD-F448-BDA2-287E3EB6F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73" y="1104080"/>
            <a:ext cx="6912451" cy="370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38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B23C8-00FF-C240-A9C0-7D7A6343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4">
            <a:extLst>
              <a:ext uri="{FF2B5EF4-FFF2-40B4-BE49-F238E27FC236}">
                <a16:creationId xmlns:a16="http://schemas.microsoft.com/office/drawing/2014/main" id="{406B5D2D-36D4-6214-9DF9-2A7078BBCB7A}"/>
              </a:ext>
            </a:extLst>
          </p:cNvPr>
          <p:cNvSpPr/>
          <p:nvPr/>
        </p:nvSpPr>
        <p:spPr>
          <a:xfrm>
            <a:off x="6257108" y="3413245"/>
            <a:ext cx="2697480" cy="1554480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3F1D66E-0C52-07C9-45EE-B4F8688C4520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结果分析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84E57C-2B8F-5ABB-5608-5E574A84D906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AE71E3-ED3F-FB11-BD49-9D42E66A1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66" y="1466092"/>
            <a:ext cx="3364054" cy="1581393"/>
          </a:xfrm>
          <a:prstGeom prst="rect">
            <a:avLst/>
          </a:prstGeom>
        </p:spPr>
      </p:pic>
      <p:sp>
        <p:nvSpPr>
          <p:cNvPr id="7" name="Shape 27">
            <a:extLst>
              <a:ext uri="{FF2B5EF4-FFF2-40B4-BE49-F238E27FC236}">
                <a16:creationId xmlns:a16="http://schemas.microsoft.com/office/drawing/2014/main" id="{391CE6F3-32EF-D30B-4716-6347B2AE86BB}"/>
              </a:ext>
            </a:extLst>
          </p:cNvPr>
          <p:cNvSpPr/>
          <p:nvPr/>
        </p:nvSpPr>
        <p:spPr>
          <a:xfrm>
            <a:off x="4322618" y="1262106"/>
            <a:ext cx="4245959" cy="198310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B170EAD7-F9E6-81C8-94F2-1FD56956C2D6}"/>
              </a:ext>
            </a:extLst>
          </p:cNvPr>
          <p:cNvSpPr/>
          <p:nvPr/>
        </p:nvSpPr>
        <p:spPr>
          <a:xfrm>
            <a:off x="5433099" y="839172"/>
            <a:ext cx="660482" cy="735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78CDA124-666D-4C6D-67C8-26965B45CBDC}"/>
              </a:ext>
            </a:extLst>
          </p:cNvPr>
          <p:cNvSpPr/>
          <p:nvPr/>
        </p:nvSpPr>
        <p:spPr>
          <a:xfrm>
            <a:off x="5975189" y="839172"/>
            <a:ext cx="1132256" cy="735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BEF7300A-7406-C944-58A5-ADDC33598174}"/>
              </a:ext>
            </a:extLst>
          </p:cNvPr>
          <p:cNvSpPr/>
          <p:nvPr/>
        </p:nvSpPr>
        <p:spPr>
          <a:xfrm>
            <a:off x="7105115" y="839172"/>
            <a:ext cx="1415319" cy="735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28">
            <a:extLst>
              <a:ext uri="{FF2B5EF4-FFF2-40B4-BE49-F238E27FC236}">
                <a16:creationId xmlns:a16="http://schemas.microsoft.com/office/drawing/2014/main" id="{46C7885D-C33C-5E39-1B20-73F67BFB06C6}"/>
              </a:ext>
            </a:extLst>
          </p:cNvPr>
          <p:cNvSpPr/>
          <p:nvPr/>
        </p:nvSpPr>
        <p:spPr>
          <a:xfrm>
            <a:off x="4322618" y="1170666"/>
            <a:ext cx="4245959" cy="16555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B32BAC93-E092-2B9C-B02D-68A5862D38B0}"/>
              </a:ext>
            </a:extLst>
          </p:cNvPr>
          <p:cNvSpPr/>
          <p:nvPr/>
        </p:nvSpPr>
        <p:spPr>
          <a:xfrm>
            <a:off x="6218603" y="3309984"/>
            <a:ext cx="2735985" cy="17610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400" dirty="0" err="1">
                <a:ea typeface="HarmonyOS Sans SC" panose="00000800000000000000" pitchFamily="2" charset="-122"/>
              </a:rPr>
              <a:t>jki</a:t>
            </a:r>
            <a:r>
              <a:rPr lang="en-US" altLang="zh-CN" sz="1400" dirty="0">
                <a:ea typeface="HarmonyOS Sans SC" panose="00000800000000000000" pitchFamily="2" charset="-122"/>
              </a:rPr>
              <a:t>/</a:t>
            </a:r>
            <a:r>
              <a:rPr lang="en-US" altLang="zh-CN" sz="1400" dirty="0" err="1">
                <a:ea typeface="HarmonyOS Sans SC" panose="00000800000000000000" pitchFamily="2" charset="-122"/>
              </a:rPr>
              <a:t>kji</a:t>
            </a:r>
            <a:r>
              <a:rPr lang="zh-CN" altLang="en-US" sz="1400" dirty="0">
                <a:ea typeface="HarmonyOS Sans SC" panose="00000800000000000000" pitchFamily="2" charset="-122"/>
              </a:rPr>
              <a:t>：性能接近 </a:t>
            </a:r>
            <a:r>
              <a:rPr lang="en-US" altLang="zh-CN" sz="1400" dirty="0">
                <a:ea typeface="HarmonyOS Sans SC" panose="00000800000000000000" pitchFamily="2" charset="-122"/>
              </a:rPr>
              <a:t>0%</a:t>
            </a:r>
            <a:r>
              <a:rPr lang="zh-CN" altLang="en-US" sz="1400" dirty="0">
                <a:ea typeface="HarmonyOS Sans SC" panose="00000800000000000000" pitchFamily="2" charset="-122"/>
              </a:rPr>
              <a:t>，有正有负 ⚠️这不是</a:t>
            </a:r>
            <a:r>
              <a:rPr lang="en-US" altLang="zh-CN" sz="1400" dirty="0">
                <a:ea typeface="HarmonyOS Sans SC" panose="00000800000000000000" pitchFamily="2" charset="-122"/>
              </a:rPr>
              <a:t>"</a:t>
            </a:r>
            <a:r>
              <a:rPr lang="zh-CN" altLang="en-US" sz="1400" dirty="0">
                <a:ea typeface="HarmonyOS Sans SC" panose="00000800000000000000" pitchFamily="2" charset="-122"/>
              </a:rPr>
              <a:t>中间状态</a:t>
            </a:r>
            <a:r>
              <a:rPr lang="en-US" altLang="zh-CN" sz="1400" dirty="0">
                <a:ea typeface="HarmonyOS Sans SC" panose="00000800000000000000" pitchFamily="2" charset="-122"/>
              </a:rPr>
              <a:t>"</a:t>
            </a:r>
            <a:r>
              <a:rPr lang="zh-CN" altLang="en-US" sz="1400" dirty="0">
                <a:ea typeface="HarmonyOS Sans SC" panose="00000800000000000000" pitchFamily="2" charset="-122"/>
              </a:rPr>
              <a:t>，而是缓存效益和成本基本平衡的状态</a:t>
            </a:r>
            <a:endParaRPr lang="en-US" altLang="zh-CN" sz="1400" dirty="0">
              <a:ea typeface="HarmonyOS Sans SC" panose="00000800000000000000" pitchFamily="2" charset="-122"/>
            </a:endParaRPr>
          </a:p>
          <a:p>
            <a:endParaRPr lang="en-US" altLang="zh-CN" sz="1400" dirty="0">
              <a:ea typeface="HarmonyOS Sans SC" panose="00000800000000000000" pitchFamily="2" charset="-122"/>
            </a:endParaRPr>
          </a:p>
          <a:p>
            <a:r>
              <a:rPr lang="en-US" altLang="zh-CN" sz="1400" dirty="0" err="1">
                <a:ea typeface="HarmonyOS Sans SC" panose="00000800000000000000" pitchFamily="2" charset="-122"/>
              </a:rPr>
              <a:t>kji</a:t>
            </a:r>
            <a:r>
              <a:rPr lang="en-US" altLang="zh-CN" sz="1400" dirty="0">
                <a:ea typeface="HarmonyOS Sans SC" panose="00000800000000000000" pitchFamily="2" charset="-122"/>
              </a:rPr>
              <a:t> </a:t>
            </a:r>
            <a:r>
              <a:rPr lang="zh-CN" altLang="en-US" sz="1400" dirty="0">
                <a:ea typeface="HarmonyOS Sans SC" panose="00000800000000000000" pitchFamily="2" charset="-122"/>
              </a:rPr>
              <a:t>甚至有 </a:t>
            </a:r>
            <a:r>
              <a:rPr lang="en-US" altLang="zh-CN" sz="1400" dirty="0">
                <a:ea typeface="HarmonyOS Sans SC" panose="00000800000000000000" pitchFamily="2" charset="-122"/>
              </a:rPr>
              <a:t>-1.71% </a:t>
            </a:r>
            <a:r>
              <a:rPr lang="zh-CN" altLang="en-US" sz="1400" dirty="0">
                <a:ea typeface="HarmonyOS Sans SC" panose="00000800000000000000" pitchFamily="2" charset="-122"/>
              </a:rPr>
              <a:t>到 </a:t>
            </a:r>
            <a:r>
              <a:rPr lang="en-US" altLang="zh-CN" sz="1400" dirty="0">
                <a:ea typeface="HarmonyOS Sans SC" panose="00000800000000000000" pitchFamily="2" charset="-122"/>
              </a:rPr>
              <a:t>+5.26% </a:t>
            </a:r>
            <a:r>
              <a:rPr lang="zh-CN" altLang="en-US" sz="1400" dirty="0">
                <a:ea typeface="HarmonyOS Sans SC" panose="00000800000000000000" pitchFamily="2" charset="-122"/>
              </a:rPr>
              <a:t>的波动，无明确方向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31DFFE22-0DCB-74B5-4F97-E8AF7099C752}"/>
              </a:ext>
            </a:extLst>
          </p:cNvPr>
          <p:cNvSpPr/>
          <p:nvPr/>
        </p:nvSpPr>
        <p:spPr>
          <a:xfrm>
            <a:off x="496388" y="3413245"/>
            <a:ext cx="2697480" cy="1554480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B93380AF-E353-877C-CA1C-ADEBE197215C}"/>
              </a:ext>
            </a:extLst>
          </p:cNvPr>
          <p:cNvSpPr/>
          <p:nvPr/>
        </p:nvSpPr>
        <p:spPr>
          <a:xfrm>
            <a:off x="679268" y="441908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BABF685-67B3-3839-6553-76C93064B04D}"/>
              </a:ext>
            </a:extLst>
          </p:cNvPr>
          <p:cNvSpPr/>
          <p:nvPr/>
        </p:nvSpPr>
        <p:spPr>
          <a:xfrm>
            <a:off x="679268" y="464768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D68AF368-7D55-EA10-632B-6BA4C54933C2}"/>
              </a:ext>
            </a:extLst>
          </p:cNvPr>
          <p:cNvSpPr/>
          <p:nvPr/>
        </p:nvSpPr>
        <p:spPr>
          <a:xfrm>
            <a:off x="3376748" y="3413245"/>
            <a:ext cx="2697480" cy="1554480"/>
          </a:xfrm>
          <a:prstGeom prst="rect">
            <a:avLst/>
          </a:prstGeom>
          <a:solidFill>
            <a:srgbClr val="FFEBE9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130B9820-AAEB-28BE-9AD1-41F8CE588884}"/>
              </a:ext>
            </a:extLst>
          </p:cNvPr>
          <p:cNvSpPr/>
          <p:nvPr/>
        </p:nvSpPr>
        <p:spPr>
          <a:xfrm>
            <a:off x="3559628" y="350468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1A2C8035-5B97-AF70-C2D6-86A89CDBE21B}"/>
              </a:ext>
            </a:extLst>
          </p:cNvPr>
          <p:cNvSpPr/>
          <p:nvPr/>
        </p:nvSpPr>
        <p:spPr>
          <a:xfrm>
            <a:off x="3559628" y="3687565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3FCB519F-5F2E-3AFB-3EE0-597466C70A23}"/>
              </a:ext>
            </a:extLst>
          </p:cNvPr>
          <p:cNvSpPr/>
          <p:nvPr/>
        </p:nvSpPr>
        <p:spPr>
          <a:xfrm>
            <a:off x="3559628" y="441908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36429AB6-7D02-3056-422F-AA6835050832}"/>
              </a:ext>
            </a:extLst>
          </p:cNvPr>
          <p:cNvSpPr/>
          <p:nvPr/>
        </p:nvSpPr>
        <p:spPr>
          <a:xfrm>
            <a:off x="3559628" y="464768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EE97AE3B-C307-5613-F9EF-1BCA37BBCCEC}"/>
              </a:ext>
            </a:extLst>
          </p:cNvPr>
          <p:cNvSpPr/>
          <p:nvPr/>
        </p:nvSpPr>
        <p:spPr>
          <a:xfrm>
            <a:off x="6439988" y="350468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EDFBD7D3-CDD8-07A2-023C-A54A293874DA}"/>
              </a:ext>
            </a:extLst>
          </p:cNvPr>
          <p:cNvSpPr/>
          <p:nvPr/>
        </p:nvSpPr>
        <p:spPr>
          <a:xfrm>
            <a:off x="6439988" y="3687565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A44E6368-B13C-CF75-D82D-E90E2B95E2F5}"/>
              </a:ext>
            </a:extLst>
          </p:cNvPr>
          <p:cNvSpPr/>
          <p:nvPr/>
        </p:nvSpPr>
        <p:spPr>
          <a:xfrm>
            <a:off x="6439988" y="441908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1B00A5B1-C836-505E-EEAC-BE6F968FBD41}"/>
              </a:ext>
            </a:extLst>
          </p:cNvPr>
          <p:cNvSpPr/>
          <p:nvPr/>
        </p:nvSpPr>
        <p:spPr>
          <a:xfrm>
            <a:off x="6439988" y="464768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1580766-6295-9E03-5A3C-EDA526440BD5}"/>
              </a:ext>
            </a:extLst>
          </p:cNvPr>
          <p:cNvSpPr txBox="1"/>
          <p:nvPr/>
        </p:nvSpPr>
        <p:spPr>
          <a:xfrm>
            <a:off x="548640" y="3504685"/>
            <a:ext cx="259950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altLang="zh-CN" sz="14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ijk</a:t>
            </a:r>
            <a:r>
              <a:rPr lang="en-US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/</a:t>
            </a:r>
            <a:r>
              <a:rPr lang="en-US" altLang="zh-CN" sz="14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jik</a:t>
            </a: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：性能始终 </a:t>
            </a:r>
            <a:r>
              <a:rPr lang="en-US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+42% ~ +50%</a:t>
            </a: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，非常稳定 ✅</a:t>
            </a:r>
            <a:endParaRPr lang="en-US" altLang="zh-CN" sz="1400" dirty="0">
              <a:ea typeface="HarmonyOS Sans SC" panose="00000800000000000000" pitchFamily="2" charset="-122"/>
            </a:endParaRPr>
          </a:p>
          <a:p>
            <a:pPr marL="0" algn="l" rtl="0" eaLnBrk="1" latinLnBrk="0" hangingPunct="1">
              <a:buNone/>
            </a:pPr>
            <a:endParaRPr lang="en-US" altLang="zh-CN" sz="14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HarmonyOS Sans SC" panose="00000800000000000000" pitchFamily="2" charset="-122"/>
              <a:cs typeface="+mn-cs"/>
            </a:endParaRPr>
          </a:p>
          <a:p>
            <a:pPr marL="0" algn="l" rtl="0" eaLnBrk="1" latinLnBrk="0" hangingPunct="1">
              <a:buNone/>
            </a:pP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两者差异不超过 </a:t>
            </a:r>
            <a:r>
              <a:rPr lang="en-US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3.35%</a:t>
            </a: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，这说明这两个块级的本质特性相同</a:t>
            </a:r>
            <a:endParaRPr lang="zh-CN" altLang="zh-CN" sz="1400" dirty="0">
              <a:effectLst/>
              <a:ea typeface="HarmonyOS Sans SC" panose="00000800000000000000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9598D3A-0964-BC77-361A-E69EDC651EED}"/>
              </a:ext>
            </a:extLst>
          </p:cNvPr>
          <p:cNvSpPr txBox="1"/>
          <p:nvPr/>
        </p:nvSpPr>
        <p:spPr>
          <a:xfrm>
            <a:off x="3480468" y="3498823"/>
            <a:ext cx="24900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altLang="zh-CN" sz="14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ikj</a:t>
            </a:r>
            <a:r>
              <a:rPr lang="en-US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/</a:t>
            </a:r>
            <a:r>
              <a:rPr lang="en-US" altLang="zh-CN" sz="14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kij</a:t>
            </a: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：性能稳定为负（</a:t>
            </a:r>
            <a:r>
              <a:rPr lang="en-US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-15% ~ -27%</a:t>
            </a: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）❌</a:t>
            </a:r>
            <a:endParaRPr lang="en-US" altLang="zh-CN" sz="1400" dirty="0">
              <a:ea typeface="HarmonyOS Sans SC" panose="00000800000000000000" pitchFamily="2" charset="-122"/>
            </a:endParaRPr>
          </a:p>
          <a:p>
            <a:pPr marL="0" algn="l" rtl="0" eaLnBrk="1" latinLnBrk="0" hangingPunct="1">
              <a:buNone/>
            </a:pPr>
            <a:endParaRPr lang="en-US" altLang="zh-CN" sz="14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HarmonyOS Sans SC" panose="00000800000000000000" pitchFamily="2" charset="-122"/>
              <a:cs typeface="+mn-cs"/>
            </a:endParaRPr>
          </a:p>
          <a:p>
            <a:pPr marL="0" algn="l" rtl="0" eaLnBrk="1" latinLnBrk="0" hangingPunct="1">
              <a:buNone/>
            </a:pP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说明这两个块级破坏了缓存效率</a:t>
            </a:r>
            <a:endParaRPr lang="zh-CN" altLang="zh-CN" sz="1400" dirty="0">
              <a:effectLst/>
              <a:ea typeface="HarmonyOS Sans SC" panose="00000800000000000000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6FCB68E-B1DF-140B-ADB4-B6D324D43186}"/>
              </a:ext>
            </a:extLst>
          </p:cNvPr>
          <p:cNvSpPr txBox="1"/>
          <p:nvPr/>
        </p:nvSpPr>
        <p:spPr>
          <a:xfrm>
            <a:off x="4507766" y="1307826"/>
            <a:ext cx="45720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sz="1200" b="1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2️⃣ </a:t>
            </a:r>
            <a:r>
              <a:rPr lang="zh-CN" altLang="en-US" sz="1200" b="1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元素级顺序的影响 </a:t>
            </a:r>
            <a:r>
              <a:rPr lang="en-US" altLang="zh-CN" sz="1200" b="1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— </a:t>
            </a:r>
            <a:r>
              <a:rPr lang="zh-CN" altLang="en-US" sz="1200" b="1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几乎没有！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1200" b="1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全部区域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：元素级无关紧要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 err="1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ijk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块级：所有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个元素级都在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+42% ~ +50%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（波动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±3.95%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）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 err="1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jik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块级：所有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个元素级都在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+42% ~ +46%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（波动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±1.68%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）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 err="1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kij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块级：所有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个元素级都在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-25% ~ -30%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（波动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±2.52%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）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 err="1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ikj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块级：所有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个元素级都在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-10% ~ -15%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（波动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±2.59%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90140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1F7C-1309-0DB2-E7E6-345E7EDE3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726FD4-1C6F-52B5-696B-9625B2440CC7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问题分析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C4A0D0-CFBB-C213-DA6C-7239E27D12F3}"/>
              </a:ext>
            </a:extLst>
          </p:cNvPr>
          <p:cNvSpPr/>
          <p:nvPr/>
        </p:nvSpPr>
        <p:spPr>
          <a:xfrm flipV="1">
            <a:off x="382385" y="700679"/>
            <a:ext cx="7544934" cy="45719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7" name="Shape 27">
            <a:extLst>
              <a:ext uri="{FF2B5EF4-FFF2-40B4-BE49-F238E27FC236}">
                <a16:creationId xmlns:a16="http://schemas.microsoft.com/office/drawing/2014/main" id="{53D1C610-A7CC-22B0-2EC3-C8D8C6C4E1BD}"/>
              </a:ext>
            </a:extLst>
          </p:cNvPr>
          <p:cNvSpPr/>
          <p:nvPr/>
        </p:nvSpPr>
        <p:spPr>
          <a:xfrm>
            <a:off x="382385" y="1042492"/>
            <a:ext cx="4292091" cy="3788949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A34632E5-576C-1EAD-4284-0D1A92F2E4C2}"/>
              </a:ext>
            </a:extLst>
          </p:cNvPr>
          <p:cNvSpPr/>
          <p:nvPr/>
        </p:nvSpPr>
        <p:spPr>
          <a:xfrm>
            <a:off x="5402333" y="861239"/>
            <a:ext cx="619466" cy="90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40984A2D-BC6C-9F72-6FD9-85B9805DE05B}"/>
              </a:ext>
            </a:extLst>
          </p:cNvPr>
          <p:cNvSpPr/>
          <p:nvPr/>
        </p:nvSpPr>
        <p:spPr>
          <a:xfrm>
            <a:off x="5944423" y="861239"/>
            <a:ext cx="1061942" cy="90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D05F6BD4-9EBF-BC3A-86D2-606C3AF8F1F8}"/>
              </a:ext>
            </a:extLst>
          </p:cNvPr>
          <p:cNvSpPr/>
          <p:nvPr/>
        </p:nvSpPr>
        <p:spPr>
          <a:xfrm>
            <a:off x="7074349" y="861239"/>
            <a:ext cx="1327427" cy="90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28">
            <a:extLst>
              <a:ext uri="{FF2B5EF4-FFF2-40B4-BE49-F238E27FC236}">
                <a16:creationId xmlns:a16="http://schemas.microsoft.com/office/drawing/2014/main" id="{D83CB13C-F49E-CA27-D6F6-192B6231DC58}"/>
              </a:ext>
            </a:extLst>
          </p:cNvPr>
          <p:cNvSpPr/>
          <p:nvPr/>
        </p:nvSpPr>
        <p:spPr>
          <a:xfrm>
            <a:off x="382385" y="951053"/>
            <a:ext cx="4292091" cy="11430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759594-00B2-352C-B1CC-5CAD6103FA9A}"/>
              </a:ext>
            </a:extLst>
          </p:cNvPr>
          <p:cNvSpPr txBox="1"/>
          <p:nvPr/>
        </p:nvSpPr>
        <p:spPr>
          <a:xfrm>
            <a:off x="2276199" y="328766"/>
            <a:ext cx="6036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为什么内层（元素级）循环顺序会被外层（块级）循环顺序“吞没”？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867413-4AF2-53A4-CD23-35E1652B11FF}"/>
              </a:ext>
            </a:extLst>
          </p:cNvPr>
          <p:cNvSpPr txBox="1"/>
          <p:nvPr/>
        </p:nvSpPr>
        <p:spPr>
          <a:xfrm>
            <a:off x="496388" y="1330263"/>
            <a:ext cx="417808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在直接矩阵乘法中，内层循环决定了一切；但在分块矩阵中，外层循环决定了数据的“生命周期”，这使得内层顺序变得微不足道。</a:t>
            </a:r>
            <a:endParaRPr lang="en-US" altLang="zh-CN" sz="1400" dirty="0">
              <a:ea typeface="HarmonyOS Sans SC" panose="00000800000000000000" pitchFamily="2" charset="-122"/>
            </a:endParaRPr>
          </a:p>
          <a:p>
            <a:endParaRPr lang="en-US" altLang="zh-CN" sz="1400" dirty="0">
              <a:ea typeface="HarmonyOS Sans SC" panose="00000800000000000000" pitchFamily="2" charset="-122"/>
            </a:endParaRPr>
          </a:p>
          <a:p>
            <a:r>
              <a:rPr lang="zh-CN" altLang="en-US" sz="1400" dirty="0">
                <a:ea typeface="HarmonyOS Sans SC" panose="00000800000000000000" pitchFamily="2" charset="-122"/>
              </a:rPr>
              <a:t>基数效应：外层循环（块级）决定了 B 块进入 Cache 的总次数。例如在 block_ijk 顺序下，B 块由于复用频率极低，进入 Cache 的 Miss 基数非常大。内层顺序带来的那点波动在整体耗时面前完全被淹没了。</a:t>
            </a:r>
            <a:endParaRPr lang="en-US" altLang="zh-CN" sz="1400" dirty="0">
              <a:ea typeface="HarmonyOS Sans SC" panose="00000800000000000000" pitchFamily="2" charset="-122"/>
            </a:endParaRPr>
          </a:p>
          <a:p>
            <a:endParaRPr lang="en-US" altLang="zh-CN" sz="1400" dirty="0">
              <a:ea typeface="HarmonyOS Sans SC" panose="00000800000000000000" pitchFamily="2" charset="-122"/>
            </a:endParaRPr>
          </a:p>
          <a:p>
            <a:r>
              <a:rPr lang="zh-CN" altLang="en-US" sz="1400" dirty="0">
                <a:ea typeface="HarmonyOS Sans SC" panose="00000800000000000000" pitchFamily="2" charset="-122"/>
              </a:rPr>
              <a:t>缓存工作的限制：分块的本质是把数据“锁”在 L1/L2 Cache 中。当外层循环选定了某个 B 块后，这个 64x64 的小矩阵已经驻留在缓存里了。一旦数据在缓存里，不管是行读还是列读，其延迟差异远小于从内存加载数据的延迟。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DF05E526-00F8-0089-A240-B36C73E9CB9D}"/>
              </a:ext>
            </a:extLst>
          </p:cNvPr>
          <p:cNvSpPr/>
          <p:nvPr/>
        </p:nvSpPr>
        <p:spPr>
          <a:xfrm>
            <a:off x="4807132" y="986446"/>
            <a:ext cx="3849874" cy="190857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2BF74CC5-2761-0765-8894-2D1441597E73}"/>
              </a:ext>
            </a:extLst>
          </p:cNvPr>
          <p:cNvSpPr/>
          <p:nvPr/>
        </p:nvSpPr>
        <p:spPr>
          <a:xfrm>
            <a:off x="4797738" y="957079"/>
            <a:ext cx="3859267" cy="126233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A370348F-214F-5B1D-5A33-312687F4FD36}"/>
              </a:ext>
            </a:extLst>
          </p:cNvPr>
          <p:cNvSpPr/>
          <p:nvPr/>
        </p:nvSpPr>
        <p:spPr>
          <a:xfrm>
            <a:off x="4761412" y="3093306"/>
            <a:ext cx="640080" cy="448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24985517-7185-EEFF-0892-A1B0230BC6BD}"/>
              </a:ext>
            </a:extLst>
          </p:cNvPr>
          <p:cNvSpPr/>
          <p:nvPr/>
        </p:nvSpPr>
        <p:spPr>
          <a:xfrm>
            <a:off x="6590212" y="3093306"/>
            <a:ext cx="1371600" cy="448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8769B830-E683-358E-C7BB-BA4CC0FF1AC4}"/>
              </a:ext>
            </a:extLst>
          </p:cNvPr>
          <p:cNvSpPr/>
          <p:nvPr/>
        </p:nvSpPr>
        <p:spPr>
          <a:xfrm>
            <a:off x="2562587" y="29333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A0489139-288D-9B10-02CB-DB9DE931F569}"/>
              </a:ext>
            </a:extLst>
          </p:cNvPr>
          <p:cNvSpPr/>
          <p:nvPr/>
        </p:nvSpPr>
        <p:spPr>
          <a:xfrm>
            <a:off x="3202667" y="29333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F5802E3F-42F3-E456-0463-A4B4B4CCAD99}"/>
              </a:ext>
            </a:extLst>
          </p:cNvPr>
          <p:cNvSpPr/>
          <p:nvPr/>
        </p:nvSpPr>
        <p:spPr>
          <a:xfrm>
            <a:off x="4391387" y="29333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DDA1AB75-2CB8-E0C0-7FAE-F8774886C5B8}"/>
              </a:ext>
            </a:extLst>
          </p:cNvPr>
          <p:cNvSpPr/>
          <p:nvPr/>
        </p:nvSpPr>
        <p:spPr>
          <a:xfrm>
            <a:off x="2562587" y="2844581"/>
            <a:ext cx="64008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E4B23B30-F8BA-0B95-C148-B53666352C7B}"/>
              </a:ext>
            </a:extLst>
          </p:cNvPr>
          <p:cNvSpPr/>
          <p:nvPr/>
        </p:nvSpPr>
        <p:spPr>
          <a:xfrm>
            <a:off x="3202667" y="2844581"/>
            <a:ext cx="109728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D28BA44E-2701-18D1-65DE-67085CD44484}"/>
              </a:ext>
            </a:extLst>
          </p:cNvPr>
          <p:cNvSpPr/>
          <p:nvPr/>
        </p:nvSpPr>
        <p:spPr>
          <a:xfrm>
            <a:off x="4391387" y="2844581"/>
            <a:ext cx="137160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4255FD5A-3770-35F6-7D47-4E8CCD82EEA2}"/>
              </a:ext>
            </a:extLst>
          </p:cNvPr>
          <p:cNvSpPr/>
          <p:nvPr/>
        </p:nvSpPr>
        <p:spPr>
          <a:xfrm>
            <a:off x="4807132" y="3070276"/>
            <a:ext cx="3840480" cy="175747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810B7FC5-A8E0-5A52-D2BA-E17DBC61C589}"/>
              </a:ext>
            </a:extLst>
          </p:cNvPr>
          <p:cNvSpPr/>
          <p:nvPr/>
        </p:nvSpPr>
        <p:spPr>
          <a:xfrm>
            <a:off x="4807132" y="3070275"/>
            <a:ext cx="3840480" cy="45719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E5CF91F6-712E-650B-170E-47F97A6F4F45}"/>
              </a:ext>
            </a:extLst>
          </p:cNvPr>
          <p:cNvSpPr/>
          <p:nvPr/>
        </p:nvSpPr>
        <p:spPr>
          <a:xfrm>
            <a:off x="4990012" y="3436036"/>
            <a:ext cx="2743200" cy="431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F8837A23-031F-EB10-C972-82319EC87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132" y="3389916"/>
            <a:ext cx="3502681" cy="100366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10D12CF3-D3D2-A17D-0254-614A0055B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711" y="1159800"/>
            <a:ext cx="3657727" cy="176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88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E9FB0-CD46-CA86-68F0-EAE3D3CD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D0B89F-4DAB-320C-7376-FB43251DA7BB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问题分析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35A25A-5D47-8A3C-E7B0-2DFFD8EE6848}"/>
              </a:ext>
            </a:extLst>
          </p:cNvPr>
          <p:cNvSpPr/>
          <p:nvPr/>
        </p:nvSpPr>
        <p:spPr>
          <a:xfrm flipV="1">
            <a:off x="382385" y="700679"/>
            <a:ext cx="7544934" cy="45719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7" name="Shape 27">
            <a:extLst>
              <a:ext uri="{FF2B5EF4-FFF2-40B4-BE49-F238E27FC236}">
                <a16:creationId xmlns:a16="http://schemas.microsoft.com/office/drawing/2014/main" id="{13808A74-3EF6-A7BB-AC9D-BF8CD460D637}"/>
              </a:ext>
            </a:extLst>
          </p:cNvPr>
          <p:cNvSpPr/>
          <p:nvPr/>
        </p:nvSpPr>
        <p:spPr>
          <a:xfrm>
            <a:off x="382386" y="1101113"/>
            <a:ext cx="3011758" cy="3726633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pPr>
              <a:buNone/>
            </a:pPr>
            <a:endParaRPr lang="en-US" altLang="zh-CN" sz="1400" dirty="0">
              <a:latin typeface="Google Sans Text"/>
              <a:ea typeface="HarmonyOS Sans SC" panose="00000800000000000000" pitchFamily="2" charset="-122"/>
            </a:endParaRPr>
          </a:p>
          <a:p>
            <a:pPr>
              <a:buNone/>
            </a:pPr>
            <a:r>
              <a:rPr lang="zh-CN" altLang="en-US" sz="1400" dirty="0">
                <a:latin typeface="Google Sans Text"/>
                <a:ea typeface="HarmonyOS Sans SC" panose="00000800000000000000" pitchFamily="2" charset="-122"/>
              </a:rPr>
              <a:t>外层循环对 </a:t>
            </a:r>
            <a:r>
              <a:rPr lang="en-US" altLang="zh-CN" sz="1400" dirty="0">
                <a:latin typeface="Google Sans Text"/>
                <a:ea typeface="HarmonyOS Sans SC" panose="00000800000000000000" pitchFamily="2" charset="-122"/>
              </a:rPr>
              <a:t>B </a:t>
            </a:r>
            <a:r>
              <a:rPr lang="zh-CN" altLang="en-US" sz="1400" dirty="0">
                <a:latin typeface="Google Sans Text"/>
                <a:ea typeface="HarmonyOS Sans SC" panose="00000800000000000000" pitchFamily="2" charset="-122"/>
              </a:rPr>
              <a:t>块的“复用频率（</a:t>
            </a:r>
            <a:r>
              <a:rPr lang="en-US" altLang="zh-CN" sz="1400" dirty="0">
                <a:latin typeface="Google Sans Text"/>
                <a:ea typeface="HarmonyOS Sans SC" panose="00000800000000000000" pitchFamily="2" charset="-122"/>
              </a:rPr>
              <a:t>Reuse Frequency</a:t>
            </a:r>
            <a:r>
              <a:rPr lang="zh-CN" altLang="en-US" sz="1400" dirty="0">
                <a:latin typeface="Google Sans Text"/>
                <a:ea typeface="HarmonyOS Sans SC" panose="00000800000000000000" pitchFamily="2" charset="-122"/>
              </a:rPr>
              <a:t>）”是决定转置正负优化的唯一标准。</a:t>
            </a:r>
            <a:endParaRPr lang="en-US" altLang="zh-CN" sz="1400" dirty="0">
              <a:latin typeface="Google Sans Text"/>
              <a:ea typeface="HarmonyOS Sans SC" panose="00000800000000000000" pitchFamily="2" charset="-122"/>
            </a:endParaRPr>
          </a:p>
          <a:p>
            <a:pPr>
              <a:buNone/>
            </a:pPr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en-US" altLang="zh-CN" sz="1200" dirty="0">
                <a:ea typeface="HarmonyOS Sans SC" panose="00000800000000000000" pitchFamily="2" charset="-122"/>
              </a:rPr>
              <a:t>1. </a:t>
            </a:r>
            <a:r>
              <a:rPr lang="zh-CN" altLang="zh-CN" sz="1200" dirty="0">
                <a:ea typeface="HarmonyOS Sans SC" panose="00000800000000000000" pitchFamily="2" charset="-122"/>
              </a:rPr>
              <a:t>低复用频率强正优化（代表：</a:t>
            </a:r>
            <a:r>
              <a:rPr lang="en-US" altLang="zh-CN" sz="1200" dirty="0" err="1">
                <a:ea typeface="HarmonyOS Sans SC" panose="00000800000000000000" pitchFamily="2" charset="-122"/>
              </a:rPr>
              <a:t>ijk</a:t>
            </a:r>
            <a:r>
              <a:rPr lang="en-US" altLang="zh-CN" sz="1200" dirty="0">
                <a:ea typeface="HarmonyOS Sans SC" panose="00000800000000000000" pitchFamily="2" charset="-122"/>
              </a:rPr>
              <a:t> / </a:t>
            </a:r>
            <a:r>
              <a:rPr lang="en-US" altLang="zh-CN" sz="1200" dirty="0" err="1">
                <a:ea typeface="HarmonyOS Sans SC" panose="00000800000000000000" pitchFamily="2" charset="-122"/>
              </a:rPr>
              <a:t>jik</a:t>
            </a:r>
            <a:r>
              <a:rPr lang="zh-CN" altLang="zh-CN" sz="1200" dirty="0">
                <a:ea typeface="HarmonyOS Sans SC" panose="00000800000000000000" pitchFamily="2" charset="-122"/>
              </a:rPr>
              <a:t>）</a:t>
            </a:r>
          </a:p>
          <a:p>
            <a:endParaRPr lang="en-US" altLang="zh-CN" sz="1200" dirty="0">
              <a:ea typeface="HarmonyOS Sans SC" panose="00000800000000000000" pitchFamily="2" charset="-122"/>
            </a:endParaRPr>
          </a:p>
          <a:p>
            <a:r>
              <a:rPr lang="zh-CN" altLang="zh-CN" sz="1200" dirty="0">
                <a:ea typeface="HarmonyOS Sans SC" panose="00000800000000000000" pitchFamily="2" charset="-122"/>
              </a:rPr>
              <a:t>依据：在 </a:t>
            </a:r>
            <a:r>
              <a:rPr lang="en-US" altLang="zh-CN" sz="1200" dirty="0" err="1">
                <a:ea typeface="HarmonyOS Sans SC" panose="00000800000000000000" pitchFamily="2" charset="-122"/>
              </a:rPr>
              <a:t>ijk</a:t>
            </a:r>
            <a:r>
              <a:rPr lang="en-US" altLang="zh-CN" sz="1200" dirty="0">
                <a:ea typeface="HarmonyOS Sans SC" panose="00000800000000000000" pitchFamily="2" charset="-122"/>
              </a:rPr>
              <a:t> </a:t>
            </a:r>
            <a:r>
              <a:rPr lang="zh-CN" altLang="zh-CN" sz="1200" dirty="0">
                <a:ea typeface="HarmonyOS Sans SC" panose="00000800000000000000" pitchFamily="2" charset="-122"/>
              </a:rPr>
              <a:t>顺序中，</a:t>
            </a:r>
            <a:r>
              <a:rPr lang="en-US" altLang="zh-CN" sz="1200" dirty="0">
                <a:ea typeface="HarmonyOS Sans SC" panose="00000800000000000000" pitchFamily="2" charset="-122"/>
              </a:rPr>
              <a:t>B </a:t>
            </a:r>
            <a:r>
              <a:rPr lang="zh-CN" altLang="zh-CN" sz="1200" dirty="0">
                <a:ea typeface="HarmonyOS Sans SC" panose="00000800000000000000" pitchFamily="2" charset="-122"/>
              </a:rPr>
              <a:t>块在最内层被加载后，很快就会被下一个 </a:t>
            </a:r>
            <a:r>
              <a:rPr lang="en-US" altLang="zh-CN" sz="1200" dirty="0">
                <a:ea typeface="HarmonyOS Sans SC" panose="00000800000000000000" pitchFamily="2" charset="-122"/>
              </a:rPr>
              <a:t>B </a:t>
            </a:r>
            <a:r>
              <a:rPr lang="zh-CN" altLang="zh-CN" sz="1200" dirty="0">
                <a:ea typeface="HarmonyOS Sans SC" panose="00000800000000000000" pitchFamily="2" charset="-122"/>
              </a:rPr>
              <a:t>块驱逐。</a:t>
            </a:r>
          </a:p>
          <a:p>
            <a:endParaRPr lang="en-US" altLang="zh-CN" sz="1200" dirty="0">
              <a:ea typeface="HarmonyOS Sans SC" panose="00000800000000000000" pitchFamily="2" charset="-122"/>
            </a:endParaRPr>
          </a:p>
          <a:p>
            <a:r>
              <a:rPr lang="zh-CN" altLang="zh-CN" sz="1200" dirty="0">
                <a:ea typeface="HarmonyOS Sans SC" panose="00000800000000000000" pitchFamily="2" charset="-122"/>
              </a:rPr>
              <a:t>转置将其改为 </a:t>
            </a:r>
            <a:r>
              <a:rPr lang="en-US" altLang="zh-CN" sz="1200" dirty="0">
                <a:ea typeface="HarmonyOS Sans SC" panose="00000800000000000000" pitchFamily="2" charset="-122"/>
              </a:rPr>
              <a:t>Stride=1 </a:t>
            </a:r>
            <a:r>
              <a:rPr lang="zh-CN" altLang="zh-CN" sz="1200" dirty="0">
                <a:ea typeface="HarmonyOS Sans SC" panose="00000800000000000000" pitchFamily="2" charset="-122"/>
              </a:rPr>
              <a:t>后，空间局部性的巨大飞跃，完全补偿了外层循环带来的高频加载开销。</a:t>
            </a:r>
          </a:p>
          <a:p>
            <a:pPr>
              <a:buNone/>
            </a:pPr>
            <a:endParaRPr lang="zh-CN" altLang="en-US" sz="1400" dirty="0">
              <a:latin typeface="Google Sans Text"/>
              <a:ea typeface="HarmonyOS Sans SC" panose="00000800000000000000" pitchFamily="2" charset="-122"/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25BD7620-961B-6CCC-98D5-7E759B14BD67}"/>
              </a:ext>
            </a:extLst>
          </p:cNvPr>
          <p:cNvSpPr/>
          <p:nvPr/>
        </p:nvSpPr>
        <p:spPr>
          <a:xfrm>
            <a:off x="5433099" y="839173"/>
            <a:ext cx="532215" cy="723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33F7A815-D21B-6570-106C-455DBEA0D32F}"/>
              </a:ext>
            </a:extLst>
          </p:cNvPr>
          <p:cNvSpPr/>
          <p:nvPr/>
        </p:nvSpPr>
        <p:spPr>
          <a:xfrm>
            <a:off x="5975189" y="839172"/>
            <a:ext cx="1132256" cy="735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7955BBFE-C3E7-7DFE-69FD-E2B59D59B5E1}"/>
              </a:ext>
            </a:extLst>
          </p:cNvPr>
          <p:cNvSpPr/>
          <p:nvPr/>
        </p:nvSpPr>
        <p:spPr>
          <a:xfrm>
            <a:off x="7105115" y="839172"/>
            <a:ext cx="1415319" cy="735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28">
            <a:extLst>
              <a:ext uri="{FF2B5EF4-FFF2-40B4-BE49-F238E27FC236}">
                <a16:creationId xmlns:a16="http://schemas.microsoft.com/office/drawing/2014/main" id="{4CE5E8C3-ED25-9B1D-F39A-D81B7291394D}"/>
              </a:ext>
            </a:extLst>
          </p:cNvPr>
          <p:cNvSpPr/>
          <p:nvPr/>
        </p:nvSpPr>
        <p:spPr>
          <a:xfrm>
            <a:off x="382385" y="951054"/>
            <a:ext cx="3011759" cy="15006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B80AC0-D144-F6C4-367C-5AB91A6A6170}"/>
              </a:ext>
            </a:extLst>
          </p:cNvPr>
          <p:cNvSpPr txBox="1"/>
          <p:nvPr/>
        </p:nvSpPr>
        <p:spPr>
          <a:xfrm>
            <a:off x="2276199" y="328766"/>
            <a:ext cx="6036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外层循环顺序是根据什么来决定转置前后效果的？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DCE8DBC0-09A8-7838-8791-8BE6E50438C8}"/>
              </a:ext>
            </a:extLst>
          </p:cNvPr>
          <p:cNvSpPr/>
          <p:nvPr/>
        </p:nvSpPr>
        <p:spPr>
          <a:xfrm>
            <a:off x="3569648" y="1053040"/>
            <a:ext cx="5074976" cy="197414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pPr>
              <a:buNone/>
            </a:pPr>
            <a:r>
              <a:rPr lang="en-US" altLang="zh-CN" sz="1200" dirty="0">
                <a:latin typeface="Google Sans"/>
                <a:ea typeface="HarmonyOS Sans SC" panose="00000800000000000000" pitchFamily="2" charset="-122"/>
              </a:rPr>
              <a:t>2. </a:t>
            </a:r>
            <a:r>
              <a:rPr lang="zh-CN" altLang="en-US" sz="1200" dirty="0">
                <a:latin typeface="Google Sans"/>
                <a:ea typeface="HarmonyOS Sans SC" panose="00000800000000000000" pitchFamily="2" charset="-122"/>
              </a:rPr>
              <a:t>高复用频率 强负优化（代表：</a:t>
            </a:r>
            <a:r>
              <a:rPr lang="en-US" altLang="zh-CN" sz="1200" dirty="0" err="1">
                <a:latin typeface="Google Sans"/>
                <a:ea typeface="HarmonyOS Sans SC" panose="00000800000000000000" pitchFamily="2" charset="-122"/>
              </a:rPr>
              <a:t>kij</a:t>
            </a:r>
            <a:r>
              <a:rPr lang="en-US" altLang="zh-CN" sz="1200" dirty="0">
                <a:latin typeface="Google Sans"/>
                <a:ea typeface="HarmonyOS Sans SC" panose="00000800000000000000" pitchFamily="2" charset="-122"/>
              </a:rPr>
              <a:t>/</a:t>
            </a:r>
            <a:r>
              <a:rPr lang="en-US" altLang="zh-CN" sz="1200" dirty="0" err="1">
                <a:latin typeface="Google Sans"/>
                <a:ea typeface="HarmonyOS Sans SC" panose="00000800000000000000" pitchFamily="2" charset="-122"/>
              </a:rPr>
              <a:t>ikj</a:t>
            </a:r>
            <a:r>
              <a:rPr lang="zh-CN" altLang="en-US" sz="1200" dirty="0">
                <a:latin typeface="Google Sans"/>
                <a:ea typeface="HarmonyOS Sans SC" panose="00000800000000000000" pitchFamily="2" charset="-122"/>
              </a:rPr>
              <a:t>）</a:t>
            </a:r>
          </a:p>
          <a:p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在 </a:t>
            </a:r>
            <a:r>
              <a:rPr lang="en-US" altLang="zh-CN" sz="1200" dirty="0" err="1">
                <a:latin typeface="Google Sans Text"/>
                <a:ea typeface="HarmonyOS Sans SC" panose="00000800000000000000" pitchFamily="2" charset="-122"/>
              </a:rPr>
              <a:t>kij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顺序中，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B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块位于最外层。这意味着它一旦进入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Cache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，就会被后续所有的 </a:t>
            </a:r>
            <a:r>
              <a:rPr lang="en-US" altLang="zh-CN" sz="1200" dirty="0" err="1">
                <a:latin typeface="Google Sans Text"/>
                <a:ea typeface="HarmonyOS Sans SC" panose="00000800000000000000" pitchFamily="2" charset="-122"/>
              </a:rPr>
              <a:t>i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和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j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循环反复使用。相反，转置操作引入了两个负面影响：转置</a:t>
            </a:r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1.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副本开销：多了一块内存占用，可能挤占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C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矩阵的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Cache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空间。</a:t>
            </a:r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2.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破坏原生对齐：原本 </a:t>
            </a:r>
            <a:r>
              <a:rPr lang="en-US" altLang="zh-CN" sz="1200" dirty="0" err="1">
                <a:latin typeface="Google Sans Text"/>
                <a:ea typeface="HarmonyOS Sans SC" panose="00000800000000000000" pitchFamily="2" charset="-122"/>
              </a:rPr>
              <a:t>kij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的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B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访问就是行连续的，强行转置反而把好端端的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Stride=1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改成了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Stride=N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。</a:t>
            </a: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2E88B682-8829-2C00-633D-29E1E6F5C7E1}"/>
              </a:ext>
            </a:extLst>
          </p:cNvPr>
          <p:cNvSpPr/>
          <p:nvPr/>
        </p:nvSpPr>
        <p:spPr>
          <a:xfrm>
            <a:off x="3569648" y="957079"/>
            <a:ext cx="5087358" cy="13057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A8FFB16-FBBA-B58F-2F99-928E938569B0}"/>
              </a:ext>
            </a:extLst>
          </p:cNvPr>
          <p:cNvSpPr/>
          <p:nvPr/>
        </p:nvSpPr>
        <p:spPr>
          <a:xfrm>
            <a:off x="4596881" y="3093306"/>
            <a:ext cx="680307" cy="440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816549A-1CF2-F1FD-07BF-7A27C6D0810F}"/>
              </a:ext>
            </a:extLst>
          </p:cNvPr>
          <p:cNvSpPr/>
          <p:nvPr/>
        </p:nvSpPr>
        <p:spPr>
          <a:xfrm>
            <a:off x="6152676" y="3093306"/>
            <a:ext cx="1809136" cy="448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22">
            <a:extLst>
              <a:ext uri="{FF2B5EF4-FFF2-40B4-BE49-F238E27FC236}">
                <a16:creationId xmlns:a16="http://schemas.microsoft.com/office/drawing/2014/main" id="{8C68E162-5241-6EBB-951E-F6407D1A7292}"/>
              </a:ext>
            </a:extLst>
          </p:cNvPr>
          <p:cNvSpPr/>
          <p:nvPr/>
        </p:nvSpPr>
        <p:spPr>
          <a:xfrm>
            <a:off x="3582030" y="3070276"/>
            <a:ext cx="5065582" cy="175747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pPr>
              <a:buNone/>
            </a:pPr>
            <a:r>
              <a:rPr lang="en-US" altLang="zh-CN" sz="1200" dirty="0">
                <a:latin typeface="Google Sans"/>
                <a:ea typeface="HarmonyOS Sans SC" panose="00000800000000000000" pitchFamily="2" charset="-122"/>
              </a:rPr>
              <a:t>3. </a:t>
            </a:r>
            <a:r>
              <a:rPr lang="zh-CN" altLang="en-US" sz="1200" dirty="0">
                <a:latin typeface="Google Sans"/>
                <a:ea typeface="HarmonyOS Sans SC" panose="00000800000000000000" pitchFamily="2" charset="-122"/>
              </a:rPr>
              <a:t>中复用频率 动态平衡（代表：</a:t>
            </a:r>
            <a:r>
              <a:rPr lang="en-US" altLang="zh-CN" sz="1200" dirty="0" err="1">
                <a:latin typeface="Google Sans"/>
                <a:ea typeface="HarmonyOS Sans SC" panose="00000800000000000000" pitchFamily="2" charset="-122"/>
              </a:rPr>
              <a:t>jki</a:t>
            </a:r>
            <a:r>
              <a:rPr lang="en-US" altLang="zh-CN" sz="1200" dirty="0">
                <a:latin typeface="Google Sans"/>
                <a:ea typeface="HarmonyOS Sans SC" panose="00000800000000000000" pitchFamily="2" charset="-122"/>
              </a:rPr>
              <a:t>/</a:t>
            </a:r>
            <a:r>
              <a:rPr lang="en-US" altLang="zh-CN" sz="1200" dirty="0" err="1">
                <a:latin typeface="Google Sans"/>
                <a:ea typeface="HarmonyOS Sans SC" panose="00000800000000000000" pitchFamily="2" charset="-122"/>
              </a:rPr>
              <a:t>kji</a:t>
            </a:r>
            <a:r>
              <a:rPr lang="en-US" altLang="zh-CN" sz="1200" dirty="0">
                <a:latin typeface="Google Sans"/>
                <a:ea typeface="HarmonyOS Sans SC" panose="00000800000000000000" pitchFamily="2" charset="-122"/>
              </a:rPr>
              <a:t> </a:t>
            </a:r>
            <a:r>
              <a:rPr lang="zh-CN" altLang="en-US" sz="1200" dirty="0">
                <a:latin typeface="Google Sans"/>
                <a:ea typeface="HarmonyOS Sans SC" panose="00000800000000000000" pitchFamily="2" charset="-122"/>
              </a:rPr>
              <a:t>）</a:t>
            </a:r>
          </a:p>
          <a:p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依据：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K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和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j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位于前两层，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B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块的复用频率适中。</a:t>
            </a:r>
          </a:p>
          <a:p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此时转置带来的空间局部性收益（更快的读）与它破坏的时间局部性损耗达到了临界点，两者相互抵消，导致转置变得“可有可无”。</a:t>
            </a:r>
          </a:p>
        </p:txBody>
      </p:sp>
      <p:sp>
        <p:nvSpPr>
          <p:cNvPr id="17" name="Shape 23">
            <a:extLst>
              <a:ext uri="{FF2B5EF4-FFF2-40B4-BE49-F238E27FC236}">
                <a16:creationId xmlns:a16="http://schemas.microsoft.com/office/drawing/2014/main" id="{7FA0222C-F55F-BA67-F8DB-CFA9ED1CB5F7}"/>
              </a:ext>
            </a:extLst>
          </p:cNvPr>
          <p:cNvSpPr/>
          <p:nvPr/>
        </p:nvSpPr>
        <p:spPr>
          <a:xfrm>
            <a:off x="3582030" y="3070275"/>
            <a:ext cx="5065582" cy="45719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C2AEA19C-C9AA-7A0C-B2AD-86AA86C10CB4}"/>
              </a:ext>
            </a:extLst>
          </p:cNvPr>
          <p:cNvSpPr/>
          <p:nvPr/>
        </p:nvSpPr>
        <p:spPr>
          <a:xfrm>
            <a:off x="4114939" y="3436036"/>
            <a:ext cx="3618273" cy="431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36466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61676-F094-EE84-898C-ABF7A3C01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DCD00C-30B9-7CF1-6F79-5DC1936F1574}"/>
              </a:ext>
            </a:extLst>
          </p:cNvPr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alibri" pitchFamily="34" charset="-120"/>
              </a:rPr>
              <a:t>问题</a:t>
            </a:r>
            <a:r>
              <a:rPr lang="zh-CN" altLang="en-US" sz="2800" b="1" dirty="0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alibri" pitchFamily="34" charset="-120"/>
              </a:rPr>
              <a:t>描述</a:t>
            </a:r>
            <a:endParaRPr lang="en-US" sz="28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2700D4-4995-35A6-8CC4-1ED2867F617C}"/>
              </a:ext>
            </a:extLst>
          </p:cNvPr>
          <p:cNvSpPr/>
          <p:nvPr/>
        </p:nvSpPr>
        <p:spPr>
          <a:xfrm>
            <a:off x="548639" y="868680"/>
            <a:ext cx="1596683" cy="685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9B6F7F-14DB-629F-B89C-1A6F1BA15A93}"/>
              </a:ext>
            </a:extLst>
          </p:cNvPr>
          <p:cNvSpPr/>
          <p:nvPr/>
        </p:nvSpPr>
        <p:spPr>
          <a:xfrm>
            <a:off x="548639" y="2251710"/>
            <a:ext cx="4572000" cy="320040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C0D554-22EF-683F-114A-DA6A973DA4D8}"/>
              </a:ext>
            </a:extLst>
          </p:cNvPr>
          <p:cNvSpPr/>
          <p:nvPr/>
        </p:nvSpPr>
        <p:spPr>
          <a:xfrm>
            <a:off x="731519" y="234772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E292AF5-8E37-9BFD-440C-A75FCDDA46A7}"/>
              </a:ext>
            </a:extLst>
          </p:cNvPr>
          <p:cNvSpPr/>
          <p:nvPr/>
        </p:nvSpPr>
        <p:spPr>
          <a:xfrm>
            <a:off x="886967" y="234772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3669EF-A9D0-FA87-B6CB-ECA1ABF1D298}"/>
              </a:ext>
            </a:extLst>
          </p:cNvPr>
          <p:cNvSpPr/>
          <p:nvPr/>
        </p:nvSpPr>
        <p:spPr>
          <a:xfrm>
            <a:off x="1042415" y="234772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7A75C28-955F-BE49-A9C3-9956B46F2D8A}"/>
              </a:ext>
            </a:extLst>
          </p:cNvPr>
          <p:cNvSpPr/>
          <p:nvPr/>
        </p:nvSpPr>
        <p:spPr>
          <a:xfrm>
            <a:off x="1280159" y="227457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gemm_loop_order.c</a:t>
            </a:r>
            <a:endParaRPr lang="en-US" sz="9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7A0EDB9-6A8A-BC66-1C50-0E4568EF613D}"/>
              </a:ext>
            </a:extLst>
          </p:cNvPr>
          <p:cNvSpPr/>
          <p:nvPr/>
        </p:nvSpPr>
        <p:spPr>
          <a:xfrm>
            <a:off x="548639" y="2576322"/>
            <a:ext cx="457200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FD0298A-3787-823C-7516-88A8ED191D8F}"/>
              </a:ext>
            </a:extLst>
          </p:cNvPr>
          <p:cNvSpPr/>
          <p:nvPr/>
        </p:nvSpPr>
        <p:spPr>
          <a:xfrm>
            <a:off x="548639" y="1133856"/>
            <a:ext cx="8183880" cy="912114"/>
          </a:xfrm>
          <a:prstGeom prst="rect">
            <a:avLst/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DCCAD2A-78EA-56EF-8D8E-B4A9A81F2E5A}"/>
              </a:ext>
            </a:extLst>
          </p:cNvPr>
          <p:cNvSpPr/>
          <p:nvPr/>
        </p:nvSpPr>
        <p:spPr>
          <a:xfrm>
            <a:off x="548640" y="1133856"/>
            <a:ext cx="108536" cy="912114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F7B378-6B77-3248-C33D-E0FA2050A10C}"/>
              </a:ext>
            </a:extLst>
          </p:cNvPr>
          <p:cNvSpPr/>
          <p:nvPr/>
        </p:nvSpPr>
        <p:spPr>
          <a:xfrm>
            <a:off x="731520" y="1225296"/>
            <a:ext cx="716338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400" dirty="0">
                <a:ea typeface="HarmonyOS Sans SC" panose="00000800000000000000" pitchFamily="2" charset="-122"/>
              </a:rPr>
              <a:t>e) </a:t>
            </a:r>
            <a:r>
              <a:rPr lang="zh-CN" altLang="en-US" sz="1400" dirty="0">
                <a:ea typeface="HarmonyOS Sans SC" panose="00000800000000000000" pitchFamily="2" charset="-122"/>
              </a:rPr>
              <a:t>当矩阵规模从 </a:t>
            </a:r>
            <a:r>
              <a:rPr lang="en-US" altLang="zh-CN" sz="1400" dirty="0">
                <a:ea typeface="HarmonyOS Sans SC" panose="00000800000000000000" pitchFamily="2" charset="-122"/>
              </a:rPr>
              <a:t>1001 </a:t>
            </a:r>
            <a:r>
              <a:rPr lang="zh-CN" altLang="en-US" sz="1400" dirty="0">
                <a:ea typeface="HarmonyOS Sans SC" panose="00000800000000000000" pitchFamily="2" charset="-122"/>
              </a:rPr>
              <a:t>变到 </a:t>
            </a:r>
            <a:r>
              <a:rPr lang="en-US" altLang="zh-CN" sz="1400" dirty="0">
                <a:ea typeface="HarmonyOS Sans SC" panose="00000800000000000000" pitchFamily="2" charset="-122"/>
              </a:rPr>
              <a:t>1024 </a:t>
            </a:r>
            <a:r>
              <a:rPr lang="zh-CN" altLang="en-US" sz="1400" dirty="0">
                <a:ea typeface="HarmonyOS Sans SC" panose="00000800000000000000" pitchFamily="2" charset="-122"/>
              </a:rPr>
              <a:t>变到 </a:t>
            </a:r>
            <a:r>
              <a:rPr lang="en-US" altLang="zh-CN" sz="1400" dirty="0">
                <a:ea typeface="HarmonyOS Sans SC" panose="00000800000000000000" pitchFamily="2" charset="-122"/>
              </a:rPr>
              <a:t>1025</a:t>
            </a:r>
            <a:r>
              <a:rPr lang="zh-CN" altLang="en-US" sz="1400" dirty="0">
                <a:ea typeface="HarmonyOS Sans SC" panose="00000800000000000000" pitchFamily="2" charset="-122"/>
              </a:rPr>
              <a:t>，性能曲线会平滑过渡吗？还是会出现陡峭 的跳变？为什么 </a:t>
            </a:r>
            <a:r>
              <a:rPr lang="en-US" altLang="zh-CN" sz="1400" dirty="0">
                <a:ea typeface="HarmonyOS Sans SC" panose="00000800000000000000" pitchFamily="2" charset="-122"/>
              </a:rPr>
              <a:t>1024 </a:t>
            </a:r>
            <a:r>
              <a:rPr lang="zh-CN" altLang="en-US" sz="1400" dirty="0">
                <a:ea typeface="HarmonyOS Sans SC" panose="00000800000000000000" pitchFamily="2" charset="-122"/>
              </a:rPr>
              <a:t>这种</a:t>
            </a:r>
            <a:r>
              <a:rPr lang="en-US" altLang="zh-CN" sz="1400" dirty="0">
                <a:ea typeface="HarmonyOS Sans SC" panose="00000800000000000000" pitchFamily="2" charset="-122"/>
              </a:rPr>
              <a:t>"</a:t>
            </a:r>
            <a:r>
              <a:rPr lang="zh-CN" altLang="en-US" sz="1400" dirty="0">
                <a:ea typeface="HarmonyOS Sans SC" panose="00000800000000000000" pitchFamily="2" charset="-122"/>
              </a:rPr>
              <a:t>整齐</a:t>
            </a:r>
            <a:r>
              <a:rPr lang="en-US" altLang="zh-CN" sz="1400" dirty="0">
                <a:ea typeface="HarmonyOS Sans SC" panose="00000800000000000000" pitchFamily="2" charset="-122"/>
              </a:rPr>
              <a:t>"</a:t>
            </a:r>
            <a:r>
              <a:rPr lang="zh-CN" altLang="en-US" sz="1400" dirty="0">
                <a:ea typeface="HarmonyOS Sans SC" panose="00000800000000000000" pitchFamily="2" charset="-122"/>
              </a:rPr>
              <a:t>的数字反而可能更慢？（</a:t>
            </a:r>
            <a:r>
              <a:rPr lang="en-US" altLang="zh-CN" sz="1400" dirty="0">
                <a:ea typeface="HarmonyOS Sans SC" panose="00000800000000000000" pitchFamily="2" charset="-122"/>
              </a:rPr>
              <a:t>Tip</a:t>
            </a:r>
            <a:r>
              <a:rPr lang="zh-CN" altLang="en-US" sz="1400" dirty="0">
                <a:ea typeface="HarmonyOS Sans SC" panose="00000800000000000000" pitchFamily="2" charset="-122"/>
              </a:rPr>
              <a:t>：</a:t>
            </a:r>
            <a:r>
              <a:rPr lang="en-US" altLang="zh-CN" sz="1400" dirty="0">
                <a:ea typeface="HarmonyOS Sans SC" panose="00000800000000000000" pitchFamily="2" charset="-122"/>
              </a:rPr>
              <a:t>Cache </a:t>
            </a:r>
            <a:r>
              <a:rPr lang="zh-CN" altLang="en-US" sz="1400" dirty="0">
                <a:ea typeface="HarmonyOS Sans SC" panose="00000800000000000000" pitchFamily="2" charset="-122"/>
              </a:rPr>
              <a:t>关联度与冲突 不命中） </a:t>
            </a:r>
            <a:endParaRPr lang="en-US" sz="13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645C588-881E-5972-537A-5ABB1FEE5667}"/>
              </a:ext>
            </a:extLst>
          </p:cNvPr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1001  |  double (8 bytes)</a:t>
            </a:r>
            <a:endParaRPr lang="en-US" sz="10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770CD-F744-BF53-09AA-22D839184A39}"/>
              </a:ext>
            </a:extLst>
          </p:cNvPr>
          <p:cNvSpPr txBox="1"/>
          <p:nvPr/>
        </p:nvSpPr>
        <p:spPr>
          <a:xfrm>
            <a:off x="5621518" y="2285273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1001 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5579090-9AC3-AF31-79C4-068777D4DAB8}"/>
              </a:ext>
            </a:extLst>
          </p:cNvPr>
          <p:cNvSpPr txBox="1"/>
          <p:nvPr/>
        </p:nvSpPr>
        <p:spPr>
          <a:xfrm>
            <a:off x="5621517" y="2591561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1002 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2CF3014-2BCE-91DC-E04A-0A05E5B31923}"/>
              </a:ext>
            </a:extLst>
          </p:cNvPr>
          <p:cNvSpPr txBox="1"/>
          <p:nvPr/>
        </p:nvSpPr>
        <p:spPr>
          <a:xfrm>
            <a:off x="5621518" y="2926697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1003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AA10F86-F77C-84EB-0CA7-FCBBB3499AD3}"/>
              </a:ext>
            </a:extLst>
          </p:cNvPr>
          <p:cNvSpPr txBox="1"/>
          <p:nvPr/>
        </p:nvSpPr>
        <p:spPr>
          <a:xfrm>
            <a:off x="5621516" y="3645703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1024 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B6C7531-71A1-00C7-332D-A1489C556A94}"/>
              </a:ext>
            </a:extLst>
          </p:cNvPr>
          <p:cNvSpPr txBox="1"/>
          <p:nvPr/>
        </p:nvSpPr>
        <p:spPr>
          <a:xfrm>
            <a:off x="5621518" y="3950520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1025 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780FC32-6C5F-A630-5CC7-B24F6F560F86}"/>
              </a:ext>
            </a:extLst>
          </p:cNvPr>
          <p:cNvSpPr txBox="1"/>
          <p:nvPr/>
        </p:nvSpPr>
        <p:spPr>
          <a:xfrm>
            <a:off x="5621515" y="3286200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……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FCDE351-D289-CD6B-F21A-6C1B5A15D368}"/>
              </a:ext>
            </a:extLst>
          </p:cNvPr>
          <p:cNvSpPr txBox="1"/>
          <p:nvPr/>
        </p:nvSpPr>
        <p:spPr>
          <a:xfrm>
            <a:off x="5621518" y="4307063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…… 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674D0F2-6A82-CDB9-DA13-927A770B8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4572000" cy="202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59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39" y="868679"/>
            <a:ext cx="1552213" cy="45719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02B6241-5E76-71D8-BCAF-0BC6CEEEC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048" y="833255"/>
            <a:ext cx="3735904" cy="40250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3A576FBC-C872-6EF9-539B-402B98D69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27" y="0"/>
            <a:ext cx="725414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</a:t>
            </a:r>
            <a:r>
              <a:rPr lang="en-US" sz="28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" cy="100584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solidFill>
            <a:srgbClr val="FFF8C5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64008" cy="100584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2648" y="3657600"/>
            <a:ext cx="8046720" cy="1005840"/>
          </a:xfrm>
          <a:prstGeom prst="rect">
            <a:avLst/>
          </a:prstGeom>
          <a:solidFill>
            <a:srgbClr val="FFEBE9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64008" cy="100584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A2DEC54-E9B3-2A49-1342-2D6403E8818A}"/>
              </a:ext>
            </a:extLst>
          </p:cNvPr>
          <p:cNvSpPr txBox="1"/>
          <p:nvPr/>
        </p:nvSpPr>
        <p:spPr>
          <a:xfrm>
            <a:off x="612647" y="1417320"/>
            <a:ext cx="7889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a typeface="HarmonyOS Sans SC" panose="00000800000000000000" pitchFamily="2" charset="-122"/>
              </a:rPr>
              <a:t>矩阵运算的性能并不随规模增大而平滑下降，而是在特定数值处（如</a:t>
            </a:r>
            <a:r>
              <a:rPr lang="en-US" altLang="zh-CN" dirty="0">
                <a:ea typeface="HarmonyOS Sans SC" panose="00000800000000000000" pitchFamily="2" charset="-122"/>
              </a:rPr>
              <a:t>1024</a:t>
            </a:r>
            <a:r>
              <a:rPr lang="zh-CN" altLang="en-US" dirty="0">
                <a:ea typeface="HarmonyOS Sans SC" panose="00000800000000000000" pitchFamily="2" charset="-122"/>
              </a:rPr>
              <a:t>、</a:t>
            </a:r>
            <a:r>
              <a:rPr lang="en-US" altLang="zh-CN" dirty="0">
                <a:ea typeface="HarmonyOS Sans SC" panose="00000800000000000000" pitchFamily="2" charset="-122"/>
              </a:rPr>
              <a:t>2048</a:t>
            </a:r>
            <a:r>
              <a:rPr lang="zh-CN" altLang="en-US" dirty="0">
                <a:ea typeface="HarmonyOS Sans SC" panose="00000800000000000000" pitchFamily="2" charset="-122"/>
              </a:rPr>
              <a:t>等</a:t>
            </a:r>
            <a:r>
              <a:rPr lang="en-US" altLang="zh-CN" dirty="0">
                <a:ea typeface="HarmonyOS Sans SC" panose="00000800000000000000" pitchFamily="2" charset="-122"/>
              </a:rPr>
              <a:t>2</a:t>
            </a:r>
            <a:r>
              <a:rPr lang="zh-CN" altLang="en-US" dirty="0">
                <a:ea typeface="HarmonyOS Sans SC" panose="00000800000000000000" pitchFamily="2" charset="-122"/>
              </a:rPr>
              <a:t>的幂次方）出现</a:t>
            </a:r>
            <a:r>
              <a:rPr lang="zh-CN" altLang="en-US" b="1" dirty="0">
                <a:ea typeface="HarmonyOS Sans SC" panose="00000800000000000000" pitchFamily="2" charset="-122"/>
              </a:rPr>
              <a:t>剧烈的性能崩溃</a:t>
            </a:r>
            <a:r>
              <a:rPr lang="zh-CN" altLang="en-US" dirty="0">
                <a:ea typeface="HarmonyOS Sans SC" panose="00000800000000000000" pitchFamily="2" charset="-122"/>
              </a:rPr>
              <a:t>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FBF0A86-A7FF-A405-5CC8-04D3F4E2DE24}"/>
              </a:ext>
            </a:extLst>
          </p:cNvPr>
          <p:cNvSpPr txBox="1"/>
          <p:nvPr/>
        </p:nvSpPr>
        <p:spPr>
          <a:xfrm>
            <a:off x="580644" y="2564813"/>
            <a:ext cx="7837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a typeface="HarmonyOS Sans SC" panose="00000800000000000000" pitchFamily="2" charset="-122"/>
              </a:rPr>
              <a:t>当矩阵规模从</a:t>
            </a:r>
            <a:r>
              <a:rPr lang="en-US" altLang="zh-CN" dirty="0">
                <a:ea typeface="HarmonyOS Sans SC" panose="00000800000000000000" pitchFamily="2" charset="-122"/>
              </a:rPr>
              <a:t>1023</a:t>
            </a:r>
            <a:r>
              <a:rPr lang="zh-CN" altLang="en-US" dirty="0">
                <a:ea typeface="HarmonyOS Sans SC" panose="00000800000000000000" pitchFamily="2" charset="-122"/>
              </a:rPr>
              <a:t>增至</a:t>
            </a:r>
            <a:r>
              <a:rPr lang="en-US" altLang="zh-CN" dirty="0">
                <a:ea typeface="HarmonyOS Sans SC" panose="00000800000000000000" pitchFamily="2" charset="-122"/>
              </a:rPr>
              <a:t>1024</a:t>
            </a:r>
            <a:r>
              <a:rPr lang="zh-CN" altLang="en-US" dirty="0">
                <a:ea typeface="HarmonyOS Sans SC" panose="00000800000000000000" pitchFamily="2" charset="-122"/>
              </a:rPr>
              <a:t>时，转置后的加速比从</a:t>
            </a:r>
            <a:r>
              <a:rPr lang="en-US" altLang="zh-CN" b="1" dirty="0">
                <a:ea typeface="HarmonyOS Sans SC" panose="00000800000000000000" pitchFamily="2" charset="-122"/>
              </a:rPr>
              <a:t>0.74x</a:t>
            </a:r>
            <a:r>
              <a:rPr lang="zh-CN" altLang="en-US" b="1" dirty="0">
                <a:ea typeface="HarmonyOS Sans SC" panose="00000800000000000000" pitchFamily="2" charset="-122"/>
              </a:rPr>
              <a:t>陡降至</a:t>
            </a:r>
            <a:r>
              <a:rPr lang="en-US" altLang="zh-CN" b="1" dirty="0">
                <a:ea typeface="HarmonyOS Sans SC" panose="00000800000000000000" pitchFamily="2" charset="-122"/>
              </a:rPr>
              <a:t>0.24x</a:t>
            </a:r>
            <a:r>
              <a:rPr lang="zh-CN" altLang="en-US" dirty="0">
                <a:ea typeface="HarmonyOS Sans SC" panose="00000800000000000000" pitchFamily="2" charset="-122"/>
              </a:rPr>
              <a:t>，性能损失高达</a:t>
            </a:r>
            <a:r>
              <a:rPr lang="en-US" altLang="zh-CN" b="1" dirty="0">
                <a:ea typeface="HarmonyOS Sans SC" panose="00000800000000000000" pitchFamily="2" charset="-122"/>
              </a:rPr>
              <a:t>68%</a:t>
            </a:r>
            <a:r>
              <a:rPr lang="zh-CN" altLang="en-US" dirty="0">
                <a:ea typeface="HarmonyOS Sans SC" panose="00000800000000000000" pitchFamily="2" charset="-122"/>
              </a:rPr>
              <a:t>；而当规模微增至</a:t>
            </a:r>
            <a:r>
              <a:rPr lang="en-US" altLang="zh-CN" dirty="0">
                <a:ea typeface="HarmonyOS Sans SC" panose="00000800000000000000" pitchFamily="2" charset="-122"/>
              </a:rPr>
              <a:t>1025</a:t>
            </a:r>
            <a:r>
              <a:rPr lang="zh-CN" altLang="en-US" dirty="0">
                <a:ea typeface="HarmonyOS Sans SC" panose="00000800000000000000" pitchFamily="2" charset="-122"/>
              </a:rPr>
              <a:t>时，性能又迅速</a:t>
            </a:r>
            <a:r>
              <a:rPr lang="zh-CN" altLang="en-US" b="1" dirty="0">
                <a:ea typeface="HarmonyOS Sans SC" panose="00000800000000000000" pitchFamily="2" charset="-122"/>
              </a:rPr>
              <a:t>回升至</a:t>
            </a:r>
            <a:r>
              <a:rPr lang="en-US" altLang="zh-CN" b="1" dirty="0">
                <a:ea typeface="HarmonyOS Sans SC" panose="00000800000000000000" pitchFamily="2" charset="-122"/>
              </a:rPr>
              <a:t>0.78x</a:t>
            </a:r>
            <a:r>
              <a:rPr lang="zh-CN" altLang="en-US" dirty="0">
                <a:ea typeface="HarmonyOS Sans SC" panose="00000800000000000000" pitchFamily="2" charset="-122"/>
              </a:rPr>
              <a:t>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CC70792-F1E2-EFA3-9C7C-518A641A08D7}"/>
              </a:ext>
            </a:extLst>
          </p:cNvPr>
          <p:cNvSpPr txBox="1"/>
          <p:nvPr/>
        </p:nvSpPr>
        <p:spPr>
          <a:xfrm>
            <a:off x="612648" y="3698855"/>
            <a:ext cx="7805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a typeface="HarmonyOS Sans SC" panose="00000800000000000000" pitchFamily="2" charset="-122"/>
              </a:rPr>
              <a:t>在特定的“整齐”规模下，转置优化不仅不能提速，反而会因加剧系统负担而导致效率断崖式下跌。在进行高性能计算时，</a:t>
            </a:r>
            <a:r>
              <a:rPr lang="zh-CN" altLang="en-US" b="1" dirty="0">
                <a:ea typeface="HarmonyOS Sans SC" panose="00000800000000000000" pitchFamily="2" charset="-122"/>
              </a:rPr>
              <a:t>“</a:t>
            </a:r>
            <a:r>
              <a:rPr lang="en-US" altLang="zh-CN" b="1" dirty="0">
                <a:ea typeface="HarmonyOS Sans SC" panose="00000800000000000000" pitchFamily="2" charset="-122"/>
              </a:rPr>
              <a:t>2</a:t>
            </a:r>
            <a:r>
              <a:rPr lang="zh-CN" altLang="en-US" b="1" dirty="0">
                <a:ea typeface="HarmonyOS Sans SC" panose="00000800000000000000" pitchFamily="2" charset="-122"/>
              </a:rPr>
              <a:t>的幂”矩阵规模是必须避开的性能红区</a:t>
            </a:r>
            <a:r>
              <a:rPr lang="zh-CN" altLang="en-US" dirty="0">
                <a:ea typeface="HarmonyOS Sans SC" panose="00000800000000000000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02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原因分析：组相联</a:t>
            </a:r>
            <a:r>
              <a:rPr lang="en-US" altLang="zh-CN" sz="2800" b="1" dirty="0">
                <a:ea typeface="HarmonyOS Sans SC" panose="00000800000000000000" pitchFamily="2" charset="-122"/>
              </a:rPr>
              <a:t>Cache</a:t>
            </a:r>
            <a:r>
              <a:rPr lang="zh-CN" altLang="en-US" sz="2800" b="1" dirty="0">
                <a:ea typeface="HarmonyOS Sans SC" panose="00000800000000000000" pitchFamily="2" charset="-122"/>
              </a:rPr>
              <a:t>的“组冲突”陷阱</a:t>
            </a:r>
            <a:endParaRPr lang="en-US" sz="2800" b="1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3931920" cy="3475929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36576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754880" y="1133856"/>
            <a:ext cx="3931920" cy="3475929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754880" y="1097280"/>
            <a:ext cx="3931920" cy="36576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E5F878F-634E-12AC-D982-2F444A9D2312}"/>
              </a:ext>
            </a:extLst>
          </p:cNvPr>
          <p:cNvSpPr txBox="1"/>
          <p:nvPr/>
        </p:nvSpPr>
        <p:spPr>
          <a:xfrm>
            <a:off x="548640" y="1316736"/>
            <a:ext cx="380420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1" dirty="0">
                <a:ea typeface="HarmonyOS Sans SC" panose="00000800000000000000" pitchFamily="2" charset="-122"/>
              </a:rPr>
              <a:t>关联度角度：</a:t>
            </a:r>
            <a:r>
              <a:rPr lang="en-US" altLang="zh-CN" sz="1400" dirty="0">
                <a:ea typeface="HarmonyOS Sans SC" panose="00000800000000000000" pitchFamily="2" charset="-122"/>
              </a:rPr>
              <a:t>2</a:t>
            </a:r>
            <a:r>
              <a:rPr lang="zh-CN" altLang="en-US" sz="1400" dirty="0">
                <a:ea typeface="HarmonyOS Sans SC" panose="00000800000000000000" pitchFamily="2" charset="-122"/>
              </a:rPr>
              <a:t>的幂规模导致行地址在二进制上高度对齐，竞争者瞬间</a:t>
            </a:r>
            <a:r>
              <a:rPr lang="zh-CN" altLang="en-US" sz="1400" b="1" dirty="0">
                <a:ea typeface="HarmonyOS Sans SC" panose="00000800000000000000" pitchFamily="2" charset="-122"/>
              </a:rPr>
              <a:t>冲破了 </a:t>
            </a:r>
            <a:r>
              <a:rPr lang="en-US" altLang="zh-CN" sz="1400" b="1" dirty="0">
                <a:ea typeface="HarmonyOS Sans SC" panose="00000800000000000000" pitchFamily="2" charset="-122"/>
              </a:rPr>
              <a:t>Cache </a:t>
            </a:r>
            <a:r>
              <a:rPr lang="zh-CN" altLang="en-US" sz="1400" b="1" dirty="0">
                <a:ea typeface="HarmonyOS Sans SC" panose="00000800000000000000" pitchFamily="2" charset="-122"/>
              </a:rPr>
              <a:t>关联度（路数）的物理极限</a:t>
            </a:r>
            <a:r>
              <a:rPr lang="zh-CN" altLang="en-US" sz="1400" dirty="0">
                <a:ea typeface="HarmonyOS Sans SC" panose="00000800000000000000" pitchFamily="2" charset="-122"/>
              </a:rPr>
              <a:t>。转置副本作为“额外闯入者”，强行占领了本就饱和的 </a:t>
            </a:r>
            <a:r>
              <a:rPr lang="en-US" altLang="zh-CN" sz="1400" dirty="0">
                <a:ea typeface="HarmonyOS Sans SC" panose="00000800000000000000" pitchFamily="2" charset="-122"/>
              </a:rPr>
              <a:t>Cache </a:t>
            </a:r>
            <a:r>
              <a:rPr lang="zh-CN" altLang="en-US" sz="1400" dirty="0">
                <a:ea typeface="HarmonyOS Sans SC" panose="00000800000000000000" pitchFamily="2" charset="-122"/>
              </a:rPr>
              <a:t>组，导致硬件因无法容纳更多路数据而彻底崩溃。</a:t>
            </a:r>
            <a:endParaRPr lang="en-US" altLang="zh-CN" sz="1400" dirty="0">
              <a:effectLst/>
              <a:latin typeface="Google Sans Text"/>
              <a:ea typeface="HarmonyOS Sans SC" panose="00000800000000000000" pitchFamily="2" charset="-122"/>
            </a:endParaRPr>
          </a:p>
          <a:p>
            <a:pPr>
              <a:buNone/>
            </a:pPr>
            <a:endParaRPr lang="en-US" altLang="zh-CN" sz="1400" b="1" dirty="0">
              <a:ea typeface="HarmonyOS Sans SC" panose="00000800000000000000" pitchFamily="2" charset="-122"/>
            </a:endParaRPr>
          </a:p>
          <a:p>
            <a:pPr>
              <a:buNone/>
            </a:pPr>
            <a:endParaRPr lang="en-US" altLang="zh-CN" sz="1400" b="1" dirty="0">
              <a:ea typeface="HarmonyOS Sans SC" panose="00000800000000000000" pitchFamily="2" charset="-122"/>
            </a:endParaRPr>
          </a:p>
          <a:p>
            <a:pPr>
              <a:buNone/>
            </a:pPr>
            <a:r>
              <a:rPr lang="zh-CN" altLang="en-US" sz="1400" b="1" dirty="0">
                <a:ea typeface="HarmonyOS Sans SC" panose="00000800000000000000" pitchFamily="2" charset="-122"/>
              </a:rPr>
              <a:t>冲突不命中角度：</a:t>
            </a:r>
            <a:r>
              <a:rPr lang="zh-CN" altLang="en-US" sz="1400" dirty="0">
                <a:ea typeface="HarmonyOS Sans SC" panose="00000800000000000000" pitchFamily="2" charset="-122"/>
              </a:rPr>
              <a:t>现代</a:t>
            </a:r>
            <a:r>
              <a:rPr lang="en-US" altLang="zh-CN" sz="1400" dirty="0">
                <a:ea typeface="HarmonyOS Sans SC" panose="00000800000000000000" pitchFamily="2" charset="-122"/>
              </a:rPr>
              <a:t>CPU Cache</a:t>
            </a:r>
            <a:r>
              <a:rPr lang="zh-CN" altLang="en-US" sz="1400" dirty="0">
                <a:ea typeface="HarmonyOS Sans SC" panose="00000800000000000000" pitchFamily="2" charset="-122"/>
              </a:rPr>
              <a:t>通过地址的</a:t>
            </a:r>
            <a:r>
              <a:rPr lang="zh-CN" altLang="en-US" sz="1400">
                <a:ea typeface="HarmonyOS Sans SC" panose="00000800000000000000" pitchFamily="2" charset="-122"/>
              </a:rPr>
              <a:t>中间位来</a:t>
            </a:r>
            <a:r>
              <a:rPr lang="zh-CN" altLang="en-US" sz="1400" dirty="0">
                <a:ea typeface="HarmonyOS Sans SC" panose="00000800000000000000" pitchFamily="2" charset="-122"/>
              </a:rPr>
              <a:t>决定数据存放在哪一个“组”。当矩阵的行宽正好是</a:t>
            </a:r>
            <a:r>
              <a:rPr lang="en-US" altLang="zh-CN" sz="1400" dirty="0">
                <a:ea typeface="HarmonyOS Sans SC" panose="00000800000000000000" pitchFamily="2" charset="-122"/>
              </a:rPr>
              <a:t>2</a:t>
            </a:r>
            <a:r>
              <a:rPr lang="zh-CN" altLang="en-US" sz="1400" dirty="0">
                <a:ea typeface="HarmonyOS Sans SC" panose="00000800000000000000" pitchFamily="2" charset="-122"/>
              </a:rPr>
              <a:t>的幂时，不同行的相同列地址在二进制上具有高度的相似性。矩阵中每隔若干行，其起始地址就会映射到同一个</a:t>
            </a:r>
            <a:r>
              <a:rPr lang="en-US" altLang="zh-CN" sz="1400" dirty="0">
                <a:ea typeface="HarmonyOS Sans SC" panose="00000800000000000000" pitchFamily="2" charset="-122"/>
              </a:rPr>
              <a:t>Cache</a:t>
            </a:r>
            <a:r>
              <a:rPr lang="zh-CN" altLang="en-US" sz="1400" dirty="0">
                <a:ea typeface="HarmonyOS Sans SC" panose="00000800000000000000" pitchFamily="2" charset="-122"/>
              </a:rPr>
              <a:t>组。</a:t>
            </a:r>
            <a:endParaRPr lang="zh-CN" altLang="en-US" sz="1400" dirty="0">
              <a:effectLst/>
              <a:latin typeface="Google Sans Text"/>
              <a:ea typeface="HarmonyOS Sans SC" panose="00000800000000000000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C1EDD5E-9EDD-B294-EE19-881D39A571BF}"/>
              </a:ext>
            </a:extLst>
          </p:cNvPr>
          <p:cNvSpPr txBox="1"/>
          <p:nvPr/>
        </p:nvSpPr>
        <p:spPr>
          <a:xfrm>
            <a:off x="4990660" y="1318550"/>
            <a:ext cx="34603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ea typeface="HarmonyOS Sans SC" panose="00000800000000000000" pitchFamily="2" charset="-122"/>
              </a:rPr>
              <a:t>转置前</a:t>
            </a:r>
            <a:r>
              <a:rPr lang="zh-CN" altLang="en-US" sz="1400" dirty="0">
                <a:ea typeface="HarmonyOS Sans SC" panose="00000800000000000000" pitchFamily="2" charset="-122"/>
              </a:rPr>
              <a:t>，由于运行的是高复用顺序，</a:t>
            </a:r>
            <a:r>
              <a:rPr lang="en-US" altLang="zh-CN" sz="1400" dirty="0">
                <a:ea typeface="HarmonyOS Sans SC" panose="00000800000000000000" pitchFamily="2" charset="-122"/>
              </a:rPr>
              <a:t>Cache </a:t>
            </a:r>
            <a:r>
              <a:rPr lang="zh-CN" altLang="en-US" sz="1400" dirty="0">
                <a:ea typeface="HarmonyOS Sans SC" panose="00000800000000000000" pitchFamily="2" charset="-122"/>
              </a:rPr>
              <a:t>只需勉强容纳当前工作块，刚好卡在未完全崩溃的临界线内。</a:t>
            </a:r>
            <a:endParaRPr lang="en-US" altLang="zh-CN" sz="1400" dirty="0">
              <a:ea typeface="HarmonyOS Sans SC" panose="00000800000000000000" pitchFamily="2" charset="-122"/>
            </a:endParaRPr>
          </a:p>
          <a:p>
            <a:endParaRPr lang="en-US" altLang="zh-CN" sz="1400" b="1" dirty="0">
              <a:ea typeface="HarmonyOS Sans SC" panose="00000800000000000000" pitchFamily="2" charset="-122"/>
            </a:endParaRPr>
          </a:p>
          <a:p>
            <a:r>
              <a:rPr lang="zh-CN" altLang="en-US" sz="1400" b="1" dirty="0">
                <a:ea typeface="HarmonyOS Sans SC" panose="00000800000000000000" pitchFamily="2" charset="-122"/>
              </a:rPr>
              <a:t>转置后</a:t>
            </a:r>
            <a:r>
              <a:rPr lang="zh-CN" altLang="en-US" sz="1400" dirty="0">
                <a:ea typeface="HarmonyOS Sans SC" panose="00000800000000000000" pitchFamily="2" charset="-122"/>
              </a:rPr>
              <a:t>，同样的组冲突依旧严重，同时还必须开辟并维护一块庞大的矩阵副本，彻底打破了脆弱的缓存平衡，引发灾难性的 </a:t>
            </a:r>
            <a:r>
              <a:rPr lang="en-US" altLang="zh-CN" sz="1400" b="1" dirty="0">
                <a:ea typeface="HarmonyOS Sans SC" panose="00000800000000000000" pitchFamily="2" charset="-122"/>
              </a:rPr>
              <a:t>Cache </a:t>
            </a:r>
            <a:r>
              <a:rPr lang="zh-CN" altLang="en-US" sz="1400" b="1" dirty="0">
                <a:ea typeface="HarmonyOS Sans SC" panose="00000800000000000000" pitchFamily="2" charset="-122"/>
              </a:rPr>
              <a:t>抖动</a:t>
            </a:r>
            <a:r>
              <a:rPr lang="zh-CN" altLang="en-US" sz="1400" dirty="0">
                <a:ea typeface="HarmonyOS Sans SC" panose="00000800000000000000" pitchFamily="2" charset="-122"/>
              </a:rPr>
              <a:t>。转置副本疯狂挤兑原始矩阵的读取缓存，导致性能断崖式暴跌，发生彻底反转。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1654</TotalTime>
  <Words>1876</Words>
  <Application>Microsoft Office PowerPoint</Application>
  <PresentationFormat>全屏显示(16:9)</PresentationFormat>
  <Paragraphs>126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-apple-system</vt:lpstr>
      <vt:lpstr>Google Sans</vt:lpstr>
      <vt:lpstr>Google Sans Text</vt:lpstr>
      <vt:lpstr>HarmonyOS Sans SC</vt:lpstr>
      <vt:lpstr>ui-monospace</vt:lpstr>
      <vt:lpstr>仿宋</vt:lpstr>
      <vt:lpstr>Arial</vt:lpstr>
      <vt:lpstr>Arial Black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选题2.1 循环顺序之争 - 矩阵乘法性能分析</dc:title>
  <dc:subject>PptxGenJS Presentation</dc:subject>
  <dc:creator>nanfeng</dc:creator>
  <cp:lastModifiedBy>殷豪 葛</cp:lastModifiedBy>
  <cp:revision>5</cp:revision>
  <dcterms:created xsi:type="dcterms:W3CDTF">2026-05-12T03:53:22Z</dcterms:created>
  <dcterms:modified xsi:type="dcterms:W3CDTF">2026-05-14T06:06:05Z</dcterms:modified>
</cp:coreProperties>
</file>
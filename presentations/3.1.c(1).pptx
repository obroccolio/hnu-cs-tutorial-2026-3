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11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6F8FA"/>
          </a:solidFill>
          <a:ln>
            <a:solidFill>
              <a:srgbClr val="F6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328"/>
                </a:solidFill>
                <a:latin typeface="Arial"/>
              </a:rPr>
              <a:t>选题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0969DA"/>
                </a:solidFill>
                <a:latin typeface="Arial"/>
              </a:rPr>
              <a:t>存储层次性能实测 — 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工作集大小扫描 · Cache 边界识别 · 虚拟机与宿主机对比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Courier New"/>
              </a:rPr>
              <a:t>Intel Core i9-13900HX  |  VMware Ubuntu 64 位  |  4KB → 1GB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实验环境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项目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虚拟机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宿主机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系统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Ubuntu 64 位 / VMware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Windows 11 家庭中文版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 个 vCPU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Intel Core i9-13900HX，24 核 / 32 线程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内存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15.75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Cache 记录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L1d 48KB / L2 2MB / L3 36MB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L3 36MB，Windows 汇总 L2 32MB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定位：虚拟机用于观察缓存边界与调度影响；宿主机用于提供裸机级参考基线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测试方法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782726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328"/>
                </a:solidFill>
                <a:latin typeface="Courier New"/>
              </a:rPr>
              <a:t>gcc -O2 -Wall -Wextra -std=gnu11 wss_scan.c -o wss_scan
./wss_scan
taskset -c 0 ./wss_scan    # 固定到 vCPU0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8229600" cy="11430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560320"/>
            <a:ext cx="7827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 err="1">
                <a:solidFill>
                  <a:srgbClr val="1F2328"/>
                </a:solidFill>
                <a:latin typeface="Courier New"/>
              </a:rPr>
              <a:t>工作集大小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4KB, 8KB, 16KB, ... , 512MB, 1GB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访问模式</a:t>
            </a:r>
            <a:r>
              <a:rPr sz="1300" b="0">
                <a:solidFill>
                  <a:srgbClr val="1F2328"/>
                </a:solidFill>
                <a:latin typeface="Courier New"/>
              </a:rPr>
              <a:t>: p = *(void **)p
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统计方式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: </a:t>
            </a:r>
            <a:r>
              <a:rPr sz="1300" b="0" dirty="0" err="1">
                <a:solidFill>
                  <a:srgbClr val="1F2328"/>
                </a:solidFill>
                <a:latin typeface="Courier New"/>
              </a:rPr>
              <a:t>每个大小重复测量，取中位数作为</a:t>
            </a:r>
            <a:r>
              <a:rPr sz="1300" b="0" dirty="0">
                <a:solidFill>
                  <a:srgbClr val="1F2328"/>
                </a:solidFill>
                <a:latin typeface="Courier New"/>
              </a:rPr>
              <a:t> Avg Access(ns)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关键点：随机 pointer chasing 让下一次访问地址依赖当前读出的指针，尽量避免硬件预取器提前加载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为什么不直接使用 lscpu 的 Cache 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lscpu:
L1d cache: 96 KiB
L1i cache: 64 KiB
L2 cache : 4 MiB
L3 cache : 72 MiB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097280"/>
            <a:ext cx="3886200" cy="14173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1768" y="1234439"/>
            <a:ext cx="348386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328"/>
                </a:solidFill>
                <a:latin typeface="Courier New"/>
              </a:rPr>
              <a:t>cpu0/cache:
index0: 48K     L1d
index1: 32K     L1i
index2: 2048K   L2
index3: 36864K  L3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82296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999232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采用 cpu0/cache 作为主边界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3192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56D76"/>
                </a:solidFill>
                <a:latin typeface="Arial"/>
              </a:rPr>
              <a:t>本程序主要是单线程随机访问，更接近单个逻辑 CPU 视角。lscpu 的 96KB / 4MB / 72MB 很可能是 2 个 vCPU 的汇总值。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因此：环境记录保留 lscpu，曲线边界判断采用 L1d=48KB、L2=2MB、L3=36MB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边界线选择对结果解释的影响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lscpu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true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右图使用 cpu0/cache 边界后，64KB 与 2MB 附近的转折解释更自然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工作集扫描结果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tru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138160" cy="4557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结论：64KB 附近离开 L1d 低延迟区；2MB 后继续升高；几十 MB 后逐步进入主内存访问区域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扩展一：虚拟机与宿主机对比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64KB 随机访问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344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17.68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234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444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5.7x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574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54864" cy="713232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212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2MB 随机访问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148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591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40.56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148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359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9A6700"/>
                </a:solidFill>
                <a:latin typeface="Courier New"/>
              </a:rPr>
              <a:t>6.2x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1GB 随机访问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7382" y="3273552"/>
            <a:ext cx="173181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632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3273552"/>
            <a:ext cx="17373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063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2735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虚拟机绝对延迟更高，但趋势仍然能够反映缓存层级变化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顺序访问 vs 随机访问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pt_hos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4160520" cy="2329891"/>
          </a:xfrm>
          <a:prstGeom prst="rect">
            <a:avLst/>
          </a:prstGeom>
        </p:spPr>
      </p:pic>
      <p:pic>
        <p:nvPicPr>
          <p:cNvPr id="5" name="Picture 4" descr="ppt_vm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160520" cy="2329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顺序访问被硬件预取器优化，曲线更平；随机访问更能暴露 Cache 层级台阶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关键数据摘录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Host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顺序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VM 随机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0.97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64KB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3.12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7.32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17.68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6.50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6.16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40.56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2.18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54.48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8.74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203.46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110.94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11.22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321.89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86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随机访问在 64KB、2MB、十几 MB 后台阶明显；虚拟机在大工作集下延迟被进一步放大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虚拟机延迟偏高的原因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vCPU 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虚拟机只有 2 个 vCPU，实验线程由宿主机调度，可能暂停、迁移或被抢占。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05156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051560"/>
            <a:ext cx="54864" cy="91440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8344" y="117043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Cache 不独占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4904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656D76"/>
                </a:solidFill>
                <a:latin typeface="Arial"/>
              </a:rPr>
              <a:t>L3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是共享资源，虚拟机无法独占宿主机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L3，与其他进程互相干扰。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4864" cy="914400"/>
          </a:xfrm>
          <a:prstGeom prst="rect">
            <a:avLst/>
          </a:prstGeom>
          <a:solidFill>
            <a:srgbClr val="9A6700"/>
          </a:solidFill>
          <a:ln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内存虚拟化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虚拟地址到宿主机物理地址存在额外映射，随机访问会放大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TLB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和页表开销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331720"/>
            <a:ext cx="388620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331720"/>
            <a:ext cx="54864" cy="914400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38344" y="2450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后台负载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27706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Windows、VMware、图形界面和安全服务都会影响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与内存带宽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所以：虚拟机实验重点看趋势和拐点，不直接把绝对 ns 值当作裸机性能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扩展二：固定 CPU 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868" y="1188720"/>
            <a:ext cx="3931920" cy="105156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732" y="1270337"/>
            <a:ext cx="35295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1F2328"/>
                </a:solidFill>
                <a:latin typeface="Courier New"/>
              </a:rPr>
              <a:t>普通运行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lang="en-US" sz="1200" dirty="0">
              <a:solidFill>
                <a:srgbClr val="1F2328"/>
              </a:solidFill>
              <a:latin typeface="Courier New"/>
            </a:endParaRPr>
          </a:p>
          <a:p>
            <a:r>
              <a:rPr sz="1200" b="0" dirty="0">
                <a:solidFill>
                  <a:srgbClr val="1F2328"/>
                </a:solidFill>
                <a:latin typeface="Courier New"/>
              </a:rPr>
              <a:t>
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固定核心</a:t>
            </a:r>
            <a:r>
              <a:rPr sz="1200" b="0" dirty="0">
                <a:solidFill>
                  <a:srgbClr val="1F2328"/>
                </a:solidFill>
                <a:latin typeface="Courier New"/>
              </a:rPr>
              <a:t>:
taskset -c 0 ./</a:t>
            </a:r>
            <a:r>
              <a:rPr sz="1200" b="0" dirty="0" err="1">
                <a:solidFill>
                  <a:srgbClr val="1F2328"/>
                </a:solidFill>
                <a:latin typeface="Courier New"/>
              </a:rPr>
              <a:t>wss_scan</a:t>
            </a:r>
            <a:endParaRPr sz="1200" b="0" dirty="0">
              <a:solidFill>
                <a:srgbClr val="1F2328"/>
              </a:solidFill>
              <a:latin typeface="Courier New"/>
            </a:endParaRPr>
          </a:p>
        </p:txBody>
      </p:sp>
      <p:pic>
        <p:nvPicPr>
          <p:cNvPr id="6" name="Picture 5" descr="ppt_vm_pinne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60120"/>
            <a:ext cx="4160520" cy="23298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2514600"/>
            <a:ext cx="3931920" cy="91440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54864" cy="914400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3347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328"/>
                </a:solidFill>
                <a:latin typeface="Arial"/>
              </a:rPr>
              <a:t>实验目的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95351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56D76"/>
                </a:solidFill>
                <a:latin typeface="Arial"/>
              </a:rPr>
              <a:t>减少线程在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 vCPU </a:t>
            </a:r>
            <a:r>
              <a:rPr sz="1200" b="0" dirty="0" err="1">
                <a:solidFill>
                  <a:srgbClr val="656D76"/>
                </a:solidFill>
                <a:latin typeface="Arial"/>
              </a:rPr>
              <a:t>之间迁移，降低调度带来的测量抖动</a:t>
            </a:r>
            <a:r>
              <a:rPr sz="1200" b="0" dirty="0">
                <a:solidFill>
                  <a:srgbClr val="656D76"/>
                </a:solidFill>
                <a:latin typeface="Arial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931920" cy="858520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" y="3611880"/>
            <a:ext cx="45719" cy="858520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73075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F2328"/>
                </a:solidFill>
                <a:latin typeface="Arial"/>
              </a:rPr>
              <a:t>1GB </a:t>
            </a:r>
            <a:r>
              <a:rPr sz="1300" b="1" dirty="0" err="1">
                <a:solidFill>
                  <a:srgbClr val="1F2328"/>
                </a:solidFill>
                <a:latin typeface="Arial"/>
              </a:rPr>
              <a:t>结果</a:t>
            </a:r>
            <a:endParaRPr sz="1300" b="1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4944" y="4050791"/>
            <a:ext cx="3520439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56D76"/>
                </a:solidFill>
                <a:latin typeface="Arial"/>
              </a:rPr>
              <a:t>普通 367.73 ns → 固定 318.95 ns，下降约 13.3%</a:t>
            </a: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FCA331CE-DFC2-A136-F5B4-2A6347DDC202}"/>
              </a:ext>
            </a:extLst>
          </p:cNvPr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固定核心运行效果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工作集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普通运行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固定核心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328"/>
                          </a:solidFill>
                          <a:latin typeface="Arial"/>
                        </a:defRPr>
                      </a:pPr>
                      <a:r>
                        <a:t>变化</a:t>
                      </a:r>
                    </a:p>
                  </a:txBody>
                  <a:tcPr marL="54864" marR="54864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42.49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28.48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33.0%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8MB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121.64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97.00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20.3%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64MB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254.28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236.53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7.0%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256MB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319.39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273.03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14.5%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1GB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367.73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318.95 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656D76"/>
                          </a:solidFill>
                          <a:latin typeface="Arial"/>
                        </a:defRPr>
                      </a:pPr>
                      <a:r>
                        <a:t>下降 13.3%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42900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固定核心后多数工作集延迟降低，说明 vCPU 迁移和调度确实会影响测量。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16MB 附近差异很小，说明固定核心不能消除所有虚拟化开销。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实验判断总结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" cy="713232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070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Cache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48K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430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53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43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3533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Courier New"/>
              </a:rPr>
              <a:t>36M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54864" cy="713232"/>
          </a:xfrm>
          <a:prstGeom prst="rect">
            <a:avLst/>
          </a:prstGeom>
          <a:solidFill>
            <a:srgbClr val="1A7F37"/>
          </a:solidFill>
          <a:ln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214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访问模式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Seq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平滑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2677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台阶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57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67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7F37"/>
                </a:solidFill>
                <a:latin typeface="Courier New"/>
              </a:rPr>
              <a:t>Rand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54864" cy="713232"/>
          </a:xfrm>
          <a:prstGeom prst="rect">
            <a:avLst/>
          </a:prstGeom>
          <a:solidFill>
            <a:srgbClr val="CF222E"/>
          </a:solidFill>
          <a:ln>
            <a:solidFill>
              <a:srgbClr val="CF2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035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328"/>
                </a:solidFill>
                <a:latin typeface="Arial"/>
              </a:rPr>
              <a:t>虚拟化影响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Host 1GB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6618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110.94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97180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VM 1GB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3979" y="3182112"/>
            <a:ext cx="17225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F222E"/>
                </a:solidFill>
                <a:latin typeface="Courier New"/>
              </a:rPr>
              <a:t>321.89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718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56D76"/>
                </a:solidFill>
                <a:latin typeface="Arial"/>
              </a:rPr>
              <a:t>倍率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F222E"/>
                </a:solidFill>
                <a:latin typeface="Courier New"/>
              </a:rPr>
              <a:t>2.9x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6700"/>
                </a:solidFill>
                <a:latin typeface="Arial"/>
              </a:rPr>
              <a:t>关键判断：随机 pointer chasing 更适合本题；虚拟机结果可看趋势，不宜看作裸机绝对性能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328"/>
                </a:solidFill>
                <a:latin typeface="Arial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1. 本实验采用 /sys/.../cpu0/cache 作为主边界：L1d=48KB、L2=2MB、L3=36MB。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2. 顺序访问受硬件预取器优化，延迟低且曲线平滑；随机访问更容易看见缓存层级台阶。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3. 虚拟机随机访问延迟明显高于宿主机，大工作集下差异最明显。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4. 固定 CPU 核心后多数工作集延迟下降，1GB 工作集下降约 13.3%。</a:t>
            </a:r>
          </a:p>
          <a:p>
            <a:pPr>
              <a:spcAft>
                <a:spcPts val="600"/>
              </a:spcAft>
              <a:defRPr sz="1300">
                <a:solidFill>
                  <a:srgbClr val="656D76"/>
                </a:solidFill>
                <a:latin typeface="Arial"/>
              </a:defRPr>
            </a:pPr>
            <a:r>
              <a:t>5. 虚拟机中可以观察容量边界，但报告中应重点分析趋势和转折点。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6F8FA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315968"/>
            <a:ext cx="7863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56D76"/>
                </a:solidFill>
                <a:latin typeface="Arial"/>
              </a:rPr>
              <a:t>数据来源：Ubuntu 虚拟机实测 + Windows 宿主机实测 + /sys/devices/system/cpu/cpu0/cache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632</Words>
  <Application>Microsoft Office PowerPoint</Application>
  <PresentationFormat>全屏显示(16:9)</PresentationFormat>
  <Paragraphs>166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1 1</cp:lastModifiedBy>
  <cp:revision>2</cp:revision>
  <dcterms:created xsi:type="dcterms:W3CDTF">2013-01-27T09:14:16Z</dcterms:created>
  <dcterms:modified xsi:type="dcterms:W3CDTF">2026-05-18T13:43:45Z</dcterms:modified>
  <cp:category/>
</cp:coreProperties>
</file>
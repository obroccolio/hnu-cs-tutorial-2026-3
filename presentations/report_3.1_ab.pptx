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1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5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1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99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155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900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5645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901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1351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4099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2155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5645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73901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91351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4099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2155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3900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5645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73901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91351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04099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2155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3900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5645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873901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91351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04099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2155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3900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5645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73901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91351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04099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2155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3900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5645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73901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6550" y="939552"/>
            <a:ext cx="699195" cy="247650"/>
          </a:xfrm>
          <a:prstGeom prst="roundRect">
            <a:avLst>
              <a:gd name="adj" fmla="val 20513"/>
            </a:avLst>
          </a:prstGeom>
          <a:solidFill>
            <a:srgbClr val="343B4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63501" y="977652"/>
            <a:ext cx="45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 3.1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550" y="1466552"/>
            <a:ext cx="782431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存储层次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736550" y="2081212"/>
            <a:ext cx="782431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金字塔实测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736550" y="2873573"/>
            <a:ext cx="634901" cy="38100"/>
          </a:xfrm>
          <a:prstGeom prst="roundRect">
            <a:avLst>
              <a:gd name="adj" fmla="val 33333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36550" y="3114824"/>
            <a:ext cx="78243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到 SSD，访问速度差多少？我们自己动手测了一遍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0" y="4292650"/>
            <a:ext cx="9144000" cy="850850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0" y="4292650"/>
            <a:ext cx="9144000" cy="126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6550" y="4622750"/>
            <a:ext cx="43224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i9-13900HX  |  Ubuntu 22.04 LTS  |  VirtualBox  |  v2 · 5次采样中位数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368201"/>
            <a:ext cx="8212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如何确保测量准确？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6050" y="961876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177677"/>
            <a:ext cx="4124623" cy="1177677"/>
          </a:xfrm>
          <a:prstGeom prst="roundRect">
            <a:avLst>
              <a:gd name="adj" fmla="val 4314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751" y="1304627"/>
            <a:ext cx="38446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测延迟——制造 CPU 无法预判的随机跳跃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3751" y="1549003"/>
            <a:ext cx="368201" cy="317450"/>
          </a:xfrm>
          <a:prstGeom prst="roundRect">
            <a:avLst>
              <a:gd name="adj" fmla="val 12002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2877" y="1636216"/>
            <a:ext cx="71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4656" y="1549003"/>
            <a:ext cx="368201" cy="317450"/>
          </a:xfrm>
          <a:prstGeom prst="roundRect">
            <a:avLst>
              <a:gd name="adj" fmla="val 12002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3782" y="1636216"/>
            <a:ext cx="71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65561" y="1549003"/>
            <a:ext cx="368201" cy="317450"/>
          </a:xfrm>
          <a:prstGeom prst="roundRect">
            <a:avLst>
              <a:gd name="adj" fmla="val 12002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14686" y="1636216"/>
            <a:ext cx="71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36465" y="1549003"/>
            <a:ext cx="368201" cy="317450"/>
          </a:xfrm>
          <a:prstGeom prst="roundRect">
            <a:avLst>
              <a:gd name="adj" fmla="val 12002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85591" y="1636216"/>
            <a:ext cx="71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07370" y="1549003"/>
            <a:ext cx="368201" cy="317450"/>
          </a:xfrm>
          <a:prstGeom prst="roundRect">
            <a:avLst>
              <a:gd name="adj" fmla="val 12002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56496" y="1636216"/>
            <a:ext cx="71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78275" y="1549003"/>
            <a:ext cx="368201" cy="317450"/>
          </a:xfrm>
          <a:prstGeom prst="roundRect">
            <a:avLst>
              <a:gd name="adj" fmla="val 12002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27400" y="1636216"/>
            <a:ext cx="71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3751" y="1942654"/>
            <a:ext cx="38446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每步要去哪里，藏在上一步取回的内容里——CPU 不知道下一跳在哪，只能等；等待的时间就是该层存储的真实延迟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6050" y="2482304"/>
            <a:ext cx="4124623" cy="1365498"/>
          </a:xfrm>
          <a:prstGeom prst="roundRect">
            <a:avLst>
              <a:gd name="adj" fmla="val 3720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3751" y="2596604"/>
            <a:ext cx="38446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测带宽——相同的数据量，两种访问方式，量化差距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3751" y="2840980"/>
            <a:ext cx="1833860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4777" y="2926705"/>
            <a:ext cx="16440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顺序读取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4777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4698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88678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68598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42579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422499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96479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76400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50380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930301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04281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84202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34777" y="3383756"/>
            <a:ext cx="1644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按地址顺序逐块读，CPU 能提前预取，命中率高，速度快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59112" y="2840980"/>
            <a:ext cx="1833860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770138" y="2926705"/>
            <a:ext cx="16440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随机读取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70138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50059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24039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03959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77939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57860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531840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611761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85741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865662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39642" y="3142506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119562" y="3175843"/>
            <a:ext cx="570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70138" y="3383756"/>
            <a:ext cx="1644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每次跳到不同地址，缓存经常失效，大量时间在等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48374" y="1177677"/>
            <a:ext cx="50750" cy="790873"/>
          </a:xfrm>
          <a:prstGeom prst="roundRect">
            <a:avLst>
              <a:gd name="adj" fmla="val 5004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899124" y="1177677"/>
            <a:ext cx="3698825" cy="790873"/>
          </a:xfrm>
          <a:prstGeom prst="rect">
            <a:avLst/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038725" y="1279178"/>
            <a:ext cx="34880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让 CPU 无从预判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38725" y="1517303"/>
            <a:ext cx="3488016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随机打乱后形成"寻宝链"——每步才知道下一步在哪，CPU 无法提前取数，测到的就是真实等待时间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48374" y="2082850"/>
            <a:ext cx="50750" cy="790873"/>
          </a:xfrm>
          <a:prstGeom prst="roundRect">
            <a:avLst>
              <a:gd name="adj" fmla="val 5004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99124" y="2082850"/>
            <a:ext cx="3698825" cy="790873"/>
          </a:xfrm>
          <a:prstGeom prst="rect">
            <a:avLst/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038725" y="2184350"/>
            <a:ext cx="34880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两种模式量化差距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38725" y="2422475"/>
            <a:ext cx="3488016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同样大小的数据，顺序和随机的带宽相差十几到几十倍——这个比值就是"访问模式"对性能的实际代价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48374" y="2988022"/>
            <a:ext cx="50750" cy="790873"/>
          </a:xfrm>
          <a:prstGeom prst="roundRect">
            <a:avLst>
              <a:gd name="adj" fmla="val 50049"/>
            </a:avLst>
          </a:prstGeom>
          <a:solidFill>
            <a:srgbClr val="BC4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899124" y="2988022"/>
            <a:ext cx="3698825" cy="790873"/>
          </a:xfrm>
          <a:prstGeom prst="rect">
            <a:avLst/>
          </a:prstGeom>
          <a:solidFill>
            <a:srgbClr val="FFF1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038725" y="3089523"/>
            <a:ext cx="34880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重复采样消除噪音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038725" y="3327648"/>
            <a:ext cx="3488016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系统随时有其他任务抢占 CPU，单次波动大；重复 5 次取中位数，记录最小/最大范围，结果才可信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46050" y="4899124"/>
            <a:ext cx="8212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工作集 8 KB → 256 MB  |  每轮 5000 万次跳转  |  高精度单调计时器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测量方法 · 延迟篇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218728"/>
            <a:ext cx="4124623" cy="949077"/>
          </a:xfrm>
          <a:prstGeom prst="roundRect">
            <a:avLst>
              <a:gd name="adj" fmla="val 5353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333028"/>
            <a:ext cx="38704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直觉：数组里存的是下一跳的地址，CPU 不知道下一步在哪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1101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5613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32297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76809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53493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98005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74689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9201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95885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40397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7081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61593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1101" y="1920155"/>
            <a:ext cx="38704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无法提前取数，只能等结果返回才能继续——等待时间 = 该层真实延迟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2552" y="2559844"/>
            <a:ext cx="50750" cy="747117"/>
          </a:xfrm>
          <a:prstGeom prst="roundRect">
            <a:avLst>
              <a:gd name="adj" fmla="val 50049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303" y="2559844"/>
            <a:ext cx="4073872" cy="747117"/>
          </a:xfrm>
          <a:prstGeom prst="rect">
            <a:avLst/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253" y="2648694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指针追逐（Pointer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Chasing）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253" y="2886819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Fisher-Yates 随机打乱后形成链式跳跃——每步才知道下一步在哪，CPU 无法预取；工作集超过某层容量时延迟骤变，即可测出该层延迟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6050" y="3655814"/>
            <a:ext cx="4124623" cy="1113086"/>
          </a:xfrm>
          <a:prstGeom prst="roundRect">
            <a:avLst>
              <a:gd name="adj" fmla="val 4721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3001" y="3794373"/>
            <a:ext cx="394813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工作集大小决定命中哪一层 → 延迟骤变 = 层级边界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3001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1429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1429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32 KB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41429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~4 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53332" y="4003923"/>
            <a:ext cx="929729" cy="663476"/>
          </a:xfrm>
          <a:prstGeom prst="roundRect">
            <a:avLst>
              <a:gd name="adj" fmla="val 5742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721758" y="4092773"/>
            <a:ext cx="79287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21758" y="4264223"/>
            <a:ext cx="79287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512 KB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721758" y="4416623"/>
            <a:ext cx="79287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~19 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33811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702240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02240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8 MB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02240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~117 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14142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F0F3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82570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82570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8 MB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82570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~344 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8374" y="1009501"/>
            <a:ext cx="3749576" cy="260152"/>
          </a:xfrm>
          <a:prstGeom prst="roundRect">
            <a:avLst>
              <a:gd name="adj" fmla="val 19527"/>
            </a:avLst>
          </a:prstGeom>
          <a:solidFill>
            <a:srgbClr val="24292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75324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27575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79827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32078" y="1072902"/>
            <a:ext cx="96153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latency_bench.c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8374" y="1269653"/>
            <a:ext cx="3749576" cy="941189"/>
          </a:xfrm>
          <a:prstGeom prst="rect">
            <a:avLst/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26075" y="1383953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核心循环：每次地址取决于上次内容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6075" y="162148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CF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 0; i &lt; ITERATIONS; i++)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6075" y="185901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idx = arr[idx]; </a:t>
            </a: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无法预取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8374" y="2559844"/>
            <a:ext cx="50750" cy="747117"/>
          </a:xfrm>
          <a:prstGeom prst="roundRect">
            <a:avLst>
              <a:gd name="adj" fmla="val 50049"/>
            </a:avLst>
          </a:prstGeom>
          <a:solidFill>
            <a:srgbClr val="BC4C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99124" y="2559844"/>
            <a:ext cx="3698825" cy="747117"/>
          </a:xfrm>
          <a:prstGeom prst="rect">
            <a:avLst/>
          </a:prstGeom>
          <a:solidFill>
            <a:srgbClr val="FFF1E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026075" y="2648694"/>
            <a:ext cx="351382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抗噪：绑核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多次采样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6075" y="2886819"/>
            <a:ext cx="3513823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绑定单个 CPU 核心，防止进程被迁移；重复 5 次取中位数，记录 [min, max] 区间，排除偶发抖动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8374" y="3655814"/>
            <a:ext cx="3749576" cy="1113086"/>
          </a:xfrm>
          <a:prstGeom prst="roundRect">
            <a:avLst>
              <a:gd name="adj" fmla="val 4564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987975" y="3770114"/>
            <a:ext cx="353978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工作集扫描策略：8 KB → 256 MB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87975" y="3976390"/>
            <a:ext cx="3539782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逐步扩大工作集——每当延迟骤变，代表工作集刚超过上层缓存容量，即"悬崖效应"的来源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87975" y="4337149"/>
            <a:ext cx="1122908" cy="317450"/>
          </a:xfrm>
          <a:prstGeom prst="roundRect">
            <a:avLst>
              <a:gd name="adj" fmla="val 8001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051375" y="4375249"/>
            <a:ext cx="101602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→ L2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51375" y="4511725"/>
            <a:ext cx="101602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 KB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161633" y="4337149"/>
            <a:ext cx="1123057" cy="317450"/>
          </a:xfrm>
          <a:prstGeom prst="roundRect">
            <a:avLst>
              <a:gd name="adj" fmla="val 8001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25034" y="4375249"/>
            <a:ext cx="101618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 → L3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25034" y="4511725"/>
            <a:ext cx="1016181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512 KB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335441" y="4337149"/>
            <a:ext cx="1122908" cy="317450"/>
          </a:xfrm>
          <a:prstGeom prst="roundRect">
            <a:avLst>
              <a:gd name="adj" fmla="val 8001"/>
            </a:avLst>
          </a:prstGeom>
          <a:solidFill>
            <a:srgbClr val="FFEB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398841" y="4375249"/>
            <a:ext cx="101602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 → DRAM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98841" y="4511725"/>
            <a:ext cx="101602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MB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工作集 8 KB → 256 MB  |  5000 万次跳转 / 轮  |  高精度单调计时器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测量方法 · 带宽篇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009501"/>
            <a:ext cx="4124623" cy="1352848"/>
          </a:xfrm>
          <a:prstGeom prst="roundRect">
            <a:avLst>
              <a:gd name="adj" fmla="val 3755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123801"/>
            <a:ext cx="38704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直觉：同样的数据量，两种取法，速度天差地别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1101" y="1355527"/>
            <a:ext cx="1846511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127" y="1441252"/>
            <a:ext cx="1656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顺序读取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127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2047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6027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5948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9928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0984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382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6375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3773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1765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9163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71551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127" y="1898303"/>
            <a:ext cx="1656948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挨着取，CPU 能提前预取，缓存命中率高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9112" y="1355527"/>
            <a:ext cx="1846511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70138" y="1441252"/>
            <a:ext cx="1656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随机读取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70138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5005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2403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0395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7793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5786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3184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11761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85741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65662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39642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119562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70138" y="1898303"/>
            <a:ext cx="1656948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跳着取，每次都可能 miss，大量时间在等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50" y="2818507"/>
            <a:ext cx="50750" cy="747117"/>
          </a:xfrm>
          <a:prstGeom prst="roundRect">
            <a:avLst>
              <a:gd name="adj" fmla="val 50049"/>
            </a:avLst>
          </a:prstGeom>
          <a:solidFill>
            <a:srgbClr val="1A7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6801" y="2818507"/>
            <a:ext cx="4073872" cy="747117"/>
          </a:xfrm>
          <a:prstGeom prst="rect">
            <a:avLst/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3751" y="2907357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vs 随机带宽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751" y="3145482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相同工作集跑两遍，差值量化了"预取器与缓存命中"的实际价值；两者之比就是"乖乖排队 vs 到处乱取"的真实代价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6050" y="4021782"/>
            <a:ext cx="50750" cy="747117"/>
          </a:xfrm>
          <a:prstGeom prst="roundRect">
            <a:avLst>
              <a:gd name="adj" fmla="val 50049"/>
            </a:avLst>
          </a:prstGeom>
          <a:solidFill>
            <a:srgbClr val="9A67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96801" y="4021782"/>
            <a:ext cx="4073872" cy="747117"/>
          </a:xfrm>
          <a:prstGeom prst="rect">
            <a:avLst/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23751" y="4110633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 修复：</a:t>
            </a:r>
            <a:r>
              <a:rPr lang="en-US" sz="11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n</a:t>
            </a:r>
            <a:r>
              <a:rPr lang="en-US" sz="120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→ </a:t>
            </a:r>
            <a:r>
              <a:rPr lang="en-US" sz="110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mask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3751" y="4348758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取余 </a:t>
            </a:r>
            <a:r>
              <a:rPr lang="en-US" sz="90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n</a:t>
            </a: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需要整数除法约 29 cycles；位与 </a:t>
            </a:r>
            <a:r>
              <a:rPr lang="en-US" sz="90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mask</a:t>
            </a: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只需 1 cycle——去掉测量工具自身的计算开销，保证带宽数字只反映内存访问速度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8374" y="1009501"/>
            <a:ext cx="3749576" cy="260152"/>
          </a:xfrm>
          <a:prstGeom prst="roundRect">
            <a:avLst>
              <a:gd name="adj" fmla="val 19527"/>
            </a:avLst>
          </a:prstGeom>
          <a:solidFill>
            <a:srgbClr val="24292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75324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27575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79827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32078" y="1072902"/>
            <a:ext cx="160260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bandwidth_bench.c </a:t>
            </a:r>
            <a:r>
              <a:rPr lang="en-US" sz="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v2 fix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8374" y="1269653"/>
            <a:ext cx="3749576" cy="1178719"/>
          </a:xfrm>
          <a:prstGeom prst="rect">
            <a:avLst/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026075" y="1383953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顺序：步长 64B = 1 cacheline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6075" y="162148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CF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 0; i &lt; n; i += 8) sink += arr[i];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6075" y="185901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随机：&amp; mask 替代 % n（省 ~29 cycles）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6075" y="209654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sink += arr[xorshift64(&amp;s) </a:t>
            </a:r>
            <a:r>
              <a:rPr lang="en-US" sz="1100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 mask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8374" y="2682478"/>
            <a:ext cx="3749576" cy="1361480"/>
          </a:xfrm>
          <a:prstGeom prst="roundRect">
            <a:avLst>
              <a:gd name="adj" fmla="val 3731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975324" y="2960191"/>
            <a:ext cx="349567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975324" y="2771329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层级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30875" y="2771329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顺序 (GB/s)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43625" y="2771329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随机 (GB/s)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67849" y="2771329"/>
            <a:ext cx="2072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差距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75324" y="3066455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30875" y="3066455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121.2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43625" y="3066455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1.76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130034" y="3053804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218884" y="3066455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975324" y="3301305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30875" y="3301305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91.9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43625" y="3301305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2.71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30034" y="3288655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218884" y="3301305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34×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975324" y="3536156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330875" y="3536156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5.83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43625" y="3536156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1.27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84803" y="3523506"/>
            <a:ext cx="286196" cy="158651"/>
          </a:xfrm>
          <a:prstGeom prst="roundRect">
            <a:avLst>
              <a:gd name="adj" fmla="val 80041916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273653" y="3536156"/>
            <a:ext cx="11066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5×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975324" y="3771007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330875" y="3771007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3.60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43625" y="3771007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130034" y="3758357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218884" y="3771007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22×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848374" y="4277916"/>
            <a:ext cx="50750" cy="490984"/>
          </a:xfrm>
          <a:prstGeom prst="roundRect">
            <a:avLst>
              <a:gd name="adj" fmla="val 50049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899124" y="4277916"/>
            <a:ext cx="3698825" cy="490984"/>
          </a:xfrm>
          <a:prstGeom prst="rect">
            <a:avLst/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026075" y="4366766"/>
            <a:ext cx="3513823" cy="313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差距最悬殊（69×）</a:t>
            </a:r>
            <a:r>
              <a:rPr lang="en-US" sz="85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：按行遍历命中同一 cacheline，按列遍历每步跨行 miss—— vs  就是同一道理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顺序：步长 64B (1 cacheline)  |  随机：xorshift64 &amp; mask  |  单位 GB/s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延迟金字塔：从 L1 到磁盘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787503" cy="183952"/>
          </a:xfrm>
          <a:prstGeom prst="roundRect">
            <a:avLst>
              <a:gd name="adj" fmla="val 20712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009352"/>
            <a:ext cx="14210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a）各级存储访问延迟实测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218754"/>
            <a:ext cx="48832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横轴：对数刻度（ns），覆盖 L1 → SSD 全层级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75081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 (32 KB)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38151" y="1728639"/>
            <a:ext cx="533102" cy="177701"/>
          </a:xfrm>
          <a:prstGeom prst="roundRect">
            <a:avLst>
              <a:gd name="adj" fmla="val 14294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01552" y="1755577"/>
            <a:ext cx="341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6050" y="227022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 (512 KB)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38151" y="2248049"/>
            <a:ext cx="990302" cy="177701"/>
          </a:xfrm>
          <a:prstGeom prst="roundRect">
            <a:avLst>
              <a:gd name="adj" fmla="val 14294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01552" y="2274987"/>
            <a:ext cx="398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6050" y="278963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 (8 MB)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38151" y="2767459"/>
            <a:ext cx="1536502" cy="177701"/>
          </a:xfrm>
          <a:prstGeom prst="roundRect">
            <a:avLst>
              <a:gd name="adj" fmla="val 14294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1552" y="2794397"/>
            <a:ext cx="4555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6050" y="3309045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(256 MB)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38151" y="3286869"/>
            <a:ext cx="1853952" cy="177701"/>
          </a:xfrm>
          <a:prstGeom prst="roundRect">
            <a:avLst>
              <a:gd name="adj" fmla="val 14294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01552" y="3313807"/>
            <a:ext cx="341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6050" y="3828306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  (随机)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38151" y="3806130"/>
            <a:ext cx="3695402" cy="177701"/>
          </a:xfrm>
          <a:prstGeom prst="roundRect">
            <a:avLst>
              <a:gd name="adj" fmla="val 14294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01552" y="3833068"/>
            <a:ext cx="569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180,000 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38151" y="4381054"/>
            <a:ext cx="3695402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638151" y="4423916"/>
            <a:ext cx="199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279600" y="4423916"/>
            <a:ext cx="2492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ns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69716" y="4423916"/>
            <a:ext cx="299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ns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08797" y="4423916"/>
            <a:ext cx="199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μs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50097" y="4423916"/>
            <a:ext cx="2492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μs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40362" y="4423916"/>
            <a:ext cx="299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μs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511254" y="984052"/>
            <a:ext cx="3086695" cy="1318171"/>
          </a:xfrm>
          <a:prstGeom prst="roundRect">
            <a:avLst>
              <a:gd name="adj" fmla="val 3854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1254" y="984052"/>
            <a:ext cx="3086695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8205" y="1098352"/>
            <a:ext cx="288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访问延迟 = 去哪里取文件？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8205" y="1320552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71605" y="1320552"/>
            <a:ext cx="202553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从桌上拿文件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33618" y="1320552"/>
            <a:ext cx="242128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8205" y="1504206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71605" y="1504206"/>
            <a:ext cx="184397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开旁边抽屉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55620" y="1504206"/>
            <a:ext cx="42368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38205" y="1687860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71605" y="1687860"/>
            <a:ext cx="1783401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走到隔壁房间文件柜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996237" y="1687860"/>
            <a:ext cx="48425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38205" y="1871514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71605" y="1871514"/>
            <a:ext cx="190439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下楼去档案室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14854" y="1871514"/>
            <a:ext cx="36326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38205" y="2055168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71605" y="2055168"/>
            <a:ext cx="184397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去外地仓库取文件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55620" y="2055168"/>
            <a:ext cx="42368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180K 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11254" y="2391073"/>
            <a:ext cx="3086695" cy="748010"/>
          </a:xfrm>
          <a:prstGeom prst="roundRect">
            <a:avLst>
              <a:gd name="adj" fmla="val 679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11254" y="2391073"/>
            <a:ext cx="3086695" cy="3810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638205" y="2505373"/>
            <a:ext cx="288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层级跳变 &amp; 悬崖效应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38205" y="2695873"/>
            <a:ext cx="288945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L1→L2: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L2→L3: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L3→RAM: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RAM→SSD: 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~520×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38205" y="2866727"/>
            <a:ext cx="288945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 L3(36MB)：116.6 ns → 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ns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（悬崖 2.1×）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11254" y="3227932"/>
            <a:ext cx="3086695" cy="1436787"/>
          </a:xfrm>
          <a:prstGeom prst="roundRect">
            <a:avLst>
              <a:gd name="adj" fmla="val 4373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12755" y="3291334"/>
            <a:ext cx="1139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跨平台内存层次吞吐对比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45462" y="3310384"/>
            <a:ext cx="7660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Membench 2023</a:t>
            </a:r>
            <a:endParaRPr lang="en-US" sz="650" dirty="0"/>
          </a:p>
        </p:txBody>
      </p:sp>
      <p:pic>
        <p:nvPicPr>
          <p:cNvPr id="55" name="Image 0" descr="E:/Project/benchmark/benchmark/paper_images/armmembench_fig2_throughput_memory_hierar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755" y="3472944"/>
            <a:ext cx="2883694" cy="11190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6" name="Text 53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 i9-13900HX  |  VirtualBox VM  |  指针追逐 + Fisher-Yates  |  L3/RAM 含 hypervisor 开销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带宽对比：顺序 vs 随机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125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49077"/>
            <a:ext cx="4450705" cy="183952"/>
          </a:xfrm>
          <a:prstGeom prst="roundRect">
            <a:avLst>
              <a:gd name="adj" fmla="val 20712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974378"/>
            <a:ext cx="2086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b）各级带宽 + 哪层顺序/随机差距最悬殊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183779"/>
            <a:ext cx="45397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横轴：对数刻度（GB/s）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40597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751" y="1402854"/>
            <a:ext cx="310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顺序读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0802" y="140597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BFD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58503" y="1402854"/>
            <a:ext cx="310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6050" y="1625054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Cache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6050" y="1793230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03250" y="1783705"/>
            <a:ext cx="3581102" cy="152400"/>
          </a:xfrm>
          <a:prstGeom prst="roundRect">
            <a:avLst>
              <a:gd name="adj" fmla="val 1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66651" y="1802755"/>
            <a:ext cx="4273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6050" y="1970931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03250" y="1961406"/>
            <a:ext cx="1523702" cy="152400"/>
          </a:xfrm>
          <a:prstGeom prst="roundRect">
            <a:avLst>
              <a:gd name="adj" fmla="val 16667"/>
            </a:avLst>
          </a:prstGeom>
          <a:solidFill>
            <a:srgbClr val="BFD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6651" y="1980456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6050" y="2215307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Cache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6050" y="2383482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3250" y="2373957"/>
            <a:ext cx="3441502" cy="152400"/>
          </a:xfrm>
          <a:prstGeom prst="roundRect">
            <a:avLst>
              <a:gd name="adj" fmla="val 1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6651" y="2393007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 GB/s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6050" y="2561183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03250" y="2551658"/>
            <a:ext cx="1739652" cy="152400"/>
          </a:xfrm>
          <a:prstGeom prst="roundRect">
            <a:avLst>
              <a:gd name="adj" fmla="val 16667"/>
            </a:avLst>
          </a:prstGeom>
          <a:solidFill>
            <a:srgbClr val="F0D9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66651" y="2570708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6050" y="2805559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Cache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6050" y="2973735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03250" y="2964210"/>
            <a:ext cx="2108002" cy="152400"/>
          </a:xfrm>
          <a:prstGeom prst="roundRect">
            <a:avLst>
              <a:gd name="adj" fmla="val 1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66651" y="2983260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 GB/s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6050" y="3151436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03250" y="3141911"/>
            <a:ext cx="1358652" cy="152400"/>
          </a:xfrm>
          <a:prstGeom prst="roundRect">
            <a:avLst>
              <a:gd name="adj" fmla="val 16667"/>
            </a:avLst>
          </a:prstGeom>
          <a:solidFill>
            <a:srgbClr val="AEE0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66651" y="3160961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6050" y="3395811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6050" y="356398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03250" y="3554462"/>
            <a:ext cx="1866602" cy="152400"/>
          </a:xfrm>
          <a:prstGeom prst="roundRect">
            <a:avLst>
              <a:gd name="adj" fmla="val 16667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66651" y="3573512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6050" y="3741688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03250" y="3732163"/>
            <a:ext cx="380702" cy="152400"/>
          </a:xfrm>
          <a:prstGeom prst="roundRect">
            <a:avLst>
              <a:gd name="adj" fmla="val 16667"/>
            </a:avLst>
          </a:prstGeom>
          <a:solidFill>
            <a:srgbClr val="C8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60153" y="3751213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79450" y="3965377"/>
            <a:ext cx="391730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79450" y="4008239"/>
            <a:ext cx="149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303711" y="4008239"/>
            <a:ext cx="499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30339" y="4008239"/>
            <a:ext cx="997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05784" y="4008239"/>
            <a:ext cx="398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GB/s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74456" y="949077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275957" y="1012478"/>
            <a:ext cx="38100" cy="27935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02907" y="1080641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8958" y="1080641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121.2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98159" y="1080641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45710" y="1060103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434560" y="1085404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74456" y="1405979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275957" y="1469380"/>
            <a:ext cx="38100" cy="279350"/>
          </a:xfrm>
          <a:prstGeom prst="roundRect">
            <a:avLst>
              <a:gd name="adj" fmla="val 6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402907" y="1537543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948958" y="1537543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98159" y="1537543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45710" y="1517005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434560" y="1542306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34×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74456" y="1862882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275957" y="1926282"/>
            <a:ext cx="38100" cy="27935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02907" y="1994446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48958" y="1994446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98159" y="1994446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345710" y="1973907"/>
            <a:ext cx="286196" cy="183952"/>
          </a:xfrm>
          <a:prstGeom prst="roundRect">
            <a:avLst>
              <a:gd name="adj" fmla="val 6903284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434560" y="1999208"/>
            <a:ext cx="110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174456" y="2319784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275957" y="2383185"/>
            <a:ext cx="38100" cy="279350"/>
          </a:xfrm>
          <a:prstGeom prst="roundRect">
            <a:avLst>
              <a:gd name="adj" fmla="val 66667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402907" y="2451348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948958" y="2451348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698159" y="2451348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345710" y="2430810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434560" y="2456111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22×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174456" y="2840087"/>
            <a:ext cx="50750" cy="665559"/>
          </a:xfrm>
          <a:prstGeom prst="roundRect">
            <a:avLst>
              <a:gd name="adj" fmla="val 5004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225207" y="2840087"/>
            <a:ext cx="3372743" cy="665559"/>
          </a:xfrm>
          <a:prstGeom prst="rect">
            <a:avLst/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339507" y="2928938"/>
            <a:ext cx="32070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差距最悬殊：69×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339507" y="3125688"/>
            <a:ext cx="320702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行遍历命中同一 cacheline，列遍历每步跨行每次 miss——sum_array_rows vs cols 就是同一道理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174456" y="3569047"/>
            <a:ext cx="3423493" cy="1485604"/>
          </a:xfrm>
          <a:prstGeom prst="roundRect">
            <a:avLst>
              <a:gd name="adj" fmla="val 406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275957" y="3632448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Skylake 带宽-延迟曲线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957542" y="3651498"/>
            <a:ext cx="5496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2024 Fig.2</a:t>
            </a:r>
            <a:endParaRPr lang="en-US" sz="650" dirty="0"/>
          </a:p>
        </p:txBody>
      </p:sp>
      <p:pic>
        <p:nvPicPr>
          <p:cNvPr id="79" name="Image 0" descr="E:/Project/benchmark/benchmark/paper_images/mess2024_fig2_bandwidth_latency_skyl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957" y="3803898"/>
            <a:ext cx="3220492" cy="11866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0" name="Text 7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顺序：步长 64B (1 cacheline)  |  随机：xorshift64 &amp; mask  |  单位 GB/s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368201"/>
            <a:ext cx="8212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扩展分析：三大关键发现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6050" y="961876"/>
            <a:ext cx="1092101" cy="22324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073051"/>
            <a:ext cx="2235547" cy="2264569"/>
          </a:xfrm>
          <a:prstGeom prst="roundRect">
            <a:avLst>
              <a:gd name="adj" fmla="val 22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6050" y="1073051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225451"/>
            <a:ext cx="1956346" cy="192881"/>
          </a:xfrm>
          <a:prstGeom prst="roundRect">
            <a:avLst>
              <a:gd name="adj" fmla="val 65837122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152" y="1250752"/>
            <a:ext cx="3473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651" y="1481733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随机带宽被低估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651" y="1735634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（整数除法 ~30 cycles）与 L1 延迟 ~16 cycles 同量级，v1 测的是除法吞吐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651" y="2157115"/>
            <a:ext cx="1956346" cy="1066205"/>
          </a:xfrm>
          <a:prstGeom prst="roundRect">
            <a:avLst>
              <a:gd name="adj" fmla="val 3573"/>
            </a:avLst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9951" y="2233315"/>
            <a:ext cx="17623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OLD: arr[xorshift64(&amp;s) % n]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9951" y="2598837"/>
            <a:ext cx="17623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NEW: arr[xorshift64(&amp;s) &amp; mask]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9951" y="2964359"/>
            <a:ext cx="17623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cycles to 1 cycle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050" y="3439120"/>
            <a:ext cx="2235547" cy="1371154"/>
          </a:xfrm>
          <a:prstGeom prst="roundRect">
            <a:avLst>
              <a:gd name="adj" fmla="val 370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6050" y="3439120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51" y="3591520"/>
            <a:ext cx="1956346" cy="192881"/>
          </a:xfrm>
          <a:prstGeom prst="roundRect">
            <a:avLst>
              <a:gd name="adj" fmla="val 65837122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152" y="3616821"/>
            <a:ext cx="2480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651" y="3847802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带宽异常消失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651" y="410170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L2 5.1 &lt; L3 7.1 GB/s（不合理）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651" y="429979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L2 </a:t>
            </a:r>
            <a:r>
              <a:rPr lang="en-US" sz="9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&gt;&gt; L3 5.8 GB/s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651" y="4497884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顺序带宽 </a:t>
            </a: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&gt; L2 &gt; L3 &gt; RAM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33998" y="1073051"/>
            <a:ext cx="3276005" cy="3737223"/>
          </a:xfrm>
          <a:prstGeom prst="roundRect">
            <a:avLst>
              <a:gd name="adj" fmla="val 155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33998" y="1073051"/>
            <a:ext cx="3276005" cy="38100"/>
          </a:xfrm>
          <a:prstGeom prst="roundRect">
            <a:avLst>
              <a:gd name="adj" fmla="val 66667"/>
            </a:avLst>
          </a:prstGeom>
          <a:solidFill>
            <a:srgbClr val="BC4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73598" y="1225451"/>
            <a:ext cx="2996803" cy="192881"/>
          </a:xfrm>
          <a:prstGeom prst="roundRect">
            <a:avLst>
              <a:gd name="adj" fmla="val 65837122"/>
            </a:avLst>
          </a:prstGeom>
          <a:solidFill>
            <a:srgbClr val="FFF1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75099" y="1250752"/>
            <a:ext cx="3550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73598" y="1481733"/>
            <a:ext cx="30567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悬崖效应：L3 容量临界点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73598" y="1735634"/>
            <a:ext cx="3056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MB 接近 L3 容量（36 MB），驱逐加剧，延迟骤升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73598" y="2004120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(48KB)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98999" y="1997125"/>
            <a:ext cx="190202" cy="165050"/>
          </a:xfrm>
          <a:prstGeom prst="roundRect">
            <a:avLst>
              <a:gd name="adj" fmla="val 1538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78052" y="2004120"/>
            <a:ext cx="46634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73598" y="2207270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(2MB)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98999" y="2200275"/>
            <a:ext cx="279202" cy="165050"/>
          </a:xfrm>
          <a:prstGeom prst="roundRect">
            <a:avLst>
              <a:gd name="adj" fmla="val 1538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67051" y="2207270"/>
            <a:ext cx="46634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73598" y="2478881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(36MB)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98999" y="2471886"/>
            <a:ext cx="634752" cy="165050"/>
          </a:xfrm>
          <a:prstGeom prst="roundRect">
            <a:avLst>
              <a:gd name="adj" fmla="val 1538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22602" y="2481523"/>
            <a:ext cx="634752" cy="14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073598" y="2715081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cliff!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98999" y="2708086"/>
            <a:ext cx="1269802" cy="165050"/>
          </a:xfrm>
          <a:prstGeom prst="roundRect">
            <a:avLst>
              <a:gd name="adj" fmla="val 1538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962400" y="2723862"/>
            <a:ext cx="260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073598" y="2953792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98999" y="2946797"/>
            <a:ext cx="1625352" cy="165050"/>
          </a:xfrm>
          <a:prstGeom prst="roundRect">
            <a:avLst>
              <a:gd name="adj" fmla="val 15389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962400" y="2962573"/>
            <a:ext cx="260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073598" y="3656171"/>
            <a:ext cx="2996803" cy="445443"/>
          </a:xfrm>
          <a:prstGeom prst="roundRect">
            <a:avLst>
              <a:gd name="adj" fmla="val 8553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175099" y="3719572"/>
            <a:ext cx="284967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结论：控制工作集在 L3 容量内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175099" y="3895933"/>
            <a:ext cx="284967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超出后每次访问代价从 116.6 ns → 248 ns，2.1× 性能损失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62402" y="1073051"/>
            <a:ext cx="2235547" cy="2366665"/>
          </a:xfrm>
          <a:prstGeom prst="roundRect">
            <a:avLst>
              <a:gd name="adj" fmla="val 22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62402" y="1073051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502003" y="1225451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为什么顺序远快于随机？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02003" y="1530102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硬件预取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02003" y="1728192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探测步长规律，提前装载 cacheline；随机地址未知，预取失效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02003" y="214967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DRAM Row Buffer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02003" y="2347764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顺序同 row 激活一次多读；随机跨 row 每次预充电，延迟翻倍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02003" y="2769245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SIMD 向量化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02003" y="2967335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顺序可用 AVX 256-bit 指令批量加载；随机每次仅 8 字节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62402" y="3541216"/>
            <a:ext cx="2235547" cy="1269057"/>
          </a:xfrm>
          <a:prstGeom prst="roundRect">
            <a:avLst>
              <a:gd name="adj" fmla="val 4003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62402" y="3541216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02003" y="3693616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开销说明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02003" y="3947517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L3/RAM 延迟高于参考值（L3: 30–60 ns，RAM: 60–120 ns）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02003" y="4305598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调度与 hypervisor 开销所致；L1/L2 缓存层基本不受影响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6050" y="4899124"/>
            <a:ext cx="8212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fixes: sched_setaffinity  |  RUNS=5 median  |  % → &amp; mask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368201"/>
            <a:ext cx="8212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结论汇总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6050" y="961876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152376"/>
            <a:ext cx="8051899" cy="298252"/>
          </a:xfrm>
          <a:prstGeom prst="rect">
            <a:avLst/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215777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16001" y="1215777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容量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451" y="1215777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延迟（实测）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8851" y="1215777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顺序带宽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4752" y="1215777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随机带宽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92814" y="1215777"/>
            <a:ext cx="4877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顺序/随机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6050" y="1463278"/>
            <a:ext cx="8051899" cy="310753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001" y="1537692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Cache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16001" y="1547217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KB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451" y="1547217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8851" y="1547217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752" y="1547217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 GB/s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9135" y="1526679"/>
            <a:ext cx="391864" cy="183952"/>
          </a:xfrm>
          <a:prstGeom prst="roundRect">
            <a:avLst>
              <a:gd name="adj" fmla="val 69032846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93435" y="1551980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69×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6050" y="1786682"/>
            <a:ext cx="8051899" cy="310753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3001" y="1861096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Cache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16001" y="1870621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451" y="1870621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8851" y="1870621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 GB/s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44752" y="1870621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 GB/s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79135" y="1850082"/>
            <a:ext cx="391864" cy="183952"/>
          </a:xfrm>
          <a:prstGeom prst="roundRect">
            <a:avLst>
              <a:gd name="adj" fmla="val 6903284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93435" y="1875383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34×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6050" y="2110085"/>
            <a:ext cx="8051899" cy="310753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3001" y="2184499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Cache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16001" y="2194024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MB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451" y="2194024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28851" y="2194024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 GB/s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44752" y="2194024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 GB/s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3904" y="2173486"/>
            <a:ext cx="337096" cy="183952"/>
          </a:xfrm>
          <a:prstGeom prst="roundRect">
            <a:avLst>
              <a:gd name="adj" fmla="val 6903284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48204" y="2198787"/>
            <a:ext cx="110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6050" y="2433489"/>
            <a:ext cx="8051899" cy="310753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3001" y="2507903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16001" y="2517428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 GB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14451" y="2517428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28851" y="2517428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44752" y="2517428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 GB/s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79135" y="2496889"/>
            <a:ext cx="391864" cy="183952"/>
          </a:xfrm>
          <a:prstGeom prst="roundRect">
            <a:avLst>
              <a:gd name="adj" fmla="val 6903284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193435" y="2522190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22×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6050" y="2756892"/>
            <a:ext cx="8051899" cy="310753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73001" y="2831306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16001" y="2840831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GB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14451" y="2840831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180,000 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28851" y="2840831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GB/s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44752" y="2840831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~2.8 MB/s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70788" y="2820293"/>
            <a:ext cx="500211" cy="183952"/>
          </a:xfrm>
          <a:prstGeom prst="roundRect">
            <a:avLst>
              <a:gd name="adj" fmla="val 6903284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085088" y="2845594"/>
            <a:ext cx="2770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6050" y="3281221"/>
            <a:ext cx="50750" cy="1140321"/>
          </a:xfrm>
          <a:prstGeom prst="roundRect">
            <a:avLst>
              <a:gd name="adj" fmla="val 5004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96801" y="3281221"/>
            <a:ext cx="1866900" cy="1140321"/>
          </a:xfrm>
          <a:prstGeom prst="rect">
            <a:avLst/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23751" y="3382721"/>
            <a:ext cx="164525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86×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23751" y="3528275"/>
            <a:ext cx="1645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→ DRAM 延迟差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23751" y="3737825"/>
            <a:ext cx="1645259" cy="43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缓存把常用数据留在"桌上"而不是"档案室"，替程序挡住了 DRAM 的高延迟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90651" y="3281221"/>
            <a:ext cx="50750" cy="1140321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641402" y="3281221"/>
            <a:ext cx="1867049" cy="1140321"/>
          </a:xfrm>
          <a:prstGeom prst="rect">
            <a:avLst/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768352" y="3382721"/>
            <a:ext cx="1645411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CF22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cliff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768352" y="3528275"/>
            <a:ext cx="1645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容量临界点悬崖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68352" y="3737825"/>
            <a:ext cx="164541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 L3 后延迟从 117→248 ns，程序需避免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635401" y="3281221"/>
            <a:ext cx="50750" cy="1140321"/>
          </a:xfrm>
          <a:prstGeom prst="roundRect">
            <a:avLst>
              <a:gd name="adj" fmla="val 5004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686151" y="3281221"/>
            <a:ext cx="1867049" cy="1140321"/>
          </a:xfrm>
          <a:prstGeom prst="rect">
            <a:avLst/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813102" y="3382721"/>
            <a:ext cx="1645411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69×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813102" y="3528275"/>
            <a:ext cx="1645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 vs 随机最大差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13102" y="3737825"/>
            <a:ext cx="1645411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sum_array_rows 顺序遍历大部分命中 L1；sum_array_cols 列跳跃每步 miss——这就是课上那个例子的物理根源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680150" y="3281221"/>
            <a:ext cx="50750" cy="1140321"/>
          </a:xfrm>
          <a:prstGeom prst="roundRect">
            <a:avLst>
              <a:gd name="adj" fmla="val 50049"/>
            </a:avLst>
          </a:prstGeom>
          <a:solidFill>
            <a:srgbClr val="BC4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730901" y="3281221"/>
            <a:ext cx="1867049" cy="1140321"/>
          </a:xfrm>
          <a:prstGeom prst="rect">
            <a:avLst/>
          </a:prstGeom>
          <a:solidFill>
            <a:srgbClr val="FFF1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857851" y="3382721"/>
            <a:ext cx="1645411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BC4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857851" y="3528275"/>
            <a:ext cx="1645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测量方法很重要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57851" y="3737825"/>
            <a:ext cx="164541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→ &amp;，L2带宽测量差 18×；亲和性修复抖动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46050" y="4899124"/>
            <a:ext cx="8212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 i9-13900HX  |  VirtualBox VM  |  L3/RAM 延迟含 hypervisor 开销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</a:t>
            </a:r>
            <a:r>
              <a:rPr lang="zh-CN" alt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问题①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：虚拟机带来多少额外误差？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436269" cy="183952"/>
          </a:xfrm>
          <a:prstGeom prst="roundRect">
            <a:avLst>
              <a:gd name="adj" fmla="val 20712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009352"/>
            <a:ext cx="2051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VirtualBox 里测出来的内存数据，可信吗？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231404"/>
            <a:ext cx="4524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CPU（i9-13900HX），虚拟机 vs 裸机参考值对比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523908"/>
            <a:ext cx="4436269" cy="260152"/>
          </a:xfrm>
          <a:prstGeom prst="roundRect">
            <a:avLst>
              <a:gd name="adj" fmla="val 14645"/>
            </a:avLst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001" y="1587308"/>
            <a:ext cx="1243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开销来源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92201" y="1587308"/>
            <a:ext cx="2245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影响机制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93369" y="1587308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受影响层级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6050" y="1809360"/>
            <a:ext cx="4436269" cy="41255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001" y="1944198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调度抖动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92201" y="1872761"/>
            <a:ext cx="22451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抢占 vCPU，单次测量偶发 10–100 µs 延迟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93369" y="1958486"/>
            <a:ext cx="634752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82219" y="1971136"/>
            <a:ext cx="466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SSD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6050" y="2247212"/>
            <a:ext cx="4436269" cy="412552"/>
          </a:xfrm>
          <a:prstGeom prst="rect">
            <a:avLst/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3001" y="2382051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内存访问虚拟化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92201" y="2310613"/>
            <a:ext cx="22451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EPT/影子页表增加 TLB miss 惩罚，RAM 延迟显著偏高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93369" y="2396338"/>
            <a:ext cx="592038" cy="149126"/>
          </a:xfrm>
          <a:prstGeom prst="roundRect">
            <a:avLst>
              <a:gd name="adj" fmla="val 8515436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82219" y="2408989"/>
            <a:ext cx="4226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↑↑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6050" y="2685065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3001" y="2769004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内存气球驱动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92201" y="2769004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宿主机内存紧张时虚拟机内存被换出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93369" y="2783440"/>
            <a:ext cx="634752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82219" y="2796091"/>
            <a:ext cx="466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SSD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6050" y="3021267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3001" y="3105207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磁盘 I/O 虚拟化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92201" y="3105207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格式层 + Host VFS，顺序带宽降低 20–40%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93369" y="3119643"/>
            <a:ext cx="452586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82219" y="3132293"/>
            <a:ext cx="2803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050" y="3357470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3001" y="3446172"/>
            <a:ext cx="1243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Cache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92201" y="3441409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直接映射物理核心缓存，虚拟化不介入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93369" y="3436796"/>
            <a:ext cx="682972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82219" y="3449446"/>
            <a:ext cx="515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不受影响 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50" y="3885378"/>
            <a:ext cx="50750" cy="479822"/>
          </a:xfrm>
          <a:prstGeom prst="roundRect">
            <a:avLst>
              <a:gd name="adj" fmla="val 5004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6801" y="3885378"/>
            <a:ext cx="4385518" cy="479822"/>
          </a:xfrm>
          <a:prstGeom prst="rect">
            <a:avLst/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3751" y="3974228"/>
            <a:ext cx="4214250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缓存数据可信；但 RAM 延迟被虚拟化放大约 4 倍——这是本实验的局限性，L3/RAM 数据仅供参考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85470" y="984052"/>
            <a:ext cx="3412480" cy="1440656"/>
          </a:xfrm>
          <a:prstGeom prst="roundRect">
            <a:avLst>
              <a:gd name="adj" fmla="val 352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85470" y="984052"/>
            <a:ext cx="3412480" cy="38100"/>
          </a:xfrm>
          <a:prstGeom prst="roundRect">
            <a:avLst>
              <a:gd name="adj" fmla="val 6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12420" y="1098352"/>
            <a:ext cx="32217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 vs 裸机参考值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12420" y="1358503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56821" y="1358503"/>
            <a:ext cx="1061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86575" y="1358503"/>
            <a:ext cx="1061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4–5 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16478" y="1349127"/>
            <a:ext cx="454521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92678" y="1361777"/>
            <a:ext cx="308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准确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12420" y="1606004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56821" y="1606004"/>
            <a:ext cx="1061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86575" y="1606004"/>
            <a:ext cx="1061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12–20 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16478" y="1596628"/>
            <a:ext cx="454521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092678" y="1609279"/>
            <a:ext cx="308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正常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12420" y="1853505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56821" y="1853505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48326" y="1853505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30–60 ns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39832" y="1853654"/>
            <a:ext cx="531168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016032" y="1866305"/>
            <a:ext cx="386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偏高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12420" y="2101007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56821" y="2101007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48326" y="2101007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60–120 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939832" y="2101155"/>
            <a:ext cx="531168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016032" y="2113806"/>
            <a:ext cx="386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偏高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85470" y="2551658"/>
            <a:ext cx="50750" cy="659309"/>
          </a:xfrm>
          <a:prstGeom prst="roundRect">
            <a:avLst>
              <a:gd name="adj" fmla="val 5004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236220" y="2551658"/>
            <a:ext cx="3361730" cy="659309"/>
          </a:xfrm>
          <a:prstGeom prst="rect">
            <a:avLst/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350520" y="2640509"/>
            <a:ext cx="3195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虚拟机的"快"是有条件的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350520" y="2831009"/>
            <a:ext cx="319579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缓存层（L1/L2）与裸机几乎无差异；内存子系统受 EPT 和调度影响显著偏慢，是虚拟机性能损失的主要来源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185470" y="3299816"/>
            <a:ext cx="3412480" cy="1466553"/>
          </a:xfrm>
          <a:prstGeom prst="roundRect">
            <a:avLst>
              <a:gd name="adj" fmla="val 406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286970" y="3363218"/>
            <a:ext cx="1895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裸机参考：Intel Sapphire Rapids 带宽-延迟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32241" y="3382268"/>
            <a:ext cx="5754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2024 Fig.3f</a:t>
            </a:r>
            <a:endParaRPr lang="en-US" sz="650" dirty="0"/>
          </a:p>
        </p:txBody>
      </p:sp>
      <p:pic>
        <p:nvPicPr>
          <p:cNvPr id="69" name="Image 0" descr="E:/Project/benchmark/benchmark/paper_images/mess2024_fig3f_intel_sapphirerap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970" y="3534668"/>
            <a:ext cx="3209479" cy="1155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0" name="Text 6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裸机参考值：Intel i9-13900HX 规格  |  VM 环境：VirtualBox 7 · Ubuntu 22.04 · 4 vCPU · 4 GB RAM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</a:t>
            </a:r>
            <a:r>
              <a:rPr lang="zh-CN" alt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问题②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：为什么更快的 CPU 有时没用？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593282" cy="771525"/>
          </a:xfrm>
          <a:prstGeom prst="roundRect">
            <a:avLst>
              <a:gd name="adj" fmla="val 6584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098352"/>
            <a:ext cx="437425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当程序</a:t>
            </a: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搬数据比计算更多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，瓶颈在"送货速度"（内存带宽），</a:t>
            </a:r>
            <a:r>
              <a:rPr lang="en-US" sz="950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而不在"处理速度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</a:p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（CPU）</a:t>
            </a:r>
            <a:endParaRPr lang="en-US" sz="950" dirty="0"/>
          </a:p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——就像工厂 99% 时间在等货，再换更快的工人也毫无意义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6050" y="1857077"/>
            <a:ext cx="4593282" cy="2797219"/>
          </a:xfrm>
          <a:prstGeom prst="roundRect">
            <a:avLst>
              <a:gd name="adj" fmla="val 171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2192089"/>
            <a:ext cx="4374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内存带宽实测：顺序 vs 随机，差距有多大？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8450" y="2657326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顺序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8450" y="2790676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38151" y="2703314"/>
            <a:ext cx="2031950" cy="165050"/>
          </a:xfrm>
          <a:prstGeom prst="roundRect">
            <a:avLst>
              <a:gd name="adj" fmla="val 1538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1602" y="2706588"/>
            <a:ext cx="1091654" cy="158651"/>
          </a:xfrm>
          <a:prstGeom prst="roundRect">
            <a:avLst>
              <a:gd name="adj" fmla="val 8004191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60453" y="2719239"/>
            <a:ext cx="932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供货充足，不是瓶颈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8450" y="3135213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顺序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8450" y="3268563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38151" y="3181201"/>
            <a:ext cx="939701" cy="165050"/>
          </a:xfrm>
          <a:prstGeom prst="roundRect">
            <a:avLst>
              <a:gd name="adj" fmla="val 1538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9353" y="3184475"/>
            <a:ext cx="1091654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8203" y="3197126"/>
            <a:ext cx="932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偏慢，开始成为瓶颈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8450" y="3613249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随机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8450" y="3746599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 GB/s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38151" y="3659237"/>
            <a:ext cx="50750" cy="165050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90402" y="3662511"/>
            <a:ext cx="2255639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79253" y="3675162"/>
            <a:ext cx="2119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极慢，CPU 大部分时间在空等 → 升级 CPU 无效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8450" y="4197548"/>
            <a:ext cx="4288482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8450" y="4321225"/>
            <a:ext cx="858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 vs 随机差距：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41872" y="4291161"/>
            <a:ext cx="2383631" cy="193477"/>
          </a:xfrm>
          <a:prstGeom prst="roundRect">
            <a:avLst>
              <a:gd name="adj" fmla="val 65634313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56171" y="4316462"/>
            <a:ext cx="238363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= 69×  |  RAM = 22×  |  每次 miss 空等约 344 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17033" y="926673"/>
            <a:ext cx="3280916" cy="1884312"/>
          </a:xfrm>
          <a:prstGeom prst="roundRect">
            <a:avLst>
              <a:gd name="adj" fmla="val 352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18534" y="1047452"/>
            <a:ext cx="10266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 Roofline 模型示意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34858" y="1066502"/>
            <a:ext cx="10828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2009 / Wikipedia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317034" y="2999851"/>
            <a:ext cx="3280916" cy="1001613"/>
          </a:xfrm>
          <a:prstGeom prst="roundRect">
            <a:avLst>
              <a:gd name="adj" fmla="val 50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317034" y="2999851"/>
            <a:ext cx="3280916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43984" y="3114151"/>
            <a:ext cx="30875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图中两条线的交点说明什么？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43984" y="3349002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斜线 = 内存带宽上限，水平线 = CPU 算力上限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443984" y="3532656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交点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左边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：内存跟不上，CPU 闲着等；交点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右边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：算力可以跑满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43984" y="3716310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随机访问使交点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右移 700×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——几乎所有程序都被卡在左边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17034" y="4077664"/>
            <a:ext cx="45719" cy="529382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367784" y="4077664"/>
            <a:ext cx="3230166" cy="516732"/>
          </a:xfrm>
          <a:prstGeom prst="rect">
            <a:avLst/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482084" y="4160924"/>
            <a:ext cx="3061597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 RAM 带宽仅 0.17 GB/s，22× 慢于顺序；数据库、图遍历慢数百倍的根本原因——换 CPU 无效，关键是减少随机访问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Roofline Model: Williams et al. 2009  |  实测带宽：bandwidth_bench v2  |  RAM 随机 0.17 GB/s，顺序 3.60 GB/s</a:t>
            </a:r>
            <a:endParaRPr lang="en-US" sz="900" dirty="0"/>
          </a:p>
        </p:txBody>
      </p:sp>
      <p:pic>
        <p:nvPicPr>
          <p:cNvPr id="30" name="Image 0" descr="E:/Project/benchmark/benchmark/paper_images/roofline_wikipedia_naiv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534" y="1253611"/>
            <a:ext cx="3077914" cy="1465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1554</Words>
  <Application>Microsoft Office PowerPoint</Application>
  <PresentationFormat>全屏显示(16:9)</PresentationFormat>
  <Paragraphs>383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存储层次金字塔实测</dc:title>
  <dc:subject>PptxGenJS Presentation</dc:subject>
  <dc:creator>Benchmark Lab</dc:creator>
  <cp:lastModifiedBy>Ryan Swift</cp:lastModifiedBy>
  <cp:revision>2</cp:revision>
  <dcterms:created xsi:type="dcterms:W3CDTF">2026-05-14T13:20:17Z</dcterms:created>
  <dcterms:modified xsi:type="dcterms:W3CDTF">2026-05-14T13:48:05Z</dcterms:modified>
</cp:coreProperties>
</file>